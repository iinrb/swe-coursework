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Robot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1" roundtripDataSignature="AMtx7mhCNO5A2FC3p68L+h6gBszxGYPV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Italic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italic.fntdata"/><Relationship Id="rId16" Type="http://schemas.openxmlformats.org/officeDocument/2006/relationships/slide" Target="slides/slide11.xml"/><Relationship Id="rId38" Type="http://schemas.openxmlformats.org/officeDocument/2006/relationships/font" Target="fonts/Robot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3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3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3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3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3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5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" name="Google Shape;23;p3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6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36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36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3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7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7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3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8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8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8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38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3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9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3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0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0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40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4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4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1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1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1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4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2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42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4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3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3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390525" y="1819275"/>
            <a:ext cx="8483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Lesson: Arrays</a:t>
            </a:r>
            <a:endParaRPr/>
          </a:p>
        </p:txBody>
      </p:sp>
      <p:sp>
        <p:nvSpPr>
          <p:cNvPr id="68" name="Google Shape;68;p1"/>
          <p:cNvSpPr txBox="1"/>
          <p:nvPr>
            <p:ph idx="1" type="subTitle"/>
          </p:nvPr>
        </p:nvSpPr>
        <p:spPr>
          <a:xfrm>
            <a:off x="390525" y="2789124"/>
            <a:ext cx="82221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CSE 4107 : Structured Programming I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Shahriar Ivan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</a:t>
            </a:r>
            <a:r>
              <a:rPr b="1" i="1" lang="en">
                <a:solidFill>
                  <a:srgbClr val="000000"/>
                </a:solidFill>
              </a:rPr>
              <a:t>array</a:t>
            </a:r>
            <a:r>
              <a:rPr lang="en">
                <a:solidFill>
                  <a:srgbClr val="000000"/>
                </a:solidFill>
              </a:rPr>
              <a:t> is a data structure containing a number of data values of same type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These values (</a:t>
            </a:r>
            <a:r>
              <a:rPr b="1" i="1" lang="en">
                <a:solidFill>
                  <a:srgbClr val="000000"/>
                </a:solidFill>
              </a:rPr>
              <a:t>elements</a:t>
            </a:r>
            <a:r>
              <a:rPr lang="en">
                <a:solidFill>
                  <a:srgbClr val="000000"/>
                </a:solidFill>
              </a:rPr>
              <a:t>) can be individually selected by their positions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Arranged one after another in a single row</a:t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Declaration:	specify the </a:t>
            </a:r>
            <a:r>
              <a:rPr i="1" lang="en">
                <a:solidFill>
                  <a:srgbClr val="000000"/>
                </a:solidFill>
              </a:rPr>
              <a:t>type</a:t>
            </a:r>
            <a:r>
              <a:rPr lang="en">
                <a:solidFill>
                  <a:srgbClr val="000000"/>
                </a:solidFill>
              </a:rPr>
              <a:t> and number of items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a[6];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4" name="Google Shape;74;p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One-Dimensional Arrays</a:t>
            </a:r>
            <a:endParaRPr/>
          </a:p>
        </p:txBody>
      </p:sp>
      <p:pic>
        <p:nvPicPr>
          <p:cNvPr id="75" name="Google Shape;7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5175" y="3149700"/>
            <a:ext cx="3666351" cy="4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b="1" i="1" lang="en">
                <a:solidFill>
                  <a:srgbClr val="000000"/>
                </a:solidFill>
              </a:rPr>
              <a:t>elements</a:t>
            </a:r>
            <a:r>
              <a:rPr lang="en">
                <a:solidFill>
                  <a:srgbClr val="000000"/>
                </a:solidFill>
              </a:rPr>
              <a:t> may be of any type; the </a:t>
            </a:r>
            <a:r>
              <a:rPr b="1" i="1" lang="en">
                <a:solidFill>
                  <a:srgbClr val="000000"/>
                </a:solidFill>
              </a:rPr>
              <a:t>length</a:t>
            </a:r>
            <a:r>
              <a:rPr lang="en">
                <a:solidFill>
                  <a:srgbClr val="000000"/>
                </a:solidFill>
              </a:rPr>
              <a:t> of the array can be any (integer) constant expression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Using a macro to define the length of an array is an excellent practice: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1" name="Google Shape;81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One-Dimensional Arrays</a:t>
            </a:r>
            <a:endParaRPr/>
          </a:p>
        </p:txBody>
      </p:sp>
      <p:sp>
        <p:nvSpPr>
          <p:cNvPr id="82" name="Google Shape;82;p3"/>
          <p:cNvSpPr txBox="1"/>
          <p:nvPr/>
        </p:nvSpPr>
        <p:spPr>
          <a:xfrm>
            <a:off x="1554150" y="3248925"/>
            <a:ext cx="2316300" cy="12930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#define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 10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…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a[N];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access an array element, write the array name followed by an integer value in square brackets.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This is referred to as </a:t>
            </a:r>
            <a:r>
              <a:rPr b="1" i="1" lang="en">
                <a:solidFill>
                  <a:srgbClr val="000000"/>
                </a:solidFill>
              </a:rPr>
              <a:t>subscripting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b="1" i="1" lang="en">
                <a:solidFill>
                  <a:srgbClr val="000000"/>
                </a:solidFill>
              </a:rPr>
              <a:t>indexing</a:t>
            </a:r>
            <a:r>
              <a:rPr lang="en">
                <a:solidFill>
                  <a:srgbClr val="000000"/>
                </a:solidFill>
              </a:rPr>
              <a:t> the array.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elements of an array of length </a:t>
            </a:r>
            <a:r>
              <a:rPr i="1" lang="en">
                <a:solidFill>
                  <a:srgbClr val="000000"/>
                </a:solidFill>
              </a:rPr>
              <a:t>n</a:t>
            </a:r>
            <a:r>
              <a:rPr lang="en">
                <a:solidFill>
                  <a:srgbClr val="000000"/>
                </a:solidFill>
              </a:rPr>
              <a:t> are indexed from 0 to </a:t>
            </a:r>
            <a:r>
              <a:rPr i="1" lang="en">
                <a:solidFill>
                  <a:srgbClr val="000000"/>
                </a:solidFill>
              </a:rPr>
              <a:t>n</a:t>
            </a:r>
            <a:r>
              <a:rPr lang="en">
                <a:solidFill>
                  <a:srgbClr val="000000"/>
                </a:solidFill>
              </a:rPr>
              <a:t> – 1.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a is an array of length 10, its elements are designated by a[0], a[1], …, a[9]: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8" name="Google Shape;88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One-Dimensional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Array Subscripting</a:t>
            </a:r>
            <a:endParaRPr/>
          </a:p>
        </p:txBody>
      </p:sp>
      <p:pic>
        <p:nvPicPr>
          <p:cNvPr id="89" name="Google Shape;8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8925" y="4127050"/>
            <a:ext cx="4168875" cy="69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Expressions of the form a[i] are lvalues, so they can be used in the same way as ordinary variables: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general, if an array contains elements of type </a:t>
            </a:r>
            <a:r>
              <a:rPr i="1" lang="en">
                <a:solidFill>
                  <a:srgbClr val="000000"/>
                </a:solidFill>
              </a:rPr>
              <a:t>T</a:t>
            </a:r>
            <a:r>
              <a:rPr lang="en">
                <a:solidFill>
                  <a:srgbClr val="000000"/>
                </a:solidFill>
              </a:rPr>
              <a:t>, then each element of the array is treated as if it were a variable of type </a:t>
            </a:r>
            <a:r>
              <a:rPr i="1" lang="en">
                <a:solidFill>
                  <a:srgbClr val="000000"/>
                </a:solidFill>
              </a:rPr>
              <a:t>T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5" name="Google Shape;95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One-Dimensional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Array Subscripting</a:t>
            </a:r>
            <a:endParaRPr/>
          </a:p>
        </p:txBody>
      </p:sp>
      <p:sp>
        <p:nvSpPr>
          <p:cNvPr id="96" name="Google Shape;96;p5"/>
          <p:cNvSpPr txBox="1"/>
          <p:nvPr/>
        </p:nvSpPr>
        <p:spPr>
          <a:xfrm>
            <a:off x="1613350" y="2738275"/>
            <a:ext cx="2348400" cy="12006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a[0] = 1;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4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"%d\n"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a[5]);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++a[0];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Many programs contain for loops whose job is to perform some operation on every element in an array.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Examples of typical operations on an array a of length N: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2" name="Google Shape;102;p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One-Dimensional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Array Subscripting</a:t>
            </a:r>
            <a:endParaRPr/>
          </a:p>
        </p:txBody>
      </p:sp>
      <p:sp>
        <p:nvSpPr>
          <p:cNvPr id="103" name="Google Shape;103;p6"/>
          <p:cNvSpPr txBox="1"/>
          <p:nvPr/>
        </p:nvSpPr>
        <p:spPr>
          <a:xfrm>
            <a:off x="1539325" y="2893675"/>
            <a:ext cx="5216400" cy="20472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(i = 0; i &lt; N; i++)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a[i] = 0;         		</a:t>
            </a:r>
            <a:r>
              <a:rPr b="0" i="0" lang="en" sz="12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clears a */</a:t>
            </a:r>
            <a:endParaRPr b="0" i="0" sz="12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(i = 0; i &lt; N; i++)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2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"%d"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&amp;a[i]);  	</a:t>
            </a:r>
            <a:r>
              <a:rPr b="0" i="0" lang="en" sz="12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reads data into a */</a:t>
            </a:r>
            <a:endParaRPr b="0" i="0" sz="12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for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(i = 0; i &lt; N; i++)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sum += a[i];      		</a:t>
            </a:r>
            <a:r>
              <a:rPr b="0" i="0" lang="en" sz="12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sums the elements of a */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 </a:t>
            </a:r>
            <a:r>
              <a:rPr lang="en">
                <a:solidFill>
                  <a:srgbClr val="E06666"/>
                </a:solidFill>
              </a:rPr>
              <a:t>doesn’t require</a:t>
            </a:r>
            <a:r>
              <a:rPr lang="en">
                <a:solidFill>
                  <a:srgbClr val="000000"/>
                </a:solidFill>
              </a:rPr>
              <a:t> that subscript bounds be checked; if a subscript goes out of range, the program’s behavior is </a:t>
            </a:r>
            <a:r>
              <a:rPr lang="en">
                <a:solidFill>
                  <a:srgbClr val="E06666"/>
                </a:solidFill>
              </a:rPr>
              <a:t>undefined</a:t>
            </a:r>
            <a:endParaRPr>
              <a:solidFill>
                <a:srgbClr val="E06666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common </a:t>
            </a:r>
            <a:r>
              <a:rPr lang="en">
                <a:solidFill>
                  <a:srgbClr val="E06666"/>
                </a:solidFill>
              </a:rPr>
              <a:t>mistake</a:t>
            </a:r>
            <a:r>
              <a:rPr lang="en">
                <a:solidFill>
                  <a:srgbClr val="000000"/>
                </a:solidFill>
              </a:rPr>
              <a:t>: forgetting that an array with </a:t>
            </a:r>
            <a:r>
              <a:rPr i="1" lang="en">
                <a:solidFill>
                  <a:srgbClr val="000000"/>
                </a:solidFill>
              </a:rPr>
              <a:t>n</a:t>
            </a:r>
            <a:r>
              <a:rPr lang="en">
                <a:solidFill>
                  <a:srgbClr val="000000"/>
                </a:solidFill>
              </a:rPr>
              <a:t> elements is indexed from 0 to </a:t>
            </a:r>
            <a:r>
              <a:rPr i="1" lang="en">
                <a:solidFill>
                  <a:srgbClr val="000000"/>
                </a:solidFill>
              </a:rPr>
              <a:t>n</a:t>
            </a:r>
            <a:r>
              <a:rPr lang="en">
                <a:solidFill>
                  <a:srgbClr val="000000"/>
                </a:solidFill>
              </a:rPr>
              <a:t> – 1, not 1 to </a:t>
            </a:r>
            <a:r>
              <a:rPr i="1" lang="en">
                <a:solidFill>
                  <a:srgbClr val="000000"/>
                </a:solidFill>
              </a:rPr>
              <a:t>n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With some compilers, this innocent-looking for statement causes an infinite loop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9" name="Google Shape;109;p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One-Dimensional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Array Subscripting</a:t>
            </a:r>
            <a:endParaRPr/>
          </a:p>
        </p:txBody>
      </p:sp>
      <p:sp>
        <p:nvSpPr>
          <p:cNvPr id="110" name="Google Shape;110;p7"/>
          <p:cNvSpPr txBox="1"/>
          <p:nvPr/>
        </p:nvSpPr>
        <p:spPr>
          <a:xfrm>
            <a:off x="3737350" y="3012100"/>
            <a:ext cx="2834400" cy="12006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a[10], i;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(i = 1; i &lt;= 10; i++)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a[i] = 0;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array subscript may be any integer expression: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a[i+j*10] = 0;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expression can even have </a:t>
            </a:r>
            <a:r>
              <a:rPr lang="en">
                <a:solidFill>
                  <a:srgbClr val="6D9EEB"/>
                </a:solidFill>
              </a:rPr>
              <a:t>side effects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6" name="Google Shape;116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One-Dimensional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Array Subscripting</a:t>
            </a:r>
            <a:endParaRPr/>
          </a:p>
        </p:txBody>
      </p:sp>
      <p:sp>
        <p:nvSpPr>
          <p:cNvPr id="117" name="Google Shape;117;p8"/>
          <p:cNvSpPr txBox="1"/>
          <p:nvPr/>
        </p:nvSpPr>
        <p:spPr>
          <a:xfrm>
            <a:off x="1457950" y="3485750"/>
            <a:ext cx="2849400" cy="12774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 = 0;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&lt; N){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a[i++] = 0;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Be careful when an array subscript has a side effect: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expression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a[i] = b[i++]</a:t>
            </a:r>
            <a:r>
              <a:rPr lang="en">
                <a:solidFill>
                  <a:srgbClr val="000000"/>
                </a:solidFill>
              </a:rPr>
              <a:t> accesses the value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>
                <a:solidFill>
                  <a:srgbClr val="000000"/>
                </a:solidFill>
              </a:rPr>
              <a:t> and also modifies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>
                <a:solidFill>
                  <a:srgbClr val="000000"/>
                </a:solidFill>
              </a:rPr>
              <a:t>, causing </a:t>
            </a:r>
            <a:r>
              <a:rPr lang="en">
                <a:solidFill>
                  <a:srgbClr val="E06666"/>
                </a:solidFill>
              </a:rPr>
              <a:t>undefined behavior</a:t>
            </a:r>
            <a:endParaRPr>
              <a:solidFill>
                <a:srgbClr val="E06666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problem can be avoided by removing the increment from the subscript: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3" name="Google Shape;123;p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One-Dimensional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Array Subscripting</a:t>
            </a:r>
            <a:endParaRPr/>
          </a:p>
        </p:txBody>
      </p:sp>
      <p:sp>
        <p:nvSpPr>
          <p:cNvPr id="124" name="Google Shape;124;p9"/>
          <p:cNvSpPr txBox="1"/>
          <p:nvPr/>
        </p:nvSpPr>
        <p:spPr>
          <a:xfrm>
            <a:off x="2575475" y="2175850"/>
            <a:ext cx="2375700" cy="9480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0;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&lt; N)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a[i] = b[i++];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9"/>
          <p:cNvSpPr txBox="1"/>
          <p:nvPr/>
        </p:nvSpPr>
        <p:spPr>
          <a:xfrm>
            <a:off x="2360825" y="4359025"/>
            <a:ext cx="2694000" cy="6588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429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= 0; i &lt; N; i++)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a[i] = b[i];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prompts the user to enter a series of numbers, then writes the numbers in reverse order: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Enter 10 numbers: </a:t>
            </a:r>
            <a:r>
              <a:rPr lang="en" sz="1400" u="sng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34 82 49 102 7 94 23 11 50 31</a:t>
            </a:r>
            <a:endParaRPr sz="1400" u="sng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In reverse order: 31 50 11 23 94 7 102 49 82 34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stores the numbers in an array as they’re read, then goes through the array backwards, printing the elements one by one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1" name="Google Shape;131;p1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Reverse a Series of Numbers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be given initial value at the time of declaration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Most common </a:t>
            </a:r>
            <a:r>
              <a:rPr b="1" i="1" lang="en">
                <a:solidFill>
                  <a:srgbClr val="000000"/>
                </a:solidFill>
              </a:rPr>
              <a:t>array initializer</a:t>
            </a:r>
            <a:r>
              <a:rPr lang="en">
                <a:solidFill>
                  <a:srgbClr val="000000"/>
                </a:solidFill>
              </a:rPr>
              <a:t> -&gt; List of constants enclosed in braces, separated by comma</a:t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a[7] = {2, 4, 4, 1, 1, 3, 9}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Initialization can be shorter than array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a[7] = {2, 4, 4}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rest of the uninitialized values are initialized with 0s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Initialize array with all zeros: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a[7] = {0}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a: {0, 0, 0, 0, 0, 0, 0}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7" name="Google Shape;137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One-Dimensional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Array Initialization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There’s a single 0 inside the braces because it’s illegal for an initializer to be completely empty.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It’s also illegal for an initializer to be longer than the array it initializes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an initializer is present, the length of the array may be omitted: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a[] = {1, 2, 3, 4, 5, 6, 7, 8, 9, 10};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compiler uses the </a:t>
            </a:r>
            <a:r>
              <a:rPr i="1" lang="en">
                <a:solidFill>
                  <a:srgbClr val="000000"/>
                </a:solidFill>
              </a:rPr>
              <a:t>length</a:t>
            </a:r>
            <a:r>
              <a:rPr lang="en">
                <a:solidFill>
                  <a:srgbClr val="000000"/>
                </a:solidFill>
              </a:rPr>
              <a:t> of initializer to determine how long the array is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3" name="Google Shape;143;p1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One-Dimensional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Array Initialization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Used to initialize few specific elements of array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	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arr[10] = {[6] = 48, [8] = 7, [2] = 29};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rest are set to 0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Order in which elements are listed does not matter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Each number in bracket -&gt; </a:t>
            </a:r>
            <a:r>
              <a:rPr lang="en">
                <a:solidFill>
                  <a:srgbClr val="6D9EEB"/>
                </a:solidFill>
              </a:rPr>
              <a:t>Designator</a:t>
            </a:r>
            <a:endParaRPr>
              <a:solidFill>
                <a:srgbClr val="6D9EEB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Must be a constant expression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length is omitted, compiler deduces array length from the largest designator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b[] = {[5] = 10, [23] = 13, [11] = 36};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an array with 24 elements</a:t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9" name="Google Shape;149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One-Dimensional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Designated Initializers (C99)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checks whether any of the digits in a number appear more than once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After the user enters a number, the program prints either Repeated digit or No repeated digit: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Enter a number: </a:t>
            </a:r>
            <a:r>
              <a:rPr lang="en" sz="1400" u="sng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28212</a:t>
            </a:r>
            <a:endParaRPr sz="1400" u="sng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Repeated digit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number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28212</a:t>
            </a:r>
            <a:r>
              <a:rPr lang="en">
                <a:solidFill>
                  <a:srgbClr val="000000"/>
                </a:solidFill>
              </a:rPr>
              <a:t> has a repeated digit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(2)</a:t>
            </a:r>
            <a:r>
              <a:rPr lang="en">
                <a:solidFill>
                  <a:srgbClr val="000000"/>
                </a:solidFill>
              </a:rPr>
              <a:t>; a number like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9357</a:t>
            </a:r>
            <a:r>
              <a:rPr lang="en">
                <a:solidFill>
                  <a:srgbClr val="000000"/>
                </a:solidFill>
              </a:rPr>
              <a:t> doesn’t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5" name="Google Shape;155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Checking a Number for Repeated Digits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uses an array of 10 Boolean values to keep track of which digits appear in a number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Initially, every element of the </a:t>
            </a:r>
            <a:r>
              <a:rPr i="1" lang="en">
                <a:solidFill>
                  <a:srgbClr val="000000"/>
                </a:solidFill>
              </a:rPr>
              <a:t>digit_seen</a:t>
            </a:r>
            <a:r>
              <a:rPr lang="en">
                <a:solidFill>
                  <a:srgbClr val="000000"/>
                </a:solidFill>
              </a:rPr>
              <a:t> array is </a:t>
            </a:r>
            <a:r>
              <a:rPr b="1" i="1" lang="en">
                <a:solidFill>
                  <a:srgbClr val="000000"/>
                </a:solidFill>
              </a:rPr>
              <a:t>false</a:t>
            </a:r>
            <a:endParaRPr b="1"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given a number </a:t>
            </a:r>
            <a:r>
              <a:rPr i="1" lang="en">
                <a:solidFill>
                  <a:srgbClr val="000000"/>
                </a:solidFill>
              </a:rPr>
              <a:t>n</a:t>
            </a:r>
            <a:r>
              <a:rPr lang="en">
                <a:solidFill>
                  <a:srgbClr val="000000"/>
                </a:solidFill>
              </a:rPr>
              <a:t>, the program examines </a:t>
            </a:r>
            <a:r>
              <a:rPr i="1" lang="en">
                <a:solidFill>
                  <a:srgbClr val="000000"/>
                </a:solidFill>
              </a:rPr>
              <a:t>n</a:t>
            </a:r>
            <a:r>
              <a:rPr lang="en">
                <a:solidFill>
                  <a:srgbClr val="000000"/>
                </a:solidFill>
              </a:rPr>
              <a:t>’s digits one at a time, storing the current digit in a variable named digit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If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digit_seen[digit] </a:t>
            </a:r>
            <a:r>
              <a:rPr lang="en" sz="1400">
                <a:solidFill>
                  <a:srgbClr val="000000"/>
                </a:solidFill>
              </a:rPr>
              <a:t>is </a:t>
            </a:r>
            <a:r>
              <a:rPr b="1" i="1" lang="en" sz="1400">
                <a:solidFill>
                  <a:srgbClr val="000000"/>
                </a:solidFill>
              </a:rPr>
              <a:t>true</a:t>
            </a:r>
            <a:r>
              <a:rPr lang="en" sz="1400">
                <a:solidFill>
                  <a:srgbClr val="000000"/>
                </a:solidFill>
              </a:rPr>
              <a:t>, then digit appears at least twice in </a:t>
            </a:r>
            <a:r>
              <a:rPr b="1" i="1" lang="en" sz="1400">
                <a:solidFill>
                  <a:srgbClr val="000000"/>
                </a:solidFill>
              </a:rPr>
              <a:t>n</a:t>
            </a:r>
            <a:endParaRPr b="1" i="1"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If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digit_seen[digit] </a:t>
            </a:r>
            <a:r>
              <a:rPr lang="en" sz="1400">
                <a:solidFill>
                  <a:srgbClr val="000000"/>
                </a:solidFill>
              </a:rPr>
              <a:t>is </a:t>
            </a:r>
            <a:r>
              <a:rPr b="1" i="1" lang="en" sz="1400">
                <a:solidFill>
                  <a:srgbClr val="000000"/>
                </a:solidFill>
              </a:rPr>
              <a:t>false</a:t>
            </a:r>
            <a:r>
              <a:rPr lang="en" sz="1400">
                <a:solidFill>
                  <a:srgbClr val="000000"/>
                </a:solidFill>
              </a:rPr>
              <a:t>, then digit has not been seen before, so the program sets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digit_seen[digit]</a:t>
            </a:r>
            <a:r>
              <a:rPr lang="en" sz="1400">
                <a:solidFill>
                  <a:srgbClr val="000000"/>
                </a:solidFill>
              </a:rPr>
              <a:t> to true and keeps going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1" name="Google Shape;161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Checking a Number for Repeated Digits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be used to determine the size of array in bytes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Find length of array by dividing by the size of single element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674E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Easier to modify if size of array changes later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Better to typecast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>
                <a:solidFill>
                  <a:srgbClr val="000000"/>
                </a:solidFill>
              </a:rPr>
              <a:t> for comparison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7" name="Google Shape;167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One-Dimensional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Using 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i="1" lang="en" sz="2000"/>
              <a:t> Operator with Arrays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1383925" y="2171550"/>
            <a:ext cx="6712500" cy="8004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arr[10];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4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"%d\n"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(arr));  </a:t>
            </a:r>
            <a:r>
              <a:rPr b="0" i="0" lang="en" sz="14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Prints "40" assuming int requires 4 bytes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2013000" y="4107400"/>
            <a:ext cx="426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1383925" y="3480300"/>
            <a:ext cx="4485000" cy="4002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400" u="none" cap="none" strike="noStrike">
                <a:solidFill>
                  <a:srgbClr val="FFA25E"/>
                </a:solidFill>
                <a:latin typeface="Verdana"/>
                <a:ea typeface="Verdana"/>
                <a:cs typeface="Verdana"/>
                <a:sym typeface="Verdana"/>
              </a:rPr>
              <a:t>"%d"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(arr)/</a:t>
            </a: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(arr[0]));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prints a table showing the value of </a:t>
            </a:r>
            <a:r>
              <a:rPr b="1" lang="en">
                <a:solidFill>
                  <a:srgbClr val="000000"/>
                </a:solidFill>
              </a:rPr>
              <a:t>$100</a:t>
            </a:r>
            <a:r>
              <a:rPr lang="en">
                <a:solidFill>
                  <a:srgbClr val="000000"/>
                </a:solidFill>
              </a:rPr>
              <a:t> invested at different rates of interest over a period of years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user will enter an interest rate and the number of years the money will be invested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table will show the value of the money at one-year intervals—at that interest rate and the next four higher rates—assuming that interest is compounded once a year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6" name="Google Shape;176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Computing Interest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Here’s what a session with the program will look like: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Enter interest rate: </a:t>
            </a:r>
            <a:r>
              <a:rPr lang="en" sz="1400" u="sng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endParaRPr sz="1400" u="sng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Enter number of years: </a:t>
            </a:r>
            <a:r>
              <a:rPr lang="en" sz="1400" u="sng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  <a:endParaRPr sz="1400" u="sng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Years        6% 	   7% 	   8%     	   9%	  10%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1 		106.00 	107.00 	108.00 	109.00 	110.00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2 		112.36 	114.49 	116.64 	118.81 	121.00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3 		119.10 	122.50 	125.97 	129.50 	133.10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4 		126.25 	131.08 	136.05 	141.16 	146.41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5 		133.82 	140.26 	146.93 	153.86 	161.05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2" name="Google Shape;182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Computing Interest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array may have any number of dimensions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following declaration creates a </a:t>
            </a:r>
            <a:r>
              <a:rPr i="1" lang="en">
                <a:solidFill>
                  <a:srgbClr val="000000"/>
                </a:solidFill>
              </a:rPr>
              <a:t>two-dimensional</a:t>
            </a:r>
            <a:r>
              <a:rPr lang="en">
                <a:solidFill>
                  <a:srgbClr val="000000"/>
                </a:solidFill>
              </a:rPr>
              <a:t> array (a </a:t>
            </a:r>
            <a:r>
              <a:rPr i="1" lang="en">
                <a:solidFill>
                  <a:srgbClr val="000000"/>
                </a:solidFill>
              </a:rPr>
              <a:t>matrix,</a:t>
            </a:r>
            <a:r>
              <a:rPr lang="en">
                <a:solidFill>
                  <a:srgbClr val="000000"/>
                </a:solidFill>
              </a:rPr>
              <a:t> in mathematical terminology):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m[5][9];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i="1" lang="en">
                <a:solidFill>
                  <a:srgbClr val="000000"/>
                </a:solidFill>
              </a:rPr>
              <a:t>m</a:t>
            </a:r>
            <a:r>
              <a:rPr lang="en">
                <a:solidFill>
                  <a:srgbClr val="000000"/>
                </a:solidFill>
              </a:rPr>
              <a:t> has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  <a:r>
              <a:rPr lang="en">
                <a:solidFill>
                  <a:srgbClr val="000000"/>
                </a:solidFill>
              </a:rPr>
              <a:t> rows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9 </a:t>
            </a:r>
            <a:r>
              <a:rPr lang="en">
                <a:solidFill>
                  <a:srgbClr val="000000"/>
                </a:solidFill>
              </a:rPr>
              <a:t>columns. Both rows and columns are indexed from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8" name="Google Shape;188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Multi-Dimensional Arrays</a:t>
            </a:r>
            <a:endParaRPr/>
          </a:p>
        </p:txBody>
      </p:sp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1275" y="3617350"/>
            <a:ext cx="2338000" cy="139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access the element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</a:t>
            </a:r>
            <a:r>
              <a:rPr lang="en">
                <a:solidFill>
                  <a:srgbClr val="000000"/>
                </a:solidFill>
              </a:rPr>
              <a:t> in </a:t>
            </a:r>
            <a:r>
              <a:rPr i="1" lang="en">
                <a:solidFill>
                  <a:srgbClr val="000000"/>
                </a:solidFill>
              </a:rPr>
              <a:t>row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i="1" lang="en">
                <a:solidFill>
                  <a:srgbClr val="000000"/>
                </a:solidFill>
              </a:rPr>
              <a:t>column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j</a:t>
            </a:r>
            <a:r>
              <a:rPr lang="en">
                <a:solidFill>
                  <a:srgbClr val="000000"/>
                </a:solidFill>
              </a:rPr>
              <a:t>, we must write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m[i][j]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expression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m[i]</a:t>
            </a:r>
            <a:r>
              <a:rPr lang="en">
                <a:solidFill>
                  <a:srgbClr val="000000"/>
                </a:solidFill>
              </a:rPr>
              <a:t> designates </a:t>
            </a:r>
            <a:r>
              <a:rPr i="1" lang="en">
                <a:solidFill>
                  <a:srgbClr val="000000"/>
                </a:solidFill>
              </a:rPr>
              <a:t>row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</a:t>
            </a:r>
            <a:r>
              <a:rPr lang="en">
                <a:solidFill>
                  <a:srgbClr val="000000"/>
                </a:solidFill>
              </a:rPr>
              <a:t>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</a:t>
            </a:r>
            <a:r>
              <a:rPr lang="en">
                <a:solidFill>
                  <a:srgbClr val="000000"/>
                </a:solidFill>
              </a:rPr>
              <a:t>,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m[i][j]</a:t>
            </a:r>
            <a:r>
              <a:rPr lang="en">
                <a:solidFill>
                  <a:srgbClr val="000000"/>
                </a:solidFill>
              </a:rPr>
              <a:t> then selects element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j</a:t>
            </a:r>
            <a:r>
              <a:rPr lang="en">
                <a:solidFill>
                  <a:srgbClr val="000000"/>
                </a:solidFill>
              </a:rPr>
              <a:t> in this </a:t>
            </a:r>
            <a:r>
              <a:rPr i="1" lang="en">
                <a:solidFill>
                  <a:srgbClr val="000000"/>
                </a:solidFill>
              </a:rPr>
              <a:t>row</a:t>
            </a:r>
            <a:endParaRPr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E06666"/>
                </a:solidFill>
              </a:rPr>
              <a:t>Resist</a:t>
            </a:r>
            <a:r>
              <a:rPr lang="en">
                <a:solidFill>
                  <a:srgbClr val="000000"/>
                </a:solidFill>
              </a:rPr>
              <a:t> the </a:t>
            </a:r>
            <a:r>
              <a:rPr lang="en">
                <a:solidFill>
                  <a:srgbClr val="E06666"/>
                </a:solidFill>
              </a:rPr>
              <a:t>temptation</a:t>
            </a:r>
            <a:r>
              <a:rPr lang="en">
                <a:solidFill>
                  <a:srgbClr val="000000"/>
                </a:solidFill>
              </a:rPr>
              <a:t> to write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m[i,j]</a:t>
            </a:r>
            <a:r>
              <a:rPr lang="en">
                <a:solidFill>
                  <a:srgbClr val="000000"/>
                </a:solidFill>
              </a:rPr>
              <a:t> instead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m[i][j]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 treats the </a:t>
            </a:r>
            <a:r>
              <a:rPr b="1" i="1" lang="en">
                <a:solidFill>
                  <a:srgbClr val="000000"/>
                </a:solidFill>
              </a:rPr>
              <a:t>comma</a:t>
            </a:r>
            <a:r>
              <a:rPr lang="en">
                <a:solidFill>
                  <a:srgbClr val="000000"/>
                </a:solidFill>
              </a:rPr>
              <a:t> as an operator in this context, so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m[i,j]</a:t>
            </a:r>
            <a:r>
              <a:rPr lang="en">
                <a:solidFill>
                  <a:srgbClr val="000000"/>
                </a:solidFill>
              </a:rPr>
              <a:t> is the same as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m[j]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5" name="Google Shape;195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Multi-Dimensional Arrays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Although we visualize </a:t>
            </a:r>
            <a:r>
              <a:rPr i="1" lang="en">
                <a:solidFill>
                  <a:srgbClr val="000000"/>
                </a:solidFill>
              </a:rPr>
              <a:t>two-dimensional</a:t>
            </a:r>
            <a:r>
              <a:rPr lang="en">
                <a:solidFill>
                  <a:srgbClr val="000000"/>
                </a:solidFill>
              </a:rPr>
              <a:t> arrays as tables, that’s not the way they’re actually stored in computer memory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 stores arrays in </a:t>
            </a:r>
            <a:r>
              <a:rPr b="1" i="1" lang="en">
                <a:solidFill>
                  <a:srgbClr val="000000"/>
                </a:solidFill>
              </a:rPr>
              <a:t>row-major order,</a:t>
            </a:r>
            <a:r>
              <a:rPr lang="en">
                <a:solidFill>
                  <a:srgbClr val="000000"/>
                </a:solidFill>
              </a:rPr>
              <a:t> with </a:t>
            </a:r>
            <a:r>
              <a:rPr i="1" lang="en">
                <a:solidFill>
                  <a:srgbClr val="000000"/>
                </a:solidFill>
              </a:rPr>
              <a:t>row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r>
              <a:rPr lang="en">
                <a:solidFill>
                  <a:srgbClr val="000000"/>
                </a:solidFill>
              </a:rPr>
              <a:t> first, then </a:t>
            </a:r>
            <a:r>
              <a:rPr i="1" lang="en">
                <a:solidFill>
                  <a:srgbClr val="000000"/>
                </a:solidFill>
              </a:rPr>
              <a:t>row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lang="en">
                <a:solidFill>
                  <a:srgbClr val="000000"/>
                </a:solidFill>
              </a:rPr>
              <a:t>, and so forth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How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</a:t>
            </a:r>
            <a:r>
              <a:rPr lang="en">
                <a:solidFill>
                  <a:srgbClr val="000000"/>
                </a:solidFill>
              </a:rPr>
              <a:t> array is stored: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1" name="Google Shape;201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Multi-Dimensional Arrays</a:t>
            </a:r>
            <a:endParaRPr/>
          </a:p>
        </p:txBody>
      </p:sp>
      <p:pic>
        <p:nvPicPr>
          <p:cNvPr id="202" name="Google Shape;20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8525" y="3635225"/>
            <a:ext cx="4477100" cy="102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Nested for loops are ideal for processing multidimensional arrays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Identity matrix creation:</a:t>
            </a:r>
            <a:endParaRPr>
              <a:solidFill>
                <a:srgbClr val="000000"/>
              </a:solidFill>
            </a:endParaRPr>
          </a:p>
          <a:p>
            <a:pPr indent="0" lvl="0" marL="13716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8" name="Google Shape;208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Multi-Dimensional Arrays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2144400" y="2464475"/>
            <a:ext cx="3990900" cy="25362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#define N 10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ident[N][N];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row, col;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(row = 0; row &lt; N; row++)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(col = 0; col &lt; N; col++)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</a:t>
            </a: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(row == col)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			ident[row][col] = 1.0;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</a:t>
            </a: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endParaRPr b="0" i="0" sz="1200" u="none" cap="none" strike="noStrike">
              <a:solidFill>
                <a:srgbClr val="674E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			ident[row][col] = 0.0;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can create an initializer for a </a:t>
            </a:r>
            <a:r>
              <a:rPr i="1" lang="en">
                <a:solidFill>
                  <a:srgbClr val="000000"/>
                </a:solidFill>
              </a:rPr>
              <a:t>two-dimensional</a:t>
            </a:r>
            <a:r>
              <a:rPr lang="en">
                <a:solidFill>
                  <a:srgbClr val="000000"/>
                </a:solidFill>
              </a:rPr>
              <a:t> array by nesting one-dimensional initializers: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m[5][9] = {{1, 1, 1, 1, 1, 0, 1, 1, 1},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    	{0, 1, 0, 1, 0, 1, 0, 1, 0},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    	{0, 1, 0, 1, 1, 0, 0, 1, 0},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    	{1, 1, 0, 1, 0, 0, 0, 1, 0},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    	{1, 1, 0, 1, 0, 0, 1, 1, 1}};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Initializers for </a:t>
            </a:r>
            <a:r>
              <a:rPr i="1" lang="en">
                <a:solidFill>
                  <a:srgbClr val="000000"/>
                </a:solidFill>
              </a:rPr>
              <a:t>higher-dimensional</a:t>
            </a:r>
            <a:r>
              <a:rPr lang="en">
                <a:solidFill>
                  <a:srgbClr val="000000"/>
                </a:solidFill>
              </a:rPr>
              <a:t> arrays are constructed in a similar fashion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 provides a variety of ways to abbreviate initializers for multidimensional arrays</a:t>
            </a:r>
            <a:endParaRPr>
              <a:solidFill>
                <a:srgbClr val="000000"/>
              </a:solidFill>
            </a:endParaRPr>
          </a:p>
          <a:p>
            <a:pPr indent="0" lvl="0" marL="13716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5" name="Google Shape;215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Multi-Dimensional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Initialization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can even omit the inner braces: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m[5][9] = {1, 1, 1, 1, 1, 0, 1, 1, 1,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    	  0, 1, 0, 1, 0, 1, 0, 1, 0,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    	  0, 1, 0, 1, 1, 0, 0, 1, 0,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    	  1, 1, 0, 1, 0, 0, 0, 1, 0,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    	  1, 1, 0, 1, 0, 0, 1, 1, 1};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Once compiler has seen enough values to fill one row, it begins filling the next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Omitting the inner braces can be </a:t>
            </a:r>
            <a:r>
              <a:rPr lang="en">
                <a:solidFill>
                  <a:srgbClr val="E06666"/>
                </a:solidFill>
              </a:rPr>
              <a:t>risky</a:t>
            </a:r>
            <a:r>
              <a:rPr lang="en">
                <a:solidFill>
                  <a:srgbClr val="000000"/>
                </a:solidFill>
              </a:rPr>
              <a:t>, since an extra element (or even worse, a missing element) will affect the rest of the initializer</a:t>
            </a:r>
            <a:endParaRPr>
              <a:solidFill>
                <a:srgbClr val="000000"/>
              </a:solidFill>
            </a:endParaRPr>
          </a:p>
          <a:p>
            <a:pPr indent="0" lvl="0" marL="13716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1" name="Google Shape;221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Multi-Dimensional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Initialization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C99’s designated initializers work with multidimensional arrays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How to create 2 × 2 identity matrix: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ident[2][2] = {[0][0] = 1.0, [1][1] = 1.0};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  As usual, all elements for which no value is specified will default to zero</a:t>
            </a:r>
            <a:endParaRPr>
              <a:solidFill>
                <a:srgbClr val="000000"/>
              </a:solidFill>
            </a:endParaRPr>
          </a:p>
          <a:p>
            <a:pPr indent="0" lvl="0" marL="13716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7" name="Google Shape;227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Multi-Dimensional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Initialization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array can be made </a:t>
            </a:r>
            <a:r>
              <a:rPr i="1" lang="en">
                <a:solidFill>
                  <a:srgbClr val="000000"/>
                </a:solidFill>
              </a:rPr>
              <a:t>“constant”</a:t>
            </a:r>
            <a:r>
              <a:rPr lang="en">
                <a:solidFill>
                  <a:srgbClr val="000000"/>
                </a:solidFill>
              </a:rPr>
              <a:t> by starting its declaration with the word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hex_chars[] = {'0', '1', '2', '3', '4', '5', '6', '7', '8', '9',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				      		    	   'A', 'B', 'C', 'D', 'E', 'F'};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array that’s been declared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>
                <a:solidFill>
                  <a:srgbClr val="000000"/>
                </a:solidFill>
              </a:rPr>
              <a:t> should not be modified by the program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Advantages of declaring an array to be const: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Documents that the program won’t change the array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Helps the compiler catch errors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const isn’t limited to arrays, but it’s particularly useful in array declarations</a:t>
            </a:r>
            <a:endParaRPr>
              <a:solidFill>
                <a:srgbClr val="000000"/>
              </a:solidFill>
            </a:endParaRPr>
          </a:p>
          <a:p>
            <a:pPr indent="0" lvl="0" marL="13716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3" name="Google Shape;233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Multi-Dimensional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Constant Arrays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 txBox="1"/>
          <p:nvPr>
            <p:ph idx="1" type="body"/>
          </p:nvPr>
        </p:nvSpPr>
        <p:spPr>
          <a:xfrm>
            <a:off x="512750" y="171405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illustrates both two-dimensional arrays and constant arrays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deals a random hand from a standard deck of playing cards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Each card in a standard deck has a </a:t>
            </a:r>
            <a:r>
              <a:rPr b="1" i="1" lang="en">
                <a:solidFill>
                  <a:srgbClr val="000000"/>
                </a:solidFill>
              </a:rPr>
              <a:t>suit</a:t>
            </a:r>
            <a:r>
              <a:rPr lang="en">
                <a:solidFill>
                  <a:srgbClr val="000000"/>
                </a:solidFill>
              </a:rPr>
              <a:t> (clubs, diamonds, hearts, or spades) and a </a:t>
            </a:r>
            <a:r>
              <a:rPr i="1" lang="en">
                <a:solidFill>
                  <a:srgbClr val="000000"/>
                </a:solidFill>
              </a:rPr>
              <a:t>rank</a:t>
            </a:r>
            <a:r>
              <a:rPr lang="en">
                <a:solidFill>
                  <a:srgbClr val="000000"/>
                </a:solidFill>
              </a:rPr>
              <a:t> (two, three, four, five, six, seven, eight, nine, ten, jack, queen, king, or ace)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9" name="Google Shape;239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Dealing a Hands of Cards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8"/>
          <p:cNvSpPr txBox="1"/>
          <p:nvPr>
            <p:ph idx="1" type="body"/>
          </p:nvPr>
        </p:nvSpPr>
        <p:spPr>
          <a:xfrm>
            <a:off x="512750" y="171405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user will specify how many cards should be in the hand: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Enter number of cards in hand: </a:t>
            </a:r>
            <a:r>
              <a:rPr lang="en" sz="1400" u="sng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  <a:endParaRPr sz="1400" u="sng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Your hand: 7c 2s 5d as 2h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Problems to be solved: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How do we pick cards randomly from the deck?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How do we avoid picking the same card twice?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5" name="Google Shape;245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Dealing a Hands of Cards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Length of array is computed during program execution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calculate exactly how many elements are needed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13716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1" name="Google Shape;251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Variable-Length Arrays</a:t>
            </a:r>
            <a:endParaRPr/>
          </a:p>
        </p:txBody>
      </p:sp>
      <p:sp>
        <p:nvSpPr>
          <p:cNvPr id="252" name="Google Shape;252;p29"/>
          <p:cNvSpPr txBox="1"/>
          <p:nvPr/>
        </p:nvSpPr>
        <p:spPr>
          <a:xfrm>
            <a:off x="1628150" y="2427425"/>
            <a:ext cx="3115800" cy="12261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m, n;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4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 %d"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&amp;m, &amp;n);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arr[m][n];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Advantage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</a:rPr>
              <a:t>Reduces wastage of memory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</a:rPr>
              <a:t>Avoids program failure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Restrictions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</a:rPr>
              <a:t>Can’t have static storage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</a:rPr>
              <a:t>Can’t have initializers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13716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8" name="Google Shape;258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Variable-Length Arrays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1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Ask user how many numbers s/he wants to reverse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How many numbers do you want to reverse? </a:t>
            </a:r>
            <a:r>
              <a:rPr lang="en" sz="1400" u="sng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  <a:endParaRPr sz="1400" u="sng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Enter 5 numbers: </a:t>
            </a:r>
            <a:r>
              <a:rPr lang="en" sz="1400" u="sng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5 2 1 5 3</a:t>
            </a:r>
            <a:endParaRPr sz="1400" u="sng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 reverse order: 3 5 1 2 5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4" name="Google Shape;264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Reverse a Series of Numbers (Revisited)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