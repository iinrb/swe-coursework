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wVX2HMJHEF8LL1bh3VhU3yKIC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C Fundamentals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Writing a Simple Program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471900" y="1926475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Your first C program: “Hello, world”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2"/>
          <p:cNvSpPr txBox="1"/>
          <p:nvPr>
            <p:ph idx="1" type="body"/>
          </p:nvPr>
        </p:nvSpPr>
        <p:spPr>
          <a:xfrm>
            <a:off x="4646750" y="2064050"/>
            <a:ext cx="38610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can be saved in a file named </a:t>
            </a:r>
            <a:r>
              <a:rPr i="1" lang="en">
                <a:solidFill>
                  <a:srgbClr val="000000"/>
                </a:solidFill>
              </a:rPr>
              <a:t>hello.c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You can name it anything, but the </a:t>
            </a:r>
            <a:r>
              <a:rPr i="1" lang="en">
                <a:solidFill>
                  <a:srgbClr val="000000"/>
                </a:solidFill>
              </a:rPr>
              <a:t>.c</a:t>
            </a:r>
            <a:r>
              <a:rPr lang="en">
                <a:solidFill>
                  <a:srgbClr val="000000"/>
                </a:solidFill>
              </a:rPr>
              <a:t> extension is often required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Compiling and Linking</a:t>
            </a:r>
            <a:endParaRPr/>
          </a:p>
        </p:txBody>
      </p:sp>
      <p:sp>
        <p:nvSpPr>
          <p:cNvPr id="81" name="Google Shape;81;p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Before a program can be executed, three steps are usually required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Preprocessing.</a:t>
            </a:r>
            <a:r>
              <a:rPr lang="en">
                <a:solidFill>
                  <a:srgbClr val="000000"/>
                </a:solidFill>
              </a:rPr>
              <a:t> The </a:t>
            </a:r>
            <a:r>
              <a:rPr b="1" i="1" lang="en">
                <a:solidFill>
                  <a:srgbClr val="000000"/>
                </a:solidFill>
              </a:rPr>
              <a:t>preprocessor</a:t>
            </a:r>
            <a:r>
              <a:rPr lang="en">
                <a:solidFill>
                  <a:srgbClr val="000000"/>
                </a:solidFill>
              </a:rPr>
              <a:t> obeys commands that begin with </a:t>
            </a:r>
            <a:r>
              <a:rPr b="1" lang="en">
                <a:solidFill>
                  <a:srgbClr val="000000"/>
                </a:solidFill>
              </a:rPr>
              <a:t>#</a:t>
            </a:r>
            <a:r>
              <a:rPr lang="en">
                <a:solidFill>
                  <a:srgbClr val="000000"/>
                </a:solidFill>
              </a:rPr>
              <a:t> (known as </a:t>
            </a:r>
            <a:r>
              <a:rPr b="1" i="1" lang="en">
                <a:solidFill>
                  <a:srgbClr val="000000"/>
                </a:solidFill>
              </a:rPr>
              <a:t>directives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Compiling.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i="1" lang="en">
                <a:solidFill>
                  <a:srgbClr val="000000"/>
                </a:solidFill>
              </a:rPr>
              <a:t>compiler</a:t>
            </a:r>
            <a:r>
              <a:rPr lang="en">
                <a:solidFill>
                  <a:srgbClr val="000000"/>
                </a:solidFill>
              </a:rPr>
              <a:t> translates the program into machine code (</a:t>
            </a:r>
            <a:r>
              <a:rPr b="1" i="1" lang="en">
                <a:solidFill>
                  <a:srgbClr val="000000"/>
                </a:solidFill>
              </a:rPr>
              <a:t>object code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Linking.</a:t>
            </a:r>
            <a:r>
              <a:rPr lang="en">
                <a:solidFill>
                  <a:srgbClr val="000000"/>
                </a:solidFill>
              </a:rPr>
              <a:t> A </a:t>
            </a:r>
            <a:r>
              <a:rPr b="1" i="1" lang="en">
                <a:solidFill>
                  <a:srgbClr val="000000"/>
                </a:solidFill>
              </a:rPr>
              <a:t>linker</a:t>
            </a:r>
            <a:r>
              <a:rPr lang="en">
                <a:solidFill>
                  <a:srgbClr val="000000"/>
                </a:solidFill>
              </a:rPr>
              <a:t> combines the object code produced by the compiler with any additional code needed (like, </a:t>
            </a:r>
            <a:r>
              <a:rPr b="1" i="1" lang="en">
                <a:solidFill>
                  <a:srgbClr val="000000"/>
                </a:solidFill>
              </a:rPr>
              <a:t>printf</a:t>
            </a:r>
            <a:r>
              <a:rPr lang="en">
                <a:solidFill>
                  <a:srgbClr val="000000"/>
                </a:solidFill>
              </a:rPr>
              <a:t>) to yield a complete executable program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preprocessor is usually integrated with the compiler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84650" y="4588450"/>
            <a:ext cx="78966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the command line: cc -o hello hello.c	  </a:t>
            </a:r>
            <a:r>
              <a:rPr b="0" i="0" lang="en" sz="1400" u="none" cap="none" strike="noStrike">
                <a:solidFill>
                  <a:srgbClr val="DD7E6B"/>
                </a:solidFill>
                <a:latin typeface="Roboto"/>
                <a:ea typeface="Roboto"/>
                <a:cs typeface="Roboto"/>
                <a:sym typeface="Roboto"/>
              </a:rPr>
              <a:t>or	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gcc -o hello hello.c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GCC Compiler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of the most popular C compiler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Supplied with Linux, but available for many other platforms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555050" y="3074075"/>
            <a:ext cx="7896600" cy="4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the command line:</a:t>
            </a:r>
            <a:r>
              <a:rPr b="0" i="0" lang="en" sz="1400" u="none" cap="none" strike="noStrike">
                <a:solidFill>
                  <a:srgbClr val="DD7E6B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gcc -o hello hello.c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Integrated Development Environments</a:t>
            </a:r>
            <a:endParaRPr/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60950" y="1711850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Alternative to </a:t>
            </a:r>
            <a:r>
              <a:rPr b="1" i="1" lang="en">
                <a:solidFill>
                  <a:srgbClr val="000000"/>
                </a:solidFill>
              </a:rPr>
              <a:t>command line</a:t>
            </a:r>
            <a:r>
              <a:rPr lang="en">
                <a:solidFill>
                  <a:srgbClr val="000000"/>
                </a:solidFill>
              </a:rPr>
              <a:t> compiler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Supplied with Linux, but available for many other platforms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software package that allows: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Edit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Compile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Link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Execute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Debug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Syntax Highlighting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Integrated Development Environments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20100" y="1763650"/>
            <a:ext cx="8222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Popular IDEs are: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100" y="2210975"/>
            <a:ext cx="1605100" cy="1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7600" y="2468950"/>
            <a:ext cx="2394400" cy="56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1675" y="2384750"/>
            <a:ext cx="1257549" cy="125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3400" y="2317175"/>
            <a:ext cx="1392700" cy="13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71250" y="3709876"/>
            <a:ext cx="1297075" cy="129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73125" y="3516265"/>
            <a:ext cx="1678550" cy="16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4833000" y="2571750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directives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609500" y="1923475"/>
            <a:ext cx="38610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Your first C program: “Hello, world”</a:t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624300" y="19012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uses </a:t>
            </a:r>
            <a:r>
              <a:rPr b="1" i="1" lang="en">
                <a:solidFill>
                  <a:srgbClr val="000000"/>
                </a:solidFill>
              </a:rPr>
              <a:t>{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i="1" lang="en">
                <a:solidFill>
                  <a:srgbClr val="000000"/>
                </a:solidFill>
              </a:rPr>
              <a:t>}</a:t>
            </a:r>
            <a:r>
              <a:rPr i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like other languages uses </a:t>
            </a:r>
            <a:r>
              <a:rPr b="1" i="1" lang="en">
                <a:solidFill>
                  <a:srgbClr val="000000"/>
                </a:solidFill>
              </a:rPr>
              <a:t>begin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i="1" lang="en">
                <a:solidFill>
                  <a:srgbClr val="000000"/>
                </a:solidFill>
              </a:rPr>
              <a:t>end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Three key features: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Directives (</a:t>
            </a:r>
            <a:r>
              <a:rPr b="1" i="1" lang="en">
                <a:solidFill>
                  <a:srgbClr val="000000"/>
                </a:solidFill>
              </a:rPr>
              <a:t>editing commands</a:t>
            </a:r>
            <a:r>
              <a:rPr lang="en">
                <a:solidFill>
                  <a:srgbClr val="000000"/>
                </a:solidFill>
              </a:rPr>
              <a:t> that modify program prior to compilation)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Functions (named </a:t>
            </a:r>
            <a:r>
              <a:rPr b="1" i="1" lang="en">
                <a:solidFill>
                  <a:srgbClr val="000000"/>
                </a:solidFill>
              </a:rPr>
              <a:t>blocks</a:t>
            </a:r>
            <a:r>
              <a:rPr lang="en">
                <a:solidFill>
                  <a:srgbClr val="000000"/>
                </a:solidFill>
              </a:rPr>
              <a:t> of executable codes)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Statements (</a:t>
            </a:r>
            <a:r>
              <a:rPr b="1" i="1" lang="en">
                <a:solidFill>
                  <a:srgbClr val="000000"/>
                </a:solidFill>
              </a:rPr>
              <a:t>commands</a:t>
            </a:r>
            <a:r>
              <a:rPr lang="en">
                <a:solidFill>
                  <a:srgbClr val="000000"/>
                </a:solidFill>
              </a:rPr>
              <a:t> to be performed when the program is run)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Directives</a:t>
            </a:r>
            <a:endParaRPr i="1" sz="2000"/>
          </a:p>
        </p:txBody>
      </p:sp>
      <p:sp>
        <p:nvSpPr>
          <p:cNvPr id="126" name="Google Shape;126;p9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preprocessor edits a C program before it is compiled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Commands intended for the preprocessor are called directives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Example: 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Verdana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&lt;stdio.h&gt; </a:t>
            </a:r>
            <a:r>
              <a:rPr lang="en">
                <a:solidFill>
                  <a:srgbClr val="000000"/>
                </a:solidFill>
              </a:rPr>
              <a:t>is a </a:t>
            </a:r>
            <a:r>
              <a:rPr b="1" i="1" lang="en">
                <a:solidFill>
                  <a:srgbClr val="000000"/>
                </a:solidFill>
              </a:rPr>
              <a:t>header</a:t>
            </a:r>
            <a:r>
              <a:rPr lang="en">
                <a:solidFill>
                  <a:srgbClr val="000000"/>
                </a:solidFill>
              </a:rPr>
              <a:t> containing information about C’s standard </a:t>
            </a:r>
            <a:r>
              <a:rPr b="1" i="1" lang="en">
                <a:solidFill>
                  <a:srgbClr val="000000"/>
                </a:solidFill>
              </a:rPr>
              <a:t>I/O</a:t>
            </a:r>
            <a:r>
              <a:rPr lang="en">
                <a:solidFill>
                  <a:srgbClr val="000000"/>
                </a:solidFill>
              </a:rPr>
              <a:t> library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Begins with a </a:t>
            </a:r>
            <a:r>
              <a:rPr b="1" lang="en">
                <a:solidFill>
                  <a:srgbClr val="000000"/>
                </a:solidFill>
              </a:rPr>
              <a:t>#</a:t>
            </a:r>
            <a:r>
              <a:rPr lang="en">
                <a:solidFill>
                  <a:srgbClr val="000000"/>
                </a:solidFill>
              </a:rPr>
              <a:t> character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line long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 semicolon or other special characters at the end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</a:t>
            </a:r>
            <a:endParaRPr i="1" sz="2000"/>
          </a:p>
        </p:txBody>
      </p:sp>
      <p:sp>
        <p:nvSpPr>
          <p:cNvPr id="132" name="Google Shape;132;p10"/>
          <p:cNvSpPr txBox="1"/>
          <p:nvPr>
            <p:ph idx="1" type="body"/>
          </p:nvPr>
        </p:nvSpPr>
        <p:spPr>
          <a:xfrm>
            <a:off x="647250" y="1664450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Named block of executable code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Building blocks from which programs are constructed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Concept came from mathematics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f(x) -&gt; x+1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Functions which computes values uses </a:t>
            </a:r>
            <a:r>
              <a:rPr i="1"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statement to specify what value it </a:t>
            </a:r>
            <a:r>
              <a:rPr b="1" lang="en">
                <a:solidFill>
                  <a:srgbClr val="000000"/>
                </a:solidFill>
              </a:rPr>
              <a:t>returns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categories: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User defined functions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Provided as a part of C implementation -&gt; Library functions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</a:t>
            </a:r>
            <a:endParaRPr i="1" sz="2000"/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647250" y="1664450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rgbClr val="000000"/>
                </a:solidFill>
              </a:rPr>
              <a:t>The </a:t>
            </a:r>
            <a:r>
              <a:rPr i="1" lang="en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r>
              <a:rPr lang="en" u="sng">
                <a:solidFill>
                  <a:srgbClr val="000000"/>
                </a:solidFill>
              </a:rPr>
              <a:t> function:</a:t>
            </a:r>
            <a:endParaRPr u="sng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 </a:t>
            </a:r>
            <a:r>
              <a:rPr lang="en">
                <a:solidFill>
                  <a:srgbClr val="000000"/>
                </a:solidFill>
              </a:rPr>
              <a:t>function is mandatory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Gets automatically called when the program is executed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a status code; the value 0 means normal program execution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compilers will produce warning messages if no </a:t>
            </a:r>
            <a:r>
              <a:rPr i="1"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 </a:t>
            </a:r>
            <a:r>
              <a:rPr lang="en">
                <a:solidFill>
                  <a:srgbClr val="000000"/>
                </a:solidFill>
              </a:rPr>
              <a:t>statement is provided at the end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 </a:t>
            </a:r>
            <a:r>
              <a:rPr lang="en">
                <a:solidFill>
                  <a:srgbClr val="000000"/>
                </a:solidFill>
              </a:rPr>
              <a:t>function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Statements</a:t>
            </a:r>
            <a:endParaRPr i="1" sz="2000"/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statement </a:t>
            </a:r>
            <a:r>
              <a:rPr lang="en">
                <a:solidFill>
                  <a:srgbClr val="000000"/>
                </a:solidFill>
              </a:rPr>
              <a:t>is a command to be executed when the program runs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Example from </a:t>
            </a:r>
            <a:r>
              <a:rPr i="1" lang="en">
                <a:solidFill>
                  <a:srgbClr val="000000"/>
                </a:solidFill>
              </a:rPr>
              <a:t>hello.c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Our previous program </a:t>
            </a:r>
            <a:r>
              <a:rPr b="1" i="1" lang="en">
                <a:solidFill>
                  <a:srgbClr val="000000"/>
                </a:solidFill>
              </a:rPr>
              <a:t>hello.c</a:t>
            </a:r>
            <a:r>
              <a:rPr lang="en">
                <a:solidFill>
                  <a:srgbClr val="000000"/>
                </a:solidFill>
              </a:rPr>
              <a:t> uses only two types of statements: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i="1" lang="en">
                <a:solidFill>
                  <a:srgbClr val="000000"/>
                </a:solidFill>
              </a:rPr>
              <a:t>return </a:t>
            </a:r>
            <a:r>
              <a:rPr lang="en">
                <a:solidFill>
                  <a:srgbClr val="000000"/>
                </a:solidFill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function call -&gt; Asking a function to perform its assigned task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requires that each statement end with a semicolon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There’s one exception: the compound statement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General form of a Simple 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Strings</a:t>
            </a:r>
            <a:endParaRPr i="1" sz="2000"/>
          </a:p>
        </p:txBody>
      </p:sp>
      <p:sp>
        <p:nvSpPr>
          <p:cNvPr id="150" name="Google Shape;150;p13"/>
          <p:cNvSpPr txBox="1"/>
          <p:nvPr>
            <p:ph idx="1" type="body"/>
          </p:nvPr>
        </p:nvSpPr>
        <p:spPr>
          <a:xfrm>
            <a:off x="647250" y="1768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displays </a:t>
            </a:r>
            <a:r>
              <a:rPr b="1" i="1" lang="en">
                <a:solidFill>
                  <a:srgbClr val="000000"/>
                </a:solidFill>
              </a:rPr>
              <a:t>string literal</a:t>
            </a:r>
            <a:r>
              <a:rPr lang="en">
                <a:solidFill>
                  <a:srgbClr val="000000"/>
                </a:solidFill>
              </a:rPr>
              <a:t> - characters enclosed in double quotes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doesn’t automatically advance to the next output line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make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advance one line, use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\n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statement 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22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be replaced by two calls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</a:t>
            </a:r>
            <a:r>
              <a:rPr lang="en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“world\n”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C89 Style</a:t>
            </a:r>
            <a:endParaRPr i="1" sz="2000"/>
          </a:p>
        </p:txBody>
      </p:sp>
      <p:sp>
        <p:nvSpPr>
          <p:cNvPr id="156" name="Google Shape;156;p14"/>
          <p:cNvSpPr txBox="1"/>
          <p:nvPr>
            <p:ph idx="1" type="body"/>
          </p:nvPr>
        </p:nvSpPr>
        <p:spPr>
          <a:xfrm>
            <a:off x="647250" y="1694075"/>
            <a:ext cx="7849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comment </a:t>
            </a:r>
            <a:r>
              <a:rPr lang="en">
                <a:solidFill>
                  <a:srgbClr val="000000"/>
                </a:solidFill>
              </a:rPr>
              <a:t>begins with </a:t>
            </a:r>
            <a:r>
              <a:rPr b="1" i="1" lang="en">
                <a:solidFill>
                  <a:srgbClr val="000000"/>
                </a:solidFill>
              </a:rPr>
              <a:t>/*</a:t>
            </a:r>
            <a:r>
              <a:rPr lang="en">
                <a:solidFill>
                  <a:srgbClr val="000000"/>
                </a:solidFill>
              </a:rPr>
              <a:t> and ends with </a:t>
            </a:r>
            <a:r>
              <a:rPr b="1" i="1" lang="en">
                <a:solidFill>
                  <a:srgbClr val="000000"/>
                </a:solidFill>
              </a:rPr>
              <a:t>*/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1068275" y="1583025"/>
            <a:ext cx="50298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*/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	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beginning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print function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58" name="Google Shape;158;p14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4"/>
          <p:cNvSpPr txBox="1"/>
          <p:nvPr/>
        </p:nvSpPr>
        <p:spPr>
          <a:xfrm>
            <a:off x="5787375" y="2301625"/>
            <a:ext cx="2906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appear in anywhere in the program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Comments may extend over more than one line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C89 Style</a:t>
            </a:r>
            <a:endParaRPr i="1" sz="2000"/>
          </a:p>
        </p:txBody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1075675" y="1335350"/>
            <a:ext cx="5029800" cy="40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#include &lt;stdio.h&gt;  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int main(void){	/* beginning */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/* print function */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66" name="Google Shape;166;p15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5"/>
          <p:cNvSpPr txBox="1"/>
          <p:nvPr/>
        </p:nvSpPr>
        <p:spPr>
          <a:xfrm>
            <a:off x="5787375" y="2301625"/>
            <a:ext cx="2906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Failure to end a comment can result in program statements being commented out, causing your program to be incorrect.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C99 Style</a:t>
            </a:r>
            <a:endParaRPr i="1" sz="2000"/>
          </a:p>
        </p:txBody>
      </p:sp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647250" y="1694075"/>
            <a:ext cx="78495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comment </a:t>
            </a:r>
            <a:r>
              <a:rPr lang="en">
                <a:solidFill>
                  <a:srgbClr val="000000"/>
                </a:solidFill>
              </a:rPr>
              <a:t>begins with </a:t>
            </a:r>
            <a:r>
              <a:rPr b="1" i="1" lang="en">
                <a:solidFill>
                  <a:srgbClr val="000000"/>
                </a:solidFill>
              </a:rPr>
              <a:t>//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957400" y="2212875"/>
            <a:ext cx="5029800" cy="31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Name: hello.c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Purpose: Prints Hello, world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Author: Mohammed Saidul Islam</a:t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&lt;stdio.h&gt;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	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beginning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printf(</a:t>
            </a:r>
            <a:r>
              <a:rPr lang="en" sz="1200">
                <a:solidFill>
                  <a:srgbClr val="DD7E6B"/>
                </a:solidFill>
                <a:latin typeface="Verdana"/>
                <a:ea typeface="Verdana"/>
                <a:cs typeface="Verdana"/>
                <a:sym typeface="Verdana"/>
              </a:rPr>
              <a:t>“Hello, world\n”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   </a:t>
            </a:r>
            <a:r>
              <a:rPr lang="en" sz="12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print function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75" name="Google Shape;175;p16"/>
          <p:cNvCxnSpPr/>
          <p:nvPr/>
        </p:nvCxnSpPr>
        <p:spPr>
          <a:xfrm>
            <a:off x="5513525" y="2257225"/>
            <a:ext cx="0" cy="255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6"/>
          <p:cNvSpPr txBox="1"/>
          <p:nvPr/>
        </p:nvSpPr>
        <p:spPr>
          <a:xfrm>
            <a:off x="5787300" y="2212875"/>
            <a:ext cx="29067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Less error prone : no chance of unterminated comment to consume part of a program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Simple and helpful because it ends automatically at the end of the line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Multiline comments stands out better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Types</a:t>
            </a:r>
            <a:endParaRPr i="1" sz="2000"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Most programs need a way to store data temporarily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storage locations are called </a:t>
            </a:r>
            <a:r>
              <a:rPr b="1" i="1" lang="en">
                <a:solidFill>
                  <a:srgbClr val="000000"/>
                </a:solidFill>
              </a:rPr>
              <a:t>variables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variable has a </a:t>
            </a:r>
            <a:r>
              <a:rPr b="1" i="1" lang="en">
                <a:solidFill>
                  <a:srgbClr val="000000"/>
                </a:solidFill>
              </a:rPr>
              <a:t>type</a:t>
            </a:r>
            <a:r>
              <a:rPr lang="en">
                <a:solidFill>
                  <a:srgbClr val="000000"/>
                </a:solidFill>
              </a:rPr>
              <a:t> -&gt; specifies the type of data it will store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int</a:t>
            </a:r>
            <a:endParaRPr sz="1600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Short for </a:t>
            </a:r>
            <a:r>
              <a:rPr i="1" lang="en">
                <a:solidFill>
                  <a:srgbClr val="000000"/>
                </a:solidFill>
              </a:rPr>
              <a:t>integer</a:t>
            </a:r>
            <a:r>
              <a:rPr lang="en">
                <a:solidFill>
                  <a:srgbClr val="000000"/>
                </a:solidFill>
              </a:rPr>
              <a:t>,  E.g.: 0, -243, 243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 whole numbers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Limited range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Types</a:t>
            </a:r>
            <a:endParaRPr i="1" sz="2000"/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</a:pPr>
            <a:r>
              <a:rPr lang="en" sz="1600">
                <a:solidFill>
                  <a:srgbClr val="000000"/>
                </a:solidFill>
              </a:rPr>
              <a:t>float</a:t>
            </a:r>
            <a:endParaRPr sz="1600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Short for </a:t>
            </a:r>
            <a:r>
              <a:rPr i="1" lang="en">
                <a:solidFill>
                  <a:srgbClr val="000000"/>
                </a:solidFill>
              </a:rPr>
              <a:t>floating point</a:t>
            </a:r>
            <a:r>
              <a:rPr lang="en">
                <a:solidFill>
                  <a:srgbClr val="000000"/>
                </a:solidFill>
              </a:rPr>
              <a:t> numbers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 much larger numbers than </a:t>
            </a:r>
            <a:r>
              <a:rPr i="1" lang="en">
                <a:solidFill>
                  <a:srgbClr val="000000"/>
                </a:solidFill>
              </a:rPr>
              <a:t>int</a:t>
            </a:r>
            <a:endParaRPr i="1"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Can stores numbers with digits after the decimal point, like 379.125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Limitations are: 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Slower arithmetic operations</a:t>
            </a:r>
            <a:endParaRPr>
              <a:solidFill>
                <a:srgbClr val="000000"/>
              </a:solidFill>
            </a:endParaRPr>
          </a:p>
          <a:p>
            <a:pPr indent="-317500" lvl="3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Approximate nature of </a:t>
            </a:r>
            <a:r>
              <a:rPr i="1" lang="en">
                <a:solidFill>
                  <a:srgbClr val="000000"/>
                </a:solidFill>
              </a:rPr>
              <a:t>floating point</a:t>
            </a:r>
            <a:r>
              <a:rPr lang="en">
                <a:solidFill>
                  <a:srgbClr val="000000"/>
                </a:solidFill>
              </a:rPr>
              <a:t> values (i.e., round-off error)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Declarations</a:t>
            </a:r>
            <a:endParaRPr i="1" sz="2000"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must be declared before they are used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Variables can be declared one at a time: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height;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profit;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Alternatively, several variables can be declared at the same time: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height, length, width, volume;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profit, loss;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Assignment</a:t>
            </a:r>
            <a:endParaRPr i="1" sz="2000"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658200" y="1694075"/>
            <a:ext cx="78495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Assignment</a:t>
            </a:r>
            <a:r>
              <a:rPr lang="en">
                <a:solidFill>
                  <a:srgbClr val="000000"/>
                </a:solidFill>
              </a:rPr>
              <a:t> is the process of assigning a value to a variable.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 = 100.0;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Declare first, then assign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788400" y="3378425"/>
            <a:ext cx="2867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Correct way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length = 12, width = 10;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 = 100.0;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4655925" y="3300875"/>
            <a:ext cx="2867700" cy="16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Wrong way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8;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Not wrong, but be careful</a:t>
            </a:r>
            <a:endParaRPr sz="1400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length, width = 10;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033400" y="3322925"/>
            <a:ext cx="22200" cy="162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Assignment</a:t>
            </a:r>
            <a:endParaRPr i="1" sz="2000"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647250" y="1671875"/>
            <a:ext cx="7849500" cy="3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It’s best to append the letter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 </a:t>
            </a:r>
            <a:r>
              <a:rPr lang="en">
                <a:solidFill>
                  <a:srgbClr val="000000"/>
                </a:solidFill>
              </a:rPr>
              <a:t>to a floating point constant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float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profit = 100.0f;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Assigning </a:t>
            </a:r>
            <a:r>
              <a:rPr i="1" lang="en">
                <a:solidFill>
                  <a:srgbClr val="000000"/>
                </a:solidFill>
              </a:rPr>
              <a:t>int</a:t>
            </a:r>
            <a:r>
              <a:rPr lang="en">
                <a:solidFill>
                  <a:srgbClr val="000000"/>
                </a:solidFill>
              </a:rPr>
              <a:t> to </a:t>
            </a:r>
            <a:r>
              <a:rPr i="1" lang="en">
                <a:solidFill>
                  <a:srgbClr val="000000"/>
                </a:solidFill>
              </a:rPr>
              <a:t>float</a:t>
            </a:r>
            <a:r>
              <a:rPr lang="en">
                <a:solidFill>
                  <a:srgbClr val="000000"/>
                </a:solidFill>
              </a:rPr>
              <a:t>, or vice versa is possible but not recommended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Once assigned, a variable can be used to compute the value of another variable: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 = 10, length = 20, width = 5, volume;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volume = height * length * width;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 volume is now 1000</a:t>
            </a:r>
            <a:endParaRPr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right side of an assignment can be a formula ( or expression in C terminology) involving constants, variables, and operators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658200" y="1694075"/>
            <a:ext cx="7849500" cy="29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can be used to display the current value of a variable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write the message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Height: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where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">
                <a:solidFill>
                  <a:srgbClr val="000000"/>
                </a:solidFill>
              </a:rPr>
              <a:t> is the current value of the height variable, we’d us the following call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b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printf(“Height: %d\n”, height);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a placeholder indicating where the value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height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to be filled in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%d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works for </a:t>
            </a:r>
            <a:r>
              <a:rPr i="1" lang="en">
                <a:solidFill>
                  <a:srgbClr val="000000"/>
                </a:solidFill>
              </a:rPr>
              <a:t>int</a:t>
            </a:r>
            <a:r>
              <a:rPr lang="en">
                <a:solidFill>
                  <a:srgbClr val="000000"/>
                </a:solidFill>
              </a:rPr>
              <a:t>, 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required for </a:t>
            </a:r>
            <a:r>
              <a:rPr i="1" lang="en">
                <a:solidFill>
                  <a:srgbClr val="000000"/>
                </a:solidFill>
              </a:rPr>
              <a:t>float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21" name="Google Shape;221;p23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By default,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</a:rPr>
              <a:t> displays a number with six digits after the decimal points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force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%f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to display </a:t>
            </a:r>
            <a:r>
              <a:rPr i="1" lang="en">
                <a:solidFill>
                  <a:srgbClr val="000000"/>
                </a:solidFill>
              </a:rPr>
              <a:t>p</a:t>
            </a:r>
            <a:r>
              <a:rPr lang="en">
                <a:solidFill>
                  <a:srgbClr val="000000"/>
                </a:solidFill>
              </a:rPr>
              <a:t> digits after the decimal point, put </a:t>
            </a:r>
            <a:r>
              <a:rPr i="1" lang="en">
                <a:solidFill>
                  <a:srgbClr val="000000"/>
                </a:solidFill>
              </a:rPr>
              <a:t>.p</a:t>
            </a:r>
            <a:r>
              <a:rPr lang="en">
                <a:solidFill>
                  <a:srgbClr val="000000"/>
                </a:solidFill>
              </a:rPr>
              <a:t>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print the line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Profit: $2150.48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We have to use the following printf: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printf(“Profit: $%.2f\n”, profit);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Variables and Assignment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the value of a variable</a:t>
            </a:r>
            <a:endParaRPr i="1" sz="2000"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no limit to the number of variables that can be printed by a single call of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printf(“Height: %d Length: %d\n”, height, length);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33" name="Google Shape;233;p25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Shipping companies often charge extra for boxes that are large, but very light based on their volume instead of weight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Usual method followed in the US: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Divide the volume of the box by 166 (the allowed number of cubic inches per pound)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-&gt; Dimensional weight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If the value exceeds its actual weight, shipping fee is based on dimensional weight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We’ll write a program, that computes the dimensional weight of a particular box: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Dimension: 12’’ x 10” x 8”, Volume: 960 (cubic inches), Dimensional weight: 6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39" name="Google Shape;239;p26"/>
          <p:cNvSpPr txBox="1"/>
          <p:nvPr>
            <p:ph idx="1" type="body"/>
          </p:nvPr>
        </p:nvSpPr>
        <p:spPr>
          <a:xfrm>
            <a:off x="658200" y="1694075"/>
            <a:ext cx="7849500" cy="3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Division is represented by / in C: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volume  / 166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C, when one integer is divided by another, the answer is truncated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The volume will be 960 cubic inches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Dividing by 166 gives 5, instead of 5.783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We’ll write a program, that computes the dimensional weight of a particular box: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Dimension: 12’’ x 10” x 8”, Volume: 960 (cubic inches), Dimensional weight: 6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- Initialization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45" name="Google Shape;245;p27"/>
          <p:cNvSpPr txBox="1"/>
          <p:nvPr>
            <p:ph idx="1" type="body"/>
          </p:nvPr>
        </p:nvSpPr>
        <p:spPr>
          <a:xfrm>
            <a:off x="658200" y="1694075"/>
            <a:ext cx="7849500" cy="17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variables are automatically set to zero when a program begins to execute, but most are not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which doesn’t have a default value and hasn’t yet been assigned a value, is said to be </a:t>
            </a:r>
            <a:r>
              <a:rPr b="1" i="1" lang="en">
                <a:solidFill>
                  <a:srgbClr val="000000"/>
                </a:solidFill>
              </a:rPr>
              <a:t>uninitialized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658675" y="3715150"/>
            <a:ext cx="7859700" cy="615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sng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Note: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Attempting to access the value of an uninitialized variable may yield an unpredictable result. With some compilers, worst behavior - even a program crash - may occur.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Reading Input</a:t>
            </a:r>
            <a:endParaRPr i="1" sz="2000"/>
          </a:p>
        </p:txBody>
      </p:sp>
      <p:sp>
        <p:nvSpPr>
          <p:cNvPr id="252" name="Google Shape;252;p28"/>
          <p:cNvSpPr txBox="1"/>
          <p:nvPr>
            <p:ph idx="1" type="body"/>
          </p:nvPr>
        </p:nvSpPr>
        <p:spPr>
          <a:xfrm>
            <a:off x="658200" y="1694075"/>
            <a:ext cx="7849500" cy="3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is the C library’s counterpart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 </a:t>
            </a:r>
            <a:r>
              <a:rPr lang="en">
                <a:solidFill>
                  <a:srgbClr val="000000"/>
                </a:solidFill>
              </a:rPr>
              <a:t>requires a </a:t>
            </a:r>
            <a:r>
              <a:rPr b="1" i="1" lang="en">
                <a:solidFill>
                  <a:srgbClr val="000000"/>
                </a:solidFill>
              </a:rPr>
              <a:t>format string </a:t>
            </a:r>
            <a:r>
              <a:rPr lang="en">
                <a:solidFill>
                  <a:srgbClr val="000000"/>
                </a:solidFill>
              </a:rPr>
              <a:t>to specify the appearance of the input data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using scanf to read an int value: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scanf(“%d”, &amp;i)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//reads an integer and stores it into </a:t>
            </a:r>
            <a:r>
              <a:rPr i="1"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i="1">
              <a:solidFill>
                <a:srgbClr val="93C47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read a float value: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scanf(“%f”, &amp;x) </a:t>
            </a:r>
            <a:r>
              <a:rPr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//reads a float and stores it into </a:t>
            </a:r>
            <a:r>
              <a:rPr i="1" lang="en">
                <a:solidFill>
                  <a:srgbClr val="93C47D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&amp; </a:t>
            </a:r>
            <a:r>
              <a:rPr lang="en">
                <a:solidFill>
                  <a:srgbClr val="000000"/>
                </a:solidFill>
              </a:rPr>
              <a:t>symbol is usually (but not always) required when 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(Revisited)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the dimensional weight of a box</a:t>
            </a:r>
            <a:endParaRPr i="1" sz="2000"/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can modify our previous program to take inputs from user using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>
                <a:solidFill>
                  <a:srgbClr val="000000"/>
                </a:solidFill>
              </a:rPr>
              <a:t> is immediately preceded by a call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that displays a </a:t>
            </a:r>
            <a:r>
              <a:rPr b="1" i="1" lang="en">
                <a:solidFill>
                  <a:srgbClr val="000000"/>
                </a:solidFill>
              </a:rPr>
              <a:t>prompt.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Sample output of the program: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height of the box: 8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length of the box: 12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width of the box: 10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Volume (cubic inches): 960</a:t>
            </a:r>
            <a:b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Dimensional weight (pounds): 6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Names for constants</a:t>
            </a:r>
            <a:endParaRPr i="1" sz="2000"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Both of the programs rely on the constant 166, whose meaning may not be clear to someone reading the program.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feature known as </a:t>
            </a:r>
            <a:r>
              <a:rPr b="1" i="1" lang="en">
                <a:solidFill>
                  <a:srgbClr val="000000"/>
                </a:solidFill>
              </a:rPr>
              <a:t>macro definition, </a:t>
            </a:r>
            <a:r>
              <a:rPr lang="en">
                <a:solidFill>
                  <a:srgbClr val="000000"/>
                </a:solidFill>
              </a:rPr>
              <a:t>we can name this constant: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INCHES_PER_POUND 166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program is compiled, the preprocessor replaces each macro by the value that it represents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Names for constants</a:t>
            </a:r>
            <a:endParaRPr i="1" sz="2000"/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During preprocessing, the statement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(volume + INCHES_PER_POUND - 1) / INCHES_PER_POUND;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will become</a:t>
            </a:r>
            <a:br>
              <a:rPr lang="en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weight = (volume + 166 - 1) / 166;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value of a macro can be an expression: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#define RECIPROCAL_OF_PI (1.0f / 3.14159f)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it contains operators, the expression should be enclosed in parentheses and using only uppercase letters in macro names is a common convention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Converting from Fahrenheit to Celsius</a:t>
            </a:r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658200" y="16792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Given a temperature in Fahrenheit, convert it to Celsius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Formula:	C = (F - Freezing Point) x Scale Factor</a:t>
            </a:r>
            <a:b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	   = (F - 32) x (5/9)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Sample program output: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Fahrenheit temperature: 212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Celsius equivalent: 100.0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program will allow temperatures which are not integers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- Analysis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Converting from Fahrenheit to Celsius</a:t>
            </a:r>
            <a:endParaRPr/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658200" y="1679975"/>
            <a:ext cx="7849500" cy="3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Defining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SCALE_FACTOR</a:t>
            </a:r>
            <a:r>
              <a:rPr lang="en">
                <a:solidFill>
                  <a:srgbClr val="000000"/>
                </a:solidFill>
              </a:rPr>
              <a:t> to be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(5.0f/9.0f)</a:t>
            </a:r>
            <a:r>
              <a:rPr lang="en">
                <a:solidFill>
                  <a:srgbClr val="000000"/>
                </a:solidFill>
              </a:rPr>
              <a:t>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(5/9)</a:t>
            </a:r>
            <a:r>
              <a:rPr lang="en">
                <a:solidFill>
                  <a:srgbClr val="000000"/>
                </a:solidFill>
              </a:rPr>
              <a:t> is important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Note the use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%.1f</a:t>
            </a:r>
            <a:r>
              <a:rPr lang="en">
                <a:solidFill>
                  <a:srgbClr val="000000"/>
                </a:solidFill>
              </a:rPr>
              <a:t> to display celsius with just one digit after decimal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658200" y="1694075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Names for variables, functions, macros, and other entities are called </a:t>
            </a:r>
            <a:r>
              <a:rPr b="1" i="1" lang="en">
                <a:solidFill>
                  <a:srgbClr val="000000"/>
                </a:solidFill>
              </a:rPr>
              <a:t>identifiers.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identifier may contain letters, digits, and underscores, but must begin with a letter or underscore: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times10		get_next_char		_done</a:t>
            </a:r>
            <a:b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" sz="1400">
                <a:solidFill>
                  <a:srgbClr val="000000"/>
                </a:solidFill>
              </a:rPr>
              <a:t>It’s usually best to avoid identifiers that begin with an underscore.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Examples of illegal identifiers: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10times	get-next-char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is </a:t>
            </a:r>
            <a:r>
              <a:rPr b="1" i="1" lang="en">
                <a:solidFill>
                  <a:srgbClr val="000000"/>
                </a:solidFill>
              </a:rPr>
              <a:t>case-sensitive:</a:t>
            </a:r>
            <a:r>
              <a:rPr lang="en">
                <a:solidFill>
                  <a:srgbClr val="000000"/>
                </a:solidFill>
              </a:rPr>
              <a:t> it distinguishes between upper-case and lower-case letters in identifiers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the following identifiers are all different: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job  joB  jOb  jOB  Job  JoB  JOb  JOB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000000"/>
                </a:solidFill>
              </a:rPr>
              <a:t>Many programmers use only lower-case letters in identifiers (other than macros), with underscores inserted for legibility: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symbol_table  	current_page  	name_and_address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Other programmers use an upper-case letter to begin each word within an identifier: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symbolTable  	currentPage  		nameAndAddress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places no limit on the maximum length of an identifier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Identifiers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Keywords</a:t>
            </a:r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658200" y="1612650"/>
            <a:ext cx="78495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</a:t>
            </a:r>
            <a:r>
              <a:rPr b="1" i="1" lang="en">
                <a:solidFill>
                  <a:srgbClr val="000000"/>
                </a:solidFill>
              </a:rPr>
              <a:t>keywords</a:t>
            </a:r>
            <a:r>
              <a:rPr lang="en">
                <a:solidFill>
                  <a:srgbClr val="000000"/>
                </a:solidFill>
              </a:rPr>
              <a:t> can’t be used as identifiers: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auto      enum  	restrict*  unsigned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    extern	return 	void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case      float 	short  	volatile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char      for   	signed 	while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const     goto  	sizeof 	_Bool*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  if    	static 	_Complex*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default   inline*   struct 	_Imaginary*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       int   	switch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    long  	typedef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else      register  union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