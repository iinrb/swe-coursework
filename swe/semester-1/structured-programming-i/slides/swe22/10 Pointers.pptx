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/uRvjugdIoQ93LV8NJTVHfToQ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3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4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Pointers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first step in understanding pointers is visualizing what they represent at the machine level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In most modern computers, main memory is divided into </a:t>
            </a:r>
            <a:r>
              <a:rPr b="1" i="1" lang="en">
                <a:solidFill>
                  <a:srgbClr val="000000"/>
                </a:solidFill>
              </a:rPr>
              <a:t>bytes,</a:t>
            </a:r>
            <a:r>
              <a:rPr lang="en">
                <a:solidFill>
                  <a:srgbClr val="000000"/>
                </a:solidFill>
              </a:rPr>
              <a:t> with each byte capable of storing eight bits of information: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Each byte has a unique </a:t>
            </a:r>
            <a:r>
              <a:rPr b="1" i="1" lang="en">
                <a:solidFill>
                  <a:srgbClr val="000000"/>
                </a:solidFill>
              </a:rPr>
              <a:t>address</a:t>
            </a:r>
            <a:endParaRPr b="1"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347" y="3624872"/>
            <a:ext cx="3375025" cy="5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there are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bytes in memory, we can think of addresses as numbers that range from 0 to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– 1: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6650" y="2309050"/>
            <a:ext cx="1573825" cy="27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variable in a program occupies one or more bytes of memory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address of the first byte is said to be the address of the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following figure, the address of the variable </a:t>
            </a:r>
            <a:r>
              <a:rPr b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is </a:t>
            </a:r>
            <a:r>
              <a:rPr i="1" lang="en">
                <a:solidFill>
                  <a:srgbClr val="000000"/>
                </a:solidFill>
              </a:rPr>
              <a:t>2000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075" y="3259400"/>
            <a:ext cx="1883400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Addresses can be stored in special </a:t>
            </a:r>
            <a:r>
              <a:rPr b="1" i="1" lang="en">
                <a:solidFill>
                  <a:srgbClr val="000000"/>
                </a:solidFill>
              </a:rPr>
              <a:t>pointer variables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we store the address of a variable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in the pointer variable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, we say that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 “</a:t>
            </a:r>
            <a:r>
              <a:rPr i="1" lang="en">
                <a:solidFill>
                  <a:srgbClr val="000000"/>
                </a:solidFill>
              </a:rPr>
              <a:t>points to</a:t>
            </a:r>
            <a:r>
              <a:rPr lang="en">
                <a:solidFill>
                  <a:srgbClr val="000000"/>
                </a:solidFill>
              </a:rPr>
              <a:t>”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graphical representation: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525" y="3741750"/>
            <a:ext cx="1802928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type-name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*variable-name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Pointer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 sz="1400">
                <a:solidFill>
                  <a:srgbClr val="000000"/>
                </a:solidFill>
              </a:rPr>
              <a:t> points to </a:t>
            </a:r>
            <a:r>
              <a:rPr i="1" lang="en" sz="1400">
                <a:solidFill>
                  <a:srgbClr val="000000"/>
                </a:solidFill>
              </a:rPr>
              <a:t>objects</a:t>
            </a:r>
            <a:r>
              <a:rPr lang="en" sz="1400">
                <a:solidFill>
                  <a:srgbClr val="000000"/>
                </a:solidFill>
              </a:rPr>
              <a:t> of type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appear in declaration with along with other variables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 , a[10], b[20],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p,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q;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point to </a:t>
            </a:r>
            <a:r>
              <a:rPr i="1" lang="en">
                <a:solidFill>
                  <a:srgbClr val="000000"/>
                </a:solidFill>
              </a:rPr>
              <a:t>objects</a:t>
            </a:r>
            <a:r>
              <a:rPr lang="en">
                <a:solidFill>
                  <a:srgbClr val="000000"/>
                </a:solidFill>
              </a:rPr>
              <a:t> of a particular type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points only to integers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points only to doubles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741B47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r;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points only to characters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new operators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>
                <a:solidFill>
                  <a:srgbClr val="000000"/>
                </a:solidFill>
              </a:rPr>
              <a:t> (Address) -&gt; </a:t>
            </a:r>
            <a:r>
              <a:rPr b="1" i="1" lang="en">
                <a:solidFill>
                  <a:srgbClr val="000000"/>
                </a:solidFill>
              </a:rPr>
              <a:t>Finds</a:t>
            </a:r>
            <a:r>
              <a:rPr lang="en">
                <a:solidFill>
                  <a:srgbClr val="000000"/>
                </a:solidFill>
              </a:rPr>
              <a:t> the address of a variable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 </a:t>
            </a:r>
            <a:r>
              <a:rPr lang="en">
                <a:solidFill>
                  <a:srgbClr val="000000"/>
                </a:solidFill>
              </a:rPr>
              <a:t>(Indirection) -&gt; To </a:t>
            </a:r>
            <a:r>
              <a:rPr b="1" i="1" lang="en">
                <a:solidFill>
                  <a:srgbClr val="000000"/>
                </a:solidFill>
              </a:rPr>
              <a:t>access</a:t>
            </a:r>
            <a:r>
              <a:rPr lang="en">
                <a:solidFill>
                  <a:srgbClr val="000000"/>
                </a:solidFill>
              </a:rPr>
              <a:t> the object a pointer points to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Variables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Declaration sets aside space for a pointer, doesn’t make it point to an </a:t>
            </a:r>
            <a:r>
              <a:rPr i="1" lang="en">
                <a:solidFill>
                  <a:srgbClr val="000000"/>
                </a:solidFill>
              </a:rPr>
              <a:t>object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Crucial</a:t>
            </a:r>
            <a:r>
              <a:rPr lang="en">
                <a:solidFill>
                  <a:srgbClr val="000000"/>
                </a:solidFill>
              </a:rPr>
              <a:t> to initialize before using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initialize a </a:t>
            </a:r>
            <a:r>
              <a:rPr i="1" lang="en">
                <a:solidFill>
                  <a:srgbClr val="000000"/>
                </a:solidFill>
              </a:rPr>
              <a:t>pointer</a:t>
            </a:r>
            <a:r>
              <a:rPr lang="en">
                <a:solidFill>
                  <a:srgbClr val="000000"/>
                </a:solidFill>
              </a:rPr>
              <a:t> variable when declared, also it can be combined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j,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Address Operator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, print the value of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 i="1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combine two operators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</a:t>
            </a:r>
            <a:r>
              <a:rPr lang="en" sz="1400">
                <a:solidFill>
                  <a:srgbClr val="A64D79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same as j=i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*p</a:t>
            </a:r>
            <a:r>
              <a:rPr lang="en">
                <a:solidFill>
                  <a:srgbClr val="000000"/>
                </a:solidFill>
              </a:rPr>
              <a:t> is an </a:t>
            </a:r>
            <a:r>
              <a:rPr i="1" lang="en">
                <a:solidFill>
                  <a:srgbClr val="000000"/>
                </a:solidFill>
              </a:rPr>
              <a:t>alias</a:t>
            </a:r>
            <a:r>
              <a:rPr lang="en">
                <a:solidFill>
                  <a:srgbClr val="000000"/>
                </a:solidFill>
              </a:rPr>
              <a:t> for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 i="1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</a:rPr>
              <a:t>*p</a:t>
            </a:r>
            <a:r>
              <a:rPr lang="en">
                <a:solidFill>
                  <a:srgbClr val="000000"/>
                </a:solidFill>
              </a:rPr>
              <a:t> has the same value as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Changing </a:t>
            </a:r>
            <a:r>
              <a:rPr i="1" lang="en">
                <a:solidFill>
                  <a:srgbClr val="000000"/>
                </a:solidFill>
              </a:rPr>
              <a:t>*p</a:t>
            </a:r>
            <a:r>
              <a:rPr lang="en">
                <a:solidFill>
                  <a:srgbClr val="000000"/>
                </a:solidFill>
              </a:rPr>
              <a:t> changes the value of </a:t>
            </a:r>
            <a:r>
              <a:rPr i="1" lang="en">
                <a:solidFill>
                  <a:srgbClr val="000000"/>
                </a:solidFill>
              </a:rPr>
              <a:t>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Indirection Operator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 = &amp;i;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1;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1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 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1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 = 2;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	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2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"%d\n"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  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2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020" y="1870250"/>
            <a:ext cx="1751850" cy="48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1025" y="2714525"/>
            <a:ext cx="1718343" cy="4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1025" y="3791500"/>
            <a:ext cx="1718343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Applying the indirection operator to an uninitialized pointer variable causes undefined behavior: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*p);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a value to *p is particularly </a:t>
            </a:r>
            <a:r>
              <a:rPr lang="en">
                <a:solidFill>
                  <a:srgbClr val="E06666"/>
                </a:solidFill>
              </a:rPr>
              <a:t>dangerous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*p = 1;   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Address and Indirection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Indirection Operator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allows the use of the assignment operator to copy pointers of same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Assume that the following declaration is in effect: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j, *p, *q;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p =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Another example of pointer assignment: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q now points to the same place as p: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change i using either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*q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1" name="Google Shape;141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Assignment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626" y="3539875"/>
            <a:ext cx="1742300" cy="95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6345" y="2618250"/>
            <a:ext cx="1751850" cy="4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Do not confuse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p</a:t>
            </a:r>
            <a:r>
              <a:rPr lang="en">
                <a:solidFill>
                  <a:srgbClr val="000000"/>
                </a:solidFill>
              </a:rPr>
              <a:t>; (Pointer Assignment) with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*q = *p</a:t>
            </a:r>
            <a:r>
              <a:rPr lang="en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&amp;j;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*q =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Assignment</a:t>
            </a:r>
            <a:endParaRPr/>
          </a:p>
        </p:txBody>
      </p:sp>
      <p:pic>
        <p:nvPicPr>
          <p:cNvPr id="150" name="Google Shape;1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396" y="2321300"/>
            <a:ext cx="1911525" cy="10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6350" y="3718675"/>
            <a:ext cx="1811625" cy="99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 to modify arguments: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 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decompose(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*int_part,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*frac_part){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*int_part = 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x;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*frac_part = x - *int_part;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Possible prototypes: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decompose(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*int_part,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*frac_part);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decompose(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7" name="Google Shape;157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decompose: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decompose(3.14159, &amp;i, &amp;d);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6688" y="1937651"/>
            <a:ext cx="2204025" cy="1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575" y="3372699"/>
            <a:ext cx="2246540" cy="1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5425" y="3372700"/>
            <a:ext cx="2246550" cy="1265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512750" y="14854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Arguments in calls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without &amp;, scanf only gets the value of i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Every argument doesn’t need &amp;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p);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Don’t use</a:t>
            </a:r>
            <a:r>
              <a:rPr lang="en">
                <a:solidFill>
                  <a:srgbClr val="000000"/>
                </a:solidFill>
              </a:rPr>
              <a:t> &amp; with pointers ⇒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&amp;p);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Failing to pass a pointer to a function when one is expected can have </a:t>
            </a:r>
            <a:r>
              <a:rPr lang="en">
                <a:solidFill>
                  <a:srgbClr val="E06666"/>
                </a:solidFill>
              </a:rPr>
              <a:t>disastrous</a:t>
            </a:r>
            <a:r>
              <a:rPr lang="en">
                <a:solidFill>
                  <a:srgbClr val="000000"/>
                </a:solidFill>
              </a:rPr>
              <a:t> results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decompose in which the &amp; operator is missing: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decompose(3.14159, i, d);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decompose stores values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*int_part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*frac_part</a:t>
            </a:r>
            <a:r>
              <a:rPr lang="en">
                <a:solidFill>
                  <a:srgbClr val="000000"/>
                </a:solidFill>
              </a:rPr>
              <a:t>, it will attempt to change unknown memory locations instead of modifying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i="1" lang="en">
                <a:solidFill>
                  <a:srgbClr val="000000"/>
                </a:solidFill>
              </a:rPr>
              <a:t>d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we’ve provided a prototype for decompose, the compiler will detect the </a:t>
            </a:r>
            <a:r>
              <a:rPr lang="en">
                <a:solidFill>
                  <a:srgbClr val="E06666"/>
                </a:solidFill>
              </a:rPr>
              <a:t>error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case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, however, failing to pass pointers may go undetected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</a:rPr>
              <a:t>max_min.c</a:t>
            </a:r>
            <a:r>
              <a:rPr lang="en">
                <a:solidFill>
                  <a:srgbClr val="000000"/>
                </a:solidFill>
              </a:rPr>
              <a:t> program uses a function named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 to find the largest and smallest elements in an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for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max_min(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*max,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*min);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call of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max_min(b, N, &amp;big, &amp;small);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Google Shape;184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Finding the Largest and Smallest Elements in an Array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 finds the largest element in </a:t>
            </a:r>
            <a:r>
              <a:rPr i="1" lang="en">
                <a:solidFill>
                  <a:srgbClr val="000000"/>
                </a:solidFill>
              </a:rPr>
              <a:t>b</a:t>
            </a:r>
            <a:r>
              <a:rPr lang="en">
                <a:solidFill>
                  <a:srgbClr val="000000"/>
                </a:solidFill>
              </a:rPr>
              <a:t>, it stores the value in big by assigning it to </a:t>
            </a:r>
            <a:r>
              <a:rPr i="1" lang="en">
                <a:solidFill>
                  <a:srgbClr val="000000"/>
                </a:solidFill>
              </a:rPr>
              <a:t>*max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max_min</a:t>
            </a:r>
            <a:r>
              <a:rPr lang="en">
                <a:solidFill>
                  <a:srgbClr val="000000"/>
                </a:solidFill>
              </a:rPr>
              <a:t> stores the smallest element of </a:t>
            </a:r>
            <a:r>
              <a:rPr i="1" lang="en">
                <a:solidFill>
                  <a:srgbClr val="000000"/>
                </a:solidFill>
              </a:rPr>
              <a:t>b</a:t>
            </a:r>
            <a:r>
              <a:rPr lang="en">
                <a:solidFill>
                  <a:srgbClr val="000000"/>
                </a:solidFill>
              </a:rPr>
              <a:t> in small by assigning it to </a:t>
            </a:r>
            <a:r>
              <a:rPr i="1" lang="en">
                <a:solidFill>
                  <a:srgbClr val="000000"/>
                </a:solidFill>
              </a:rPr>
              <a:t>*min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max_min.c</a:t>
            </a:r>
            <a:r>
              <a:rPr lang="en">
                <a:solidFill>
                  <a:srgbClr val="000000"/>
                </a:solidFill>
              </a:rPr>
              <a:t> will read 10 numbers into an array, pass it to the max_min function, and print the results: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Enter 10 numbers: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34 82 49 102 7 94 23 11 50 31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Largest: 102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Smallest: 7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" name="Google Shape;19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Finding the Largest and Smallest Elements in an Array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assumption ⇒ Pointers as argument will be modified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not ⇒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Reason for still passing pointer ⇒ Efficiency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Variable might require a large amount of storage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Waste of time</a:t>
            </a:r>
            <a:endParaRPr>
              <a:solidFill>
                <a:srgbClr val="000000"/>
              </a:solidFill>
            </a:endParaRPr>
          </a:p>
          <a:p>
            <a:pPr indent="0" lvl="0" marL="22860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const 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*p){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22860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 = 0;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2860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Compiler can detect such </a:t>
            </a:r>
            <a:r>
              <a:rPr lang="en">
                <a:solidFill>
                  <a:srgbClr val="E06666"/>
                </a:solidFill>
              </a:rPr>
              <a:t>error</a:t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Using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i="1" lang="en" sz="2000"/>
              <a:t> to Protect Arguments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Functions are allowed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pointers: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*max(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*a, 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*b){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(*a &gt; *b)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lang="en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lang="en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the </a:t>
            </a:r>
            <a:r>
              <a:rPr i="1" lang="en">
                <a:solidFill>
                  <a:srgbClr val="000000"/>
                </a:solidFill>
              </a:rPr>
              <a:t>max</a:t>
            </a:r>
            <a:r>
              <a:rPr lang="en">
                <a:solidFill>
                  <a:srgbClr val="000000"/>
                </a:solidFill>
              </a:rPr>
              <a:t> function: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*p, i, j;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max(&amp;i, &amp;j);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After the call,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either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i="1" lang="en">
                <a:solidFill>
                  <a:srgbClr val="000000"/>
                </a:solidFill>
              </a:rPr>
              <a:t>j</a:t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Return Values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could also return a pointer to an external variable or to a static local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E06666"/>
                </a:solidFill>
              </a:rPr>
              <a:t>Never</a:t>
            </a:r>
            <a:r>
              <a:rPr lang="en">
                <a:solidFill>
                  <a:srgbClr val="000000"/>
                </a:solidFill>
              </a:rPr>
              <a:t> return a pointer to an </a:t>
            </a:r>
            <a:r>
              <a:rPr i="1" lang="en">
                <a:solidFill>
                  <a:srgbClr val="000000"/>
                </a:solidFill>
              </a:rPr>
              <a:t>automatic</a:t>
            </a:r>
            <a:r>
              <a:rPr lang="en">
                <a:solidFill>
                  <a:srgbClr val="000000"/>
                </a:solidFill>
              </a:rPr>
              <a:t> local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*f(</a:t>
            </a:r>
            <a:r>
              <a:rPr lang="en" sz="14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&amp;i;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The variable </a:t>
            </a:r>
            <a:r>
              <a:rPr i="1" lang="en">
                <a:solidFill>
                  <a:srgbClr val="000000"/>
                </a:solidFill>
              </a:rPr>
              <a:t>i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E06666"/>
                </a:solidFill>
              </a:rPr>
              <a:t>won’t exist</a:t>
            </a:r>
            <a:r>
              <a:rPr lang="en">
                <a:solidFill>
                  <a:srgbClr val="000000"/>
                </a:solidFill>
              </a:rPr>
              <a:t> after </a:t>
            </a:r>
            <a:r>
              <a:rPr i="1" lang="en">
                <a:solidFill>
                  <a:srgbClr val="000000"/>
                </a:solidFill>
              </a:rPr>
              <a:t>f</a:t>
            </a:r>
            <a:r>
              <a:rPr lang="en">
                <a:solidFill>
                  <a:srgbClr val="000000"/>
                </a:solidFill>
              </a:rPr>
              <a:t> returns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Return Values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that returns a pointer to the middle element of a, assuming that a has </a:t>
            </a:r>
            <a:r>
              <a:rPr i="1" lang="en">
                <a:solidFill>
                  <a:srgbClr val="000000"/>
                </a:solidFill>
              </a:rPr>
              <a:t>n</a:t>
            </a:r>
            <a:r>
              <a:rPr lang="en">
                <a:solidFill>
                  <a:srgbClr val="000000"/>
                </a:solidFill>
              </a:rPr>
              <a:t> elements: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*find_middle(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lang="en" sz="14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&amp;a[n/2];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as Return Values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