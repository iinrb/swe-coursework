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hXDurfXMxCSMGG1+coNrdjPuTk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3"/>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3"/>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3"/>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 name="Google Shape;13;p23"/>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9" name="Google Shape;19;p24"/>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 name="Google Shape;20;p2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5"/>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3" name="Google Shape;23;p2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6"/>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8" name="Google Shape;28;p26"/>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26"/>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2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7"/>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7"/>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7"/>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5" name="Google Shape;35;p2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28"/>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8"/>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8"/>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28"/>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1600"/>
              </a:spcBef>
              <a:spcAft>
                <a:spcPts val="0"/>
              </a:spcAft>
              <a:buClr>
                <a:schemeClr val="lt1"/>
              </a:buClr>
              <a:buSzPts val="1200"/>
              <a:buChar char="○"/>
              <a:defRPr sz="1200">
                <a:solidFill>
                  <a:schemeClr val="lt1"/>
                </a:solidFill>
              </a:defRPr>
            </a:lvl2pPr>
            <a:lvl3pPr indent="-304800" lvl="2" marL="1371600" algn="l">
              <a:lnSpc>
                <a:spcPct val="115000"/>
              </a:lnSpc>
              <a:spcBef>
                <a:spcPts val="1600"/>
              </a:spcBef>
              <a:spcAft>
                <a:spcPts val="0"/>
              </a:spcAft>
              <a:buClr>
                <a:schemeClr val="lt1"/>
              </a:buClr>
              <a:buSzPts val="1200"/>
              <a:buChar char="■"/>
              <a:defRPr sz="1200">
                <a:solidFill>
                  <a:schemeClr val="lt1"/>
                </a:solidFill>
              </a:defRPr>
            </a:lvl3pPr>
            <a:lvl4pPr indent="-304800" lvl="3" marL="1828800" algn="l">
              <a:lnSpc>
                <a:spcPct val="115000"/>
              </a:lnSpc>
              <a:spcBef>
                <a:spcPts val="1600"/>
              </a:spcBef>
              <a:spcAft>
                <a:spcPts val="0"/>
              </a:spcAft>
              <a:buClr>
                <a:schemeClr val="lt1"/>
              </a:buClr>
              <a:buSzPts val="1200"/>
              <a:buChar char="●"/>
              <a:defRPr sz="1200">
                <a:solidFill>
                  <a:schemeClr val="lt1"/>
                </a:solidFill>
              </a:defRPr>
            </a:lvl4pPr>
            <a:lvl5pPr indent="-304800" lvl="4" marL="2286000" algn="l">
              <a:lnSpc>
                <a:spcPct val="115000"/>
              </a:lnSpc>
              <a:spcBef>
                <a:spcPts val="1600"/>
              </a:spcBef>
              <a:spcAft>
                <a:spcPts val="0"/>
              </a:spcAft>
              <a:buClr>
                <a:schemeClr val="lt1"/>
              </a:buClr>
              <a:buSzPts val="1200"/>
              <a:buChar char="○"/>
              <a:defRPr sz="1200">
                <a:solidFill>
                  <a:schemeClr val="lt1"/>
                </a:solidFill>
              </a:defRPr>
            </a:lvl5pPr>
            <a:lvl6pPr indent="-304800" lvl="5" marL="2743200" algn="l">
              <a:lnSpc>
                <a:spcPct val="115000"/>
              </a:lnSpc>
              <a:spcBef>
                <a:spcPts val="1600"/>
              </a:spcBef>
              <a:spcAft>
                <a:spcPts val="0"/>
              </a:spcAft>
              <a:buClr>
                <a:schemeClr val="lt1"/>
              </a:buClr>
              <a:buSzPts val="1200"/>
              <a:buChar char="■"/>
              <a:defRPr sz="1200">
                <a:solidFill>
                  <a:schemeClr val="lt1"/>
                </a:solidFill>
              </a:defRPr>
            </a:lvl6pPr>
            <a:lvl7pPr indent="-304800" lvl="6" marL="3200400" algn="l">
              <a:lnSpc>
                <a:spcPct val="115000"/>
              </a:lnSpc>
              <a:spcBef>
                <a:spcPts val="1600"/>
              </a:spcBef>
              <a:spcAft>
                <a:spcPts val="0"/>
              </a:spcAft>
              <a:buClr>
                <a:schemeClr val="lt1"/>
              </a:buClr>
              <a:buSzPts val="1200"/>
              <a:buChar char="●"/>
              <a:defRPr sz="1200">
                <a:solidFill>
                  <a:schemeClr val="lt1"/>
                </a:solidFill>
              </a:defRPr>
            </a:lvl7pPr>
            <a:lvl8pPr indent="-304800" lvl="7" marL="3657600" algn="l">
              <a:lnSpc>
                <a:spcPct val="115000"/>
              </a:lnSpc>
              <a:spcBef>
                <a:spcPts val="1600"/>
              </a:spcBef>
              <a:spcAft>
                <a:spcPts val="0"/>
              </a:spcAft>
              <a:buClr>
                <a:schemeClr val="lt1"/>
              </a:buClr>
              <a:buSzPts val="1200"/>
              <a:buChar char="○"/>
              <a:defRPr sz="1200">
                <a:solidFill>
                  <a:schemeClr val="lt1"/>
                </a:solidFill>
              </a:defRPr>
            </a:lvl8pPr>
            <a:lvl9pPr indent="-304800" lvl="8" marL="4114800" algn="l">
              <a:lnSpc>
                <a:spcPct val="115000"/>
              </a:lnSpc>
              <a:spcBef>
                <a:spcPts val="1600"/>
              </a:spcBef>
              <a:spcAft>
                <a:spcPts val="1600"/>
              </a:spcAft>
              <a:buClr>
                <a:schemeClr val="lt1"/>
              </a:buClr>
              <a:buSzPts val="1200"/>
              <a:buChar char="■"/>
              <a:defRPr sz="1200">
                <a:solidFill>
                  <a:schemeClr val="lt1"/>
                </a:solidFill>
              </a:defRPr>
            </a:lvl9pPr>
          </a:lstStyle>
          <a:p/>
        </p:txBody>
      </p:sp>
      <p:sp>
        <p:nvSpPr>
          <p:cNvPr id="41" name="Google Shape;41;p2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29"/>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44" name="Google Shape;44;p2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30"/>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0"/>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49" name="Google Shape;49;p30"/>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3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51" name="Google Shape;51;p3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31"/>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1"/>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3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32"/>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59" name="Google Shape;59;p32"/>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0" name="Google Shape;60;p3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3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22"/>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Roboto"/>
              <a:buChar char="●"/>
              <a:defRPr b="0" i="0" sz="1800" u="none" cap="none" strike="noStrike">
                <a:solidFill>
                  <a:schemeClr val="lt2"/>
                </a:solidFill>
                <a:latin typeface="Roboto"/>
                <a:ea typeface="Roboto"/>
                <a:cs typeface="Roboto"/>
                <a:sym typeface="Roboto"/>
              </a:defRPr>
            </a:lvl1pPr>
            <a:lvl2pPr indent="-317500" lvl="1" marL="914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lt2"/>
              </a:buClr>
              <a:buSzPts val="1400"/>
              <a:buFont typeface="Roboto"/>
              <a:buChar char="■"/>
              <a:defRPr b="0" i="0" sz="1400" u="none" cap="none" strike="noStrike">
                <a:solidFill>
                  <a:schemeClr val="lt2"/>
                </a:solidFill>
                <a:latin typeface="Roboto"/>
                <a:ea typeface="Roboto"/>
                <a:cs typeface="Roboto"/>
                <a:sym typeface="Roboto"/>
              </a:defRPr>
            </a:lvl9pPr>
          </a:lstStyle>
          <a:p/>
        </p:txBody>
      </p:sp>
      <p:sp>
        <p:nvSpPr>
          <p:cNvPr id="8" name="Google Shape;8;p2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a:t>Lesson: Formatted I/O</a:t>
            </a:r>
            <a:endParaRPr/>
          </a:p>
        </p:txBody>
      </p:sp>
      <p:sp>
        <p:nvSpPr>
          <p:cNvPr id="68" name="Google Shape;68;p1"/>
          <p:cNvSpPr txBox="1"/>
          <p:nvPr>
            <p:ph idx="1" type="subTitle"/>
          </p:nvPr>
        </p:nvSpPr>
        <p:spPr>
          <a:xfrm>
            <a:off x="390525" y="2789124"/>
            <a:ext cx="8222100" cy="748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a:t>CSE 4107 : Structured Programming I </a:t>
            </a:r>
            <a:endParaRPr/>
          </a:p>
          <a:p>
            <a:pPr indent="0" lvl="0" marL="0" rtl="0" algn="l">
              <a:lnSpc>
                <a:spcPct val="150000"/>
              </a:lnSpc>
              <a:spcBef>
                <a:spcPts val="0"/>
              </a:spcBef>
              <a:spcAft>
                <a:spcPts val="0"/>
              </a:spcAft>
              <a:buSzPts val="1800"/>
              <a:buNone/>
            </a:pPr>
            <a:r>
              <a:rPr lang="en"/>
              <a:t>Shahriar Ivan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74" name="Google Shape;74;p2"/>
          <p:cNvSpPr txBox="1"/>
          <p:nvPr>
            <p:ph idx="1" type="body"/>
          </p:nvPr>
        </p:nvSpPr>
        <p:spPr>
          <a:xfrm>
            <a:off x="471900" y="1711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printf </a:t>
            </a:r>
            <a:r>
              <a:rPr lang="en">
                <a:solidFill>
                  <a:srgbClr val="000000"/>
                </a:solidFill>
              </a:rPr>
              <a:t>function must be supplied with a </a:t>
            </a:r>
            <a:r>
              <a:rPr b="1" i="1" lang="en">
                <a:solidFill>
                  <a:srgbClr val="000000"/>
                </a:solidFill>
              </a:rPr>
              <a:t>format string, </a:t>
            </a:r>
            <a:r>
              <a:rPr lang="en">
                <a:solidFill>
                  <a:srgbClr val="000000"/>
                </a:solidFill>
              </a:rPr>
              <a:t>followed by any values that are to be inserted into the string during printing:</a:t>
            </a:r>
            <a:br>
              <a:rPr lang="en">
                <a:solidFill>
                  <a:srgbClr val="000000"/>
                </a:solidFill>
              </a:rPr>
            </a:br>
            <a:r>
              <a:rPr lang="en">
                <a:solidFill>
                  <a:srgbClr val="000000"/>
                </a:solidFill>
                <a:latin typeface="Verdana"/>
                <a:ea typeface="Verdana"/>
                <a:cs typeface="Verdana"/>
                <a:sym typeface="Verdana"/>
              </a:rPr>
              <a:t>printf(</a:t>
            </a:r>
            <a:r>
              <a:rPr i="1" lang="en">
                <a:solidFill>
                  <a:srgbClr val="000000"/>
                </a:solidFill>
                <a:latin typeface="Verdana"/>
                <a:ea typeface="Verdana"/>
                <a:cs typeface="Verdana"/>
                <a:sym typeface="Verdana"/>
              </a:rPr>
              <a:t>string</a:t>
            </a:r>
            <a:r>
              <a:rPr lang="en">
                <a:solidFill>
                  <a:srgbClr val="000000"/>
                </a:solidFill>
                <a:latin typeface="Verdana"/>
                <a:ea typeface="Verdana"/>
                <a:cs typeface="Verdana"/>
                <a:sym typeface="Verdana"/>
              </a:rPr>
              <a:t>, </a:t>
            </a:r>
            <a:r>
              <a:rPr i="1" lang="en">
                <a:solidFill>
                  <a:srgbClr val="000000"/>
                </a:solidFill>
                <a:latin typeface="Verdana"/>
                <a:ea typeface="Verdana"/>
                <a:cs typeface="Verdana"/>
                <a:sym typeface="Verdana"/>
              </a:rPr>
              <a:t>expr</a:t>
            </a:r>
            <a:r>
              <a:rPr lang="en">
                <a:solidFill>
                  <a:srgbClr val="000000"/>
                </a:solidFill>
                <a:latin typeface="Verdana"/>
                <a:ea typeface="Verdana"/>
                <a:cs typeface="Verdana"/>
                <a:sym typeface="Verdana"/>
              </a:rPr>
              <a:t>1, </a:t>
            </a:r>
            <a:r>
              <a:rPr i="1" lang="en">
                <a:solidFill>
                  <a:srgbClr val="000000"/>
                </a:solidFill>
                <a:latin typeface="Verdana"/>
                <a:ea typeface="Verdana"/>
                <a:cs typeface="Verdana"/>
                <a:sym typeface="Verdana"/>
              </a:rPr>
              <a:t>expr</a:t>
            </a:r>
            <a:r>
              <a:rPr lang="en">
                <a:solidFill>
                  <a:srgbClr val="000000"/>
                </a:solidFill>
                <a:latin typeface="Verdana"/>
                <a:ea typeface="Verdana"/>
                <a:cs typeface="Verdana"/>
                <a:sym typeface="Verdana"/>
              </a:rPr>
              <a:t>2, …);</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The format string may contain both ordinary characters and </a:t>
            </a:r>
            <a:r>
              <a:rPr b="1" i="1" lang="en">
                <a:solidFill>
                  <a:srgbClr val="000000"/>
                </a:solidFill>
              </a:rPr>
              <a:t>conversion specifications, </a:t>
            </a:r>
            <a:r>
              <a:rPr lang="en">
                <a:solidFill>
                  <a:srgbClr val="000000"/>
                </a:solidFill>
              </a:rPr>
              <a:t>which begin with the </a:t>
            </a:r>
            <a:r>
              <a:rPr lang="en">
                <a:solidFill>
                  <a:srgbClr val="000000"/>
                </a:solidFill>
                <a:latin typeface="Verdana"/>
                <a:ea typeface="Verdana"/>
                <a:cs typeface="Verdana"/>
                <a:sym typeface="Verdana"/>
              </a:rPr>
              <a:t>%</a:t>
            </a:r>
            <a:r>
              <a:rPr lang="en">
                <a:solidFill>
                  <a:srgbClr val="000000"/>
                </a:solidFill>
              </a:rPr>
              <a:t> character</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 conversion specification (</a:t>
            </a:r>
            <a:r>
              <a:rPr b="1" i="1" lang="en">
                <a:solidFill>
                  <a:srgbClr val="000000"/>
                </a:solidFill>
              </a:rPr>
              <a:t>Format specifier</a:t>
            </a:r>
            <a:r>
              <a:rPr lang="en">
                <a:solidFill>
                  <a:srgbClr val="000000"/>
                </a:solidFill>
              </a:rPr>
              <a:t>) is a placeholder representing a value to be filled in during printing.</a:t>
            </a:r>
            <a:br>
              <a:rPr lang="en">
                <a:solidFill>
                  <a:srgbClr val="000000"/>
                </a:solidFill>
              </a:rPr>
            </a:br>
            <a:r>
              <a:rPr lang="en">
                <a:solidFill>
                  <a:srgbClr val="000000"/>
                </a:solidFill>
              </a:rPr>
              <a:t>–	</a:t>
            </a:r>
            <a:r>
              <a:rPr lang="en">
                <a:solidFill>
                  <a:srgbClr val="000000"/>
                </a:solidFill>
                <a:latin typeface="Verdana"/>
                <a:ea typeface="Verdana"/>
                <a:cs typeface="Verdana"/>
                <a:sym typeface="Verdana"/>
              </a:rPr>
              <a:t>%d</a:t>
            </a:r>
            <a:r>
              <a:rPr lang="en">
                <a:solidFill>
                  <a:srgbClr val="000000"/>
                </a:solidFill>
              </a:rPr>
              <a:t> is used for int values		–	</a:t>
            </a:r>
            <a:r>
              <a:rPr lang="en">
                <a:solidFill>
                  <a:srgbClr val="000000"/>
                </a:solidFill>
                <a:latin typeface="Verdana"/>
                <a:ea typeface="Verdana"/>
                <a:cs typeface="Verdana"/>
                <a:sym typeface="Verdana"/>
              </a:rPr>
              <a:t>%f</a:t>
            </a:r>
            <a:r>
              <a:rPr lang="en">
                <a:solidFill>
                  <a:srgbClr val="000000"/>
                </a:solidFill>
              </a:rPr>
              <a:t> is used for float values</a:t>
            </a:r>
            <a:endParaRPr>
              <a:solidFill>
                <a:srgbClr val="000000"/>
              </a:solidFill>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80" name="Google Shape;80;p3"/>
          <p:cNvSpPr txBox="1"/>
          <p:nvPr>
            <p:ph idx="1" type="body"/>
          </p:nvPr>
        </p:nvSpPr>
        <p:spPr>
          <a:xfrm>
            <a:off x="471900" y="1926475"/>
            <a:ext cx="5500500" cy="2810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u="sng">
                <a:solidFill>
                  <a:srgbClr val="000000"/>
                </a:solidFill>
              </a:rPr>
              <a:t>Use of </a:t>
            </a:r>
            <a:r>
              <a:rPr lang="en" u="sng">
                <a:solidFill>
                  <a:srgbClr val="000000"/>
                </a:solidFill>
                <a:latin typeface="Verdana"/>
                <a:ea typeface="Verdana"/>
                <a:cs typeface="Verdana"/>
                <a:sym typeface="Verdana"/>
              </a:rPr>
              <a:t>printf</a:t>
            </a:r>
            <a:r>
              <a:rPr lang="en" u="sng">
                <a:solidFill>
                  <a:srgbClr val="000000"/>
                </a:solidFill>
              </a:rPr>
              <a:t>:</a:t>
            </a:r>
            <a:br>
              <a:rPr lang="en" u="sng">
                <a:solidFill>
                  <a:srgbClr val="000000"/>
                </a:solidFill>
              </a:rPr>
            </a:br>
            <a:r>
              <a:rPr lang="en" sz="1400">
                <a:solidFill>
                  <a:schemeClr val="dk1"/>
                </a:solidFill>
                <a:latin typeface="Verdana"/>
                <a:ea typeface="Verdana"/>
                <a:cs typeface="Verdana"/>
                <a:sym typeface="Verdana"/>
              </a:rPr>
              <a:t>int </a:t>
            </a:r>
            <a:r>
              <a:rPr lang="en" sz="1400">
                <a:solidFill>
                  <a:srgbClr val="000000"/>
                </a:solidFill>
                <a:latin typeface="Verdana"/>
                <a:ea typeface="Verdana"/>
                <a:cs typeface="Verdana"/>
                <a:sym typeface="Verdana"/>
              </a:rPr>
              <a:t>i, j;</a:t>
            </a:r>
            <a:br>
              <a:rPr lang="en" sz="1400">
                <a:solidFill>
                  <a:srgbClr val="000000"/>
                </a:solidFill>
                <a:latin typeface="Verdana"/>
                <a:ea typeface="Verdana"/>
                <a:cs typeface="Verdana"/>
                <a:sym typeface="Verdana"/>
              </a:rPr>
            </a:br>
            <a:r>
              <a:rPr lang="en" sz="1400">
                <a:solidFill>
                  <a:schemeClr val="dk1"/>
                </a:solidFill>
                <a:latin typeface="Verdana"/>
                <a:ea typeface="Verdana"/>
                <a:cs typeface="Verdana"/>
                <a:sym typeface="Verdana"/>
              </a:rPr>
              <a:t>float </a:t>
            </a:r>
            <a:r>
              <a:rPr lang="en" sz="1400">
                <a:solidFill>
                  <a:srgbClr val="000000"/>
                </a:solidFill>
                <a:latin typeface="Verdana"/>
                <a:ea typeface="Verdana"/>
                <a:cs typeface="Verdana"/>
                <a:sym typeface="Verdana"/>
              </a:rPr>
              <a:t>x, y;</a:t>
            </a:r>
            <a:endParaRPr sz="1400">
              <a:solidFill>
                <a:srgbClr val="000000"/>
              </a:solidFill>
              <a:latin typeface="Verdana"/>
              <a:ea typeface="Verdana"/>
              <a:cs typeface="Verdana"/>
              <a:sym typeface="Verdana"/>
            </a:endParaRPr>
          </a:p>
          <a:p>
            <a:pPr indent="0" lvl="0" marL="0" rtl="0" algn="l">
              <a:lnSpc>
                <a:spcPct val="40000"/>
              </a:lnSpc>
              <a:spcBef>
                <a:spcPts val="1600"/>
              </a:spcBef>
              <a:spcAft>
                <a:spcPts val="0"/>
              </a:spcAft>
              <a:buSzPts val="1800"/>
              <a:buNone/>
            </a:pPr>
            <a:r>
              <a:rPr lang="en" sz="1400">
                <a:solidFill>
                  <a:srgbClr val="000000"/>
                </a:solidFill>
                <a:latin typeface="Verdana"/>
                <a:ea typeface="Verdana"/>
                <a:cs typeface="Verdana"/>
                <a:sym typeface="Verdana"/>
              </a:rPr>
              <a:t>i = 10;</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j = 20;</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x = 43.2892f;</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y = 5527.0f;</a:t>
            </a:r>
            <a:endParaRPr sz="1400">
              <a:solidFill>
                <a:srgbClr val="000000"/>
              </a:solidFill>
              <a:latin typeface="Verdana"/>
              <a:ea typeface="Verdana"/>
              <a:cs typeface="Verdana"/>
              <a:sym typeface="Verdana"/>
            </a:endParaRPr>
          </a:p>
          <a:p>
            <a:pPr indent="0" lvl="0" marL="0" rtl="0" algn="l">
              <a:lnSpc>
                <a:spcPct val="40000"/>
              </a:lnSpc>
              <a:spcBef>
                <a:spcPts val="600"/>
              </a:spcBef>
              <a:spcAft>
                <a:spcPts val="0"/>
              </a:spcAft>
              <a:buSzPts val="1800"/>
              <a:buNone/>
            </a:pPr>
            <a:r>
              <a:rPr lang="en" sz="1400">
                <a:solidFill>
                  <a:srgbClr val="000000"/>
                </a:solidFill>
                <a:latin typeface="Verdana"/>
                <a:ea typeface="Verdana"/>
                <a:cs typeface="Verdana"/>
                <a:sym typeface="Verdana"/>
              </a:rPr>
              <a:t>printf("i = %d, j = %d, x = %f, y = %f\n", i, j, x, y);</a:t>
            </a:r>
            <a:endParaRPr sz="1400">
              <a:solidFill>
                <a:srgbClr val="000000"/>
              </a:solidFill>
              <a:latin typeface="Verdana"/>
              <a:ea typeface="Verdana"/>
              <a:cs typeface="Verdana"/>
              <a:sym typeface="Verdana"/>
            </a:endParaRPr>
          </a:p>
          <a:p>
            <a:pPr indent="0" lvl="0" marL="0" rtl="0" algn="l">
              <a:lnSpc>
                <a:spcPct val="100000"/>
              </a:lnSpc>
              <a:spcBef>
                <a:spcPts val="0"/>
              </a:spcBef>
              <a:spcAft>
                <a:spcPts val="1600"/>
              </a:spcAft>
              <a:buSzPts val="1800"/>
              <a:buNone/>
            </a:pPr>
            <a:r>
              <a:t/>
            </a:r>
            <a:endParaRPr>
              <a:solidFill>
                <a:schemeClr val="dk1"/>
              </a:solidFill>
              <a:latin typeface="Verdana"/>
              <a:ea typeface="Verdana"/>
              <a:cs typeface="Verdana"/>
              <a:sym typeface="Verdana"/>
            </a:endParaRPr>
          </a:p>
        </p:txBody>
      </p:sp>
      <p:sp>
        <p:nvSpPr>
          <p:cNvPr id="81" name="Google Shape;81;p3"/>
          <p:cNvSpPr txBox="1"/>
          <p:nvPr>
            <p:ph idx="1" type="body"/>
          </p:nvPr>
        </p:nvSpPr>
        <p:spPr>
          <a:xfrm>
            <a:off x="5238800" y="2071450"/>
            <a:ext cx="38610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Ordinary characters in a format string are printed as they appear in the string; conversion specifications are replaced</a:t>
            </a:r>
            <a:endParaRPr>
              <a:solidFill>
                <a:srgbClr val="000000"/>
              </a:solidFill>
            </a:endParaRPr>
          </a:p>
        </p:txBody>
      </p:sp>
      <p:sp>
        <p:nvSpPr>
          <p:cNvPr id="82" name="Google Shape;82;p3"/>
          <p:cNvSpPr txBox="1"/>
          <p:nvPr>
            <p:ph idx="1" type="body"/>
          </p:nvPr>
        </p:nvSpPr>
        <p:spPr>
          <a:xfrm>
            <a:off x="471900" y="4680900"/>
            <a:ext cx="7839000" cy="462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600"/>
              </a:spcAft>
              <a:buSzPts val="1800"/>
              <a:buNone/>
            </a:pPr>
            <a:r>
              <a:rPr lang="en">
                <a:solidFill>
                  <a:srgbClr val="000000"/>
                </a:solidFill>
                <a:latin typeface="Verdana"/>
                <a:ea typeface="Verdana"/>
                <a:cs typeface="Verdana"/>
                <a:sym typeface="Verdana"/>
              </a:rPr>
              <a:t>Output</a:t>
            </a:r>
            <a:r>
              <a:rPr lang="en">
                <a:solidFill>
                  <a:srgbClr val="000000"/>
                </a:solidFill>
              </a:rPr>
              <a:t>: </a:t>
            </a:r>
            <a:r>
              <a:rPr lang="en" sz="1400">
                <a:solidFill>
                  <a:srgbClr val="000000"/>
                </a:solidFill>
                <a:latin typeface="Verdana"/>
                <a:ea typeface="Verdana"/>
                <a:cs typeface="Verdana"/>
                <a:sym typeface="Verdana"/>
              </a:rPr>
              <a:t>i = 10, j = 20, x = 43.289200, y = 5527.000000</a:t>
            </a:r>
            <a:endParaRPr sz="1400">
              <a:solidFill>
                <a:srgbClr val="00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88" name="Google Shape;88;p4"/>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Compilers aren’t required to check that the number of conversion specifications in a format string matches the number of output items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Too many conversion specifications:</a:t>
            </a:r>
            <a:endParaRPr>
              <a:solidFill>
                <a:srgbClr val="000000"/>
              </a:solidFill>
            </a:endParaRPr>
          </a:p>
          <a:p>
            <a:pPr indent="0" lvl="0" marL="457200" rtl="0" algn="l">
              <a:lnSpc>
                <a:spcPct val="150000"/>
              </a:lnSpc>
              <a:spcBef>
                <a:spcPts val="1200"/>
              </a:spcBef>
              <a:spcAft>
                <a:spcPts val="0"/>
              </a:spcAft>
              <a:buSzPts val="1800"/>
              <a:buNone/>
            </a:pPr>
            <a:r>
              <a:rPr lang="en" sz="1400">
                <a:solidFill>
                  <a:srgbClr val="000000"/>
                </a:solidFill>
                <a:latin typeface="Verdana"/>
                <a:ea typeface="Verdana"/>
                <a:cs typeface="Verdana"/>
                <a:sym typeface="Verdana"/>
              </a:rPr>
              <a:t>printf("%d %d\n", i);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342900" lvl="0" marL="457200" rtl="0" algn="l">
              <a:lnSpc>
                <a:spcPct val="150000"/>
              </a:lnSpc>
              <a:spcBef>
                <a:spcPts val="700"/>
              </a:spcBef>
              <a:spcAft>
                <a:spcPts val="0"/>
              </a:spcAft>
              <a:buClr>
                <a:srgbClr val="000000"/>
              </a:buClr>
              <a:buSzPts val="1800"/>
              <a:buChar char="●"/>
            </a:pPr>
            <a:r>
              <a:rPr lang="en">
                <a:solidFill>
                  <a:srgbClr val="000000"/>
                </a:solidFill>
              </a:rPr>
              <a:t>Too few conversion specifications:</a:t>
            </a:r>
            <a:endParaRPr>
              <a:solidFill>
                <a:srgbClr val="000000"/>
              </a:solidFill>
            </a:endParaRPr>
          </a:p>
          <a:p>
            <a:pPr indent="0" lvl="0" marL="457200" rtl="0" algn="l">
              <a:lnSpc>
                <a:spcPct val="150000"/>
              </a:lnSpc>
              <a:spcBef>
                <a:spcPts val="1200"/>
              </a:spcBef>
              <a:spcAft>
                <a:spcPts val="0"/>
              </a:spcAft>
              <a:buSzPts val="1800"/>
              <a:buNone/>
            </a:pPr>
            <a:r>
              <a:rPr lang="en" sz="1400">
                <a:solidFill>
                  <a:srgbClr val="000000"/>
                </a:solidFill>
                <a:latin typeface="Verdana"/>
                <a:ea typeface="Verdana"/>
                <a:cs typeface="Verdana"/>
                <a:sym typeface="Verdana"/>
              </a:rPr>
              <a:t>printf("%d\n", i, j);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a:p>
            <a:pPr indent="0" lvl="0" marL="0" rtl="0" algn="l">
              <a:lnSpc>
                <a:spcPct val="100000"/>
              </a:lnSpc>
              <a:spcBef>
                <a:spcPts val="0"/>
              </a:spcBef>
              <a:spcAft>
                <a:spcPts val="0"/>
              </a:spcAft>
              <a:buSzPts val="3200"/>
              <a:buNone/>
            </a:pPr>
            <a:r>
              <a:t/>
            </a:r>
            <a:endParaRPr/>
          </a:p>
        </p:txBody>
      </p:sp>
      <p:sp>
        <p:nvSpPr>
          <p:cNvPr id="94" name="Google Shape;94;p5"/>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Compilers aren’t required to check that a conversion specification is appropriate</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If the programmer uses an incorrect specification, the program will produce meaningless output:</a:t>
            </a:r>
            <a:br>
              <a:rPr lang="en">
                <a:solidFill>
                  <a:srgbClr val="000000"/>
                </a:solidFill>
              </a:rPr>
            </a:br>
            <a:r>
              <a:rPr lang="en" sz="1400">
                <a:solidFill>
                  <a:srgbClr val="000000"/>
                </a:solidFill>
                <a:latin typeface="Verdana"/>
                <a:ea typeface="Verdana"/>
                <a:cs typeface="Verdana"/>
                <a:sym typeface="Verdana"/>
              </a:rPr>
              <a:t>printf("%f %d\n", i, x);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00" name="Google Shape;100;p6"/>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A conversion specification can have the form </a:t>
            </a:r>
            <a:r>
              <a:rPr b="1" lang="en">
                <a:solidFill>
                  <a:srgbClr val="000000"/>
                </a:solidFill>
              </a:rPr>
              <a:t>%</a:t>
            </a:r>
            <a:r>
              <a:rPr b="1" i="1" lang="en">
                <a:solidFill>
                  <a:srgbClr val="000000"/>
                </a:solidFill>
              </a:rPr>
              <a:t>m</a:t>
            </a:r>
            <a:r>
              <a:rPr b="1" lang="en">
                <a:solidFill>
                  <a:srgbClr val="000000"/>
                </a:solidFill>
              </a:rPr>
              <a:t>.</a:t>
            </a:r>
            <a:r>
              <a:rPr b="1" i="1" lang="en">
                <a:solidFill>
                  <a:srgbClr val="000000"/>
                </a:solidFill>
              </a:rPr>
              <a:t>pX</a:t>
            </a:r>
            <a:r>
              <a:rPr lang="en">
                <a:solidFill>
                  <a:srgbClr val="000000"/>
                </a:solidFill>
              </a:rPr>
              <a:t> or </a:t>
            </a:r>
            <a:r>
              <a:rPr b="1" lang="en">
                <a:solidFill>
                  <a:srgbClr val="000000"/>
                </a:solidFill>
              </a:rPr>
              <a:t>%-</a:t>
            </a:r>
            <a:r>
              <a:rPr b="1" i="1" lang="en">
                <a:solidFill>
                  <a:srgbClr val="000000"/>
                </a:solidFill>
              </a:rPr>
              <a:t>m</a:t>
            </a:r>
            <a:r>
              <a:rPr b="1" lang="en">
                <a:solidFill>
                  <a:srgbClr val="000000"/>
                </a:solidFill>
              </a:rPr>
              <a:t>.</a:t>
            </a:r>
            <a:r>
              <a:rPr b="1" i="1" lang="en">
                <a:solidFill>
                  <a:srgbClr val="000000"/>
                </a:solidFill>
              </a:rPr>
              <a:t>pX</a:t>
            </a:r>
            <a:r>
              <a:rPr lang="en">
                <a:solidFill>
                  <a:srgbClr val="000000"/>
                </a:solidFill>
              </a:rPr>
              <a:t>, where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are integer constants and </a:t>
            </a:r>
            <a:r>
              <a:rPr b="1" i="1" lang="en">
                <a:solidFill>
                  <a:srgbClr val="000000"/>
                </a:solidFill>
              </a:rPr>
              <a:t>X</a:t>
            </a:r>
            <a:r>
              <a:rPr b="1" lang="en">
                <a:solidFill>
                  <a:srgbClr val="000000"/>
                </a:solidFill>
              </a:rPr>
              <a:t> </a:t>
            </a:r>
            <a:r>
              <a:rPr lang="en">
                <a:solidFill>
                  <a:srgbClr val="000000"/>
                </a:solidFill>
              </a:rPr>
              <a:t>is a letter</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Both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are optional; if </a:t>
            </a:r>
            <a:r>
              <a:rPr b="1" i="1" lang="en">
                <a:solidFill>
                  <a:srgbClr val="000000"/>
                </a:solidFill>
              </a:rPr>
              <a:t>p</a:t>
            </a:r>
            <a:r>
              <a:rPr b="1" lang="en">
                <a:solidFill>
                  <a:srgbClr val="000000"/>
                </a:solidFill>
              </a:rPr>
              <a:t> </a:t>
            </a:r>
            <a:r>
              <a:rPr lang="en">
                <a:solidFill>
                  <a:srgbClr val="000000"/>
                </a:solidFill>
              </a:rPr>
              <a:t>is omitted, the period that separates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is also dropped</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In the conversion specification </a:t>
            </a:r>
            <a:r>
              <a:rPr b="1" lang="en">
                <a:solidFill>
                  <a:srgbClr val="000000"/>
                </a:solidFill>
              </a:rPr>
              <a:t>%10.2f</a:t>
            </a:r>
            <a:r>
              <a:rPr lang="en">
                <a:solidFill>
                  <a:srgbClr val="000000"/>
                </a:solidFill>
              </a:rPr>
              <a:t>, </a:t>
            </a:r>
            <a:r>
              <a:rPr b="1" i="1" lang="en">
                <a:solidFill>
                  <a:srgbClr val="000000"/>
                </a:solidFill>
              </a:rPr>
              <a:t>m</a:t>
            </a:r>
            <a:r>
              <a:rPr lang="en">
                <a:solidFill>
                  <a:srgbClr val="000000"/>
                </a:solidFill>
              </a:rPr>
              <a:t> is </a:t>
            </a:r>
            <a:r>
              <a:rPr b="1" lang="en">
                <a:solidFill>
                  <a:srgbClr val="000000"/>
                </a:solidFill>
              </a:rPr>
              <a:t>10</a:t>
            </a:r>
            <a:r>
              <a:rPr lang="en">
                <a:solidFill>
                  <a:srgbClr val="000000"/>
                </a:solidFill>
              </a:rPr>
              <a:t>, </a:t>
            </a:r>
            <a:r>
              <a:rPr b="1" i="1" lang="en">
                <a:solidFill>
                  <a:srgbClr val="000000"/>
                </a:solidFill>
              </a:rPr>
              <a:t>p</a:t>
            </a:r>
            <a:r>
              <a:rPr lang="en">
                <a:solidFill>
                  <a:srgbClr val="000000"/>
                </a:solidFill>
              </a:rPr>
              <a:t> is </a:t>
            </a:r>
            <a:r>
              <a:rPr b="1" lang="en">
                <a:solidFill>
                  <a:srgbClr val="000000"/>
                </a:solidFill>
              </a:rPr>
              <a:t>2</a:t>
            </a:r>
            <a:r>
              <a:rPr lang="en">
                <a:solidFill>
                  <a:srgbClr val="000000"/>
                </a:solidFill>
              </a:rPr>
              <a:t>, and </a:t>
            </a:r>
            <a:r>
              <a:rPr b="1" i="1" lang="en">
                <a:solidFill>
                  <a:srgbClr val="000000"/>
                </a:solidFill>
              </a:rPr>
              <a:t>X</a:t>
            </a:r>
            <a:r>
              <a:rPr lang="en">
                <a:solidFill>
                  <a:srgbClr val="000000"/>
                </a:solidFill>
              </a:rPr>
              <a:t> is </a:t>
            </a:r>
            <a:r>
              <a:rPr b="1" lang="en">
                <a:solidFill>
                  <a:srgbClr val="000000"/>
                </a:solidFill>
              </a:rPr>
              <a:t>f</a:t>
            </a:r>
            <a:endParaRPr b="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In the specification </a:t>
            </a:r>
            <a:r>
              <a:rPr b="1" lang="en">
                <a:solidFill>
                  <a:srgbClr val="000000"/>
                </a:solidFill>
              </a:rPr>
              <a:t>%10f</a:t>
            </a:r>
            <a:r>
              <a:rPr lang="en">
                <a:solidFill>
                  <a:srgbClr val="000000"/>
                </a:solidFill>
              </a:rPr>
              <a:t>, </a:t>
            </a:r>
            <a:r>
              <a:rPr b="1" i="1" lang="en">
                <a:solidFill>
                  <a:srgbClr val="000000"/>
                </a:solidFill>
              </a:rPr>
              <a:t>m</a:t>
            </a:r>
            <a:r>
              <a:rPr lang="en">
                <a:solidFill>
                  <a:srgbClr val="000000"/>
                </a:solidFill>
              </a:rPr>
              <a:t> is </a:t>
            </a:r>
            <a:r>
              <a:rPr b="1" lang="en">
                <a:solidFill>
                  <a:srgbClr val="000000"/>
                </a:solidFill>
              </a:rPr>
              <a:t>10</a:t>
            </a:r>
            <a:r>
              <a:rPr lang="en">
                <a:solidFill>
                  <a:srgbClr val="000000"/>
                </a:solidFill>
              </a:rPr>
              <a:t> and </a:t>
            </a:r>
            <a:r>
              <a:rPr b="1" i="1" lang="en">
                <a:solidFill>
                  <a:srgbClr val="000000"/>
                </a:solidFill>
              </a:rPr>
              <a:t>p</a:t>
            </a:r>
            <a:r>
              <a:rPr lang="en">
                <a:solidFill>
                  <a:srgbClr val="000000"/>
                </a:solidFill>
              </a:rPr>
              <a:t> (along with the period) is missing, but in the specification </a:t>
            </a:r>
            <a:r>
              <a:rPr b="1" lang="en">
                <a:solidFill>
                  <a:srgbClr val="000000"/>
                </a:solidFill>
              </a:rPr>
              <a:t>%.2f</a:t>
            </a:r>
            <a:r>
              <a:rPr lang="en">
                <a:solidFill>
                  <a:srgbClr val="000000"/>
                </a:solidFill>
              </a:rPr>
              <a:t>, </a:t>
            </a:r>
            <a:r>
              <a:rPr b="1" i="1" lang="en">
                <a:solidFill>
                  <a:srgbClr val="000000"/>
                </a:solidFill>
              </a:rPr>
              <a:t>p</a:t>
            </a:r>
            <a:r>
              <a:rPr lang="en">
                <a:solidFill>
                  <a:srgbClr val="000000"/>
                </a:solidFill>
              </a:rPr>
              <a:t> is </a:t>
            </a:r>
            <a:r>
              <a:rPr b="1" lang="en">
                <a:solidFill>
                  <a:srgbClr val="000000"/>
                </a:solidFill>
              </a:rPr>
              <a:t>2</a:t>
            </a:r>
            <a:r>
              <a:rPr lang="en">
                <a:solidFill>
                  <a:srgbClr val="000000"/>
                </a:solidFill>
              </a:rPr>
              <a:t> and </a:t>
            </a:r>
            <a:r>
              <a:rPr b="1" i="1" lang="en">
                <a:solidFill>
                  <a:srgbClr val="000000"/>
                </a:solidFill>
              </a:rPr>
              <a:t>m</a:t>
            </a:r>
            <a:r>
              <a:rPr lang="en">
                <a:solidFill>
                  <a:srgbClr val="000000"/>
                </a:solidFill>
              </a:rPr>
              <a:t> is missing</a:t>
            </a:r>
            <a:endParaRPr>
              <a:solidFill>
                <a:srgbClr val="000000"/>
              </a:solidFill>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06" name="Google Shape;106;p7"/>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30000"/>
              </a:lnSpc>
              <a:spcBef>
                <a:spcPts val="0"/>
              </a:spcBef>
              <a:spcAft>
                <a:spcPts val="0"/>
              </a:spcAft>
              <a:buClr>
                <a:srgbClr val="000000"/>
              </a:buClr>
              <a:buSzPts val="1800"/>
              <a:buChar char="●"/>
            </a:pPr>
            <a:r>
              <a:rPr lang="en">
                <a:solidFill>
                  <a:srgbClr val="000000"/>
                </a:solidFill>
              </a:rPr>
              <a:t>The </a:t>
            </a:r>
            <a:r>
              <a:rPr b="1" i="1" lang="en">
                <a:solidFill>
                  <a:srgbClr val="000000"/>
                </a:solidFill>
              </a:rPr>
              <a:t>minimum field width, m</a:t>
            </a:r>
            <a:r>
              <a:rPr lang="en">
                <a:solidFill>
                  <a:srgbClr val="000000"/>
                </a:solidFill>
              </a:rPr>
              <a:t>, specifies the minimum number of characters to print</a:t>
            </a:r>
            <a:endParaRPr>
              <a:solidFill>
                <a:srgbClr val="000000"/>
              </a:solidFill>
            </a:endParaRPr>
          </a:p>
          <a:p>
            <a:pPr indent="-342900" lvl="0" marL="457200" rtl="0" algn="l">
              <a:lnSpc>
                <a:spcPct val="130000"/>
              </a:lnSpc>
              <a:spcBef>
                <a:spcPts val="0"/>
              </a:spcBef>
              <a:spcAft>
                <a:spcPts val="0"/>
              </a:spcAft>
              <a:buClr>
                <a:srgbClr val="000000"/>
              </a:buClr>
              <a:buSzPts val="1800"/>
              <a:buChar char="●"/>
            </a:pPr>
            <a:r>
              <a:rPr lang="en">
                <a:solidFill>
                  <a:srgbClr val="000000"/>
                </a:solidFill>
              </a:rPr>
              <a:t>If the value to be printed requires fewer than </a:t>
            </a:r>
            <a:r>
              <a:rPr b="1" i="1" lang="en">
                <a:solidFill>
                  <a:srgbClr val="000000"/>
                </a:solidFill>
              </a:rPr>
              <a:t>m</a:t>
            </a:r>
            <a:r>
              <a:rPr b="1" lang="en">
                <a:solidFill>
                  <a:srgbClr val="000000"/>
                </a:solidFill>
              </a:rPr>
              <a:t> </a:t>
            </a:r>
            <a:r>
              <a:rPr lang="en">
                <a:solidFill>
                  <a:srgbClr val="000000"/>
                </a:solidFill>
              </a:rPr>
              <a:t>characters, it is right-justified within the field.</a:t>
            </a:r>
            <a:endParaRPr>
              <a:solidFill>
                <a:srgbClr val="000000"/>
              </a:solidFill>
            </a:endParaRPr>
          </a:p>
          <a:p>
            <a:pPr indent="0" lvl="0" marL="457200" rtl="0" algn="l">
              <a:lnSpc>
                <a:spcPct val="130000"/>
              </a:lnSpc>
              <a:spcBef>
                <a:spcPts val="0"/>
              </a:spcBef>
              <a:spcAft>
                <a:spcPts val="0"/>
              </a:spcAft>
              <a:buSzPts val="1800"/>
              <a:buNone/>
            </a:pPr>
            <a:r>
              <a:rPr lang="en">
                <a:solidFill>
                  <a:srgbClr val="000000"/>
                </a:solidFill>
              </a:rPr>
              <a:t>–	</a:t>
            </a:r>
            <a:r>
              <a:rPr lang="en">
                <a:solidFill>
                  <a:srgbClr val="000000"/>
                </a:solidFill>
                <a:latin typeface="Verdana"/>
                <a:ea typeface="Verdana"/>
                <a:cs typeface="Verdana"/>
                <a:sym typeface="Verdana"/>
              </a:rPr>
              <a:t>%4d</a:t>
            </a:r>
            <a:r>
              <a:rPr lang="en">
                <a:solidFill>
                  <a:srgbClr val="000000"/>
                </a:solidFill>
              </a:rPr>
              <a:t> displays the number </a:t>
            </a:r>
            <a:r>
              <a:rPr lang="en">
                <a:solidFill>
                  <a:srgbClr val="000000"/>
                </a:solidFill>
                <a:latin typeface="Verdana"/>
                <a:ea typeface="Verdana"/>
                <a:cs typeface="Verdana"/>
                <a:sym typeface="Verdana"/>
              </a:rPr>
              <a:t>123</a:t>
            </a:r>
            <a:r>
              <a:rPr lang="en">
                <a:solidFill>
                  <a:srgbClr val="000000"/>
                </a:solidFill>
              </a:rPr>
              <a:t> as •</a:t>
            </a:r>
            <a:r>
              <a:rPr lang="en">
                <a:solidFill>
                  <a:srgbClr val="000000"/>
                </a:solidFill>
                <a:latin typeface="Verdana"/>
                <a:ea typeface="Verdana"/>
                <a:cs typeface="Verdana"/>
                <a:sym typeface="Verdana"/>
              </a:rPr>
              <a:t>123</a:t>
            </a:r>
            <a:r>
              <a:rPr lang="en">
                <a:solidFill>
                  <a:srgbClr val="000000"/>
                </a:solidFill>
              </a:rPr>
              <a:t>. (• represents the space character.)</a:t>
            </a:r>
            <a:endParaRPr>
              <a:solidFill>
                <a:srgbClr val="000000"/>
              </a:solidFill>
            </a:endParaRPr>
          </a:p>
          <a:p>
            <a:pPr indent="-342900" lvl="0" marL="457200" rtl="0" algn="l">
              <a:lnSpc>
                <a:spcPct val="130000"/>
              </a:lnSpc>
              <a:spcBef>
                <a:spcPts val="0"/>
              </a:spcBef>
              <a:spcAft>
                <a:spcPts val="0"/>
              </a:spcAft>
              <a:buClr>
                <a:srgbClr val="000000"/>
              </a:buClr>
              <a:buSzPts val="1800"/>
              <a:buChar char="●"/>
            </a:pPr>
            <a:r>
              <a:rPr lang="en">
                <a:solidFill>
                  <a:srgbClr val="000000"/>
                </a:solidFill>
              </a:rPr>
              <a:t>If the value to be printed requires more than </a:t>
            </a:r>
            <a:r>
              <a:rPr b="1" i="1" lang="en">
                <a:solidFill>
                  <a:srgbClr val="000000"/>
                </a:solidFill>
              </a:rPr>
              <a:t>m</a:t>
            </a:r>
            <a:r>
              <a:rPr b="1" lang="en">
                <a:solidFill>
                  <a:srgbClr val="000000"/>
                </a:solidFill>
              </a:rPr>
              <a:t> </a:t>
            </a:r>
            <a:r>
              <a:rPr lang="en">
                <a:solidFill>
                  <a:srgbClr val="000000"/>
                </a:solidFill>
              </a:rPr>
              <a:t>characters, the field width automatically expands to the necessary size</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12" name="Google Shape;112;p8"/>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rPr>
              <a:t>Putting a minus sign in front of </a:t>
            </a:r>
            <a:r>
              <a:rPr i="1" lang="en">
                <a:solidFill>
                  <a:srgbClr val="000000"/>
                </a:solidFill>
              </a:rPr>
              <a:t>m</a:t>
            </a:r>
            <a:r>
              <a:rPr lang="en">
                <a:solidFill>
                  <a:srgbClr val="000000"/>
                </a:solidFill>
              </a:rPr>
              <a:t> causes left justification</a:t>
            </a:r>
            <a:endParaRPr>
              <a:solidFill>
                <a:srgbClr val="000000"/>
              </a:solidFill>
            </a:endParaRPr>
          </a:p>
          <a:p>
            <a:pPr indent="457200" lvl="0" marL="0" rtl="0" algn="l">
              <a:lnSpc>
                <a:spcPct val="115000"/>
              </a:lnSpc>
              <a:spcBef>
                <a:spcPts val="500"/>
              </a:spcBef>
              <a:spcAft>
                <a:spcPts val="0"/>
              </a:spcAft>
              <a:buSzPts val="1800"/>
              <a:buNone/>
            </a:pPr>
            <a:r>
              <a:rPr lang="en">
                <a:solidFill>
                  <a:srgbClr val="000000"/>
                </a:solidFill>
              </a:rPr>
              <a:t>–	The specification </a:t>
            </a:r>
            <a:r>
              <a:rPr lang="en">
                <a:solidFill>
                  <a:srgbClr val="000000"/>
                </a:solidFill>
                <a:latin typeface="Verdana"/>
                <a:ea typeface="Verdana"/>
                <a:cs typeface="Verdana"/>
                <a:sym typeface="Verdana"/>
              </a:rPr>
              <a:t>%-4d</a:t>
            </a:r>
            <a:r>
              <a:rPr lang="en">
                <a:solidFill>
                  <a:srgbClr val="000000"/>
                </a:solidFill>
              </a:rPr>
              <a:t> would display </a:t>
            </a:r>
            <a:r>
              <a:rPr lang="en">
                <a:solidFill>
                  <a:srgbClr val="000000"/>
                </a:solidFill>
                <a:latin typeface="Verdana"/>
                <a:ea typeface="Verdana"/>
                <a:cs typeface="Verdana"/>
                <a:sym typeface="Verdana"/>
              </a:rPr>
              <a:t>123</a:t>
            </a:r>
            <a:r>
              <a:rPr lang="en">
                <a:solidFill>
                  <a:srgbClr val="000000"/>
                </a:solidFill>
              </a:rPr>
              <a:t> as </a:t>
            </a:r>
            <a:r>
              <a:rPr lang="en">
                <a:solidFill>
                  <a:srgbClr val="000000"/>
                </a:solidFill>
                <a:latin typeface="Verdana"/>
                <a:ea typeface="Verdana"/>
                <a:cs typeface="Verdana"/>
                <a:sym typeface="Verdana"/>
              </a:rPr>
              <a:t>123</a:t>
            </a:r>
            <a:r>
              <a:rPr lang="en">
                <a:solidFill>
                  <a:srgbClr val="000000"/>
                </a:solidFill>
              </a:rPr>
              <a:t>•</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342900" lvl="0" marL="457200" rtl="0" algn="l">
              <a:lnSpc>
                <a:spcPct val="130000"/>
              </a:lnSpc>
              <a:spcBef>
                <a:spcPts val="0"/>
              </a:spcBef>
              <a:spcAft>
                <a:spcPts val="0"/>
              </a:spcAft>
              <a:buClr>
                <a:srgbClr val="000000"/>
              </a:buClr>
              <a:buSzPts val="1800"/>
              <a:buFont typeface="Times New Roman"/>
              <a:buChar char="●"/>
            </a:pPr>
            <a:r>
              <a:rPr lang="en">
                <a:solidFill>
                  <a:srgbClr val="000000"/>
                </a:solidFill>
              </a:rPr>
              <a:t>The meaning of the </a:t>
            </a:r>
            <a:r>
              <a:rPr b="1" i="1" lang="en">
                <a:solidFill>
                  <a:srgbClr val="000000"/>
                </a:solidFill>
              </a:rPr>
              <a:t>precision,</a:t>
            </a:r>
            <a:r>
              <a:rPr lang="en">
                <a:solidFill>
                  <a:srgbClr val="000000"/>
                </a:solidFill>
              </a:rPr>
              <a:t> </a:t>
            </a:r>
            <a:r>
              <a:rPr b="1" i="1" lang="en">
                <a:solidFill>
                  <a:srgbClr val="000000"/>
                </a:solidFill>
              </a:rPr>
              <a:t>p</a:t>
            </a:r>
            <a:r>
              <a:rPr lang="en">
                <a:solidFill>
                  <a:srgbClr val="000000"/>
                </a:solidFill>
              </a:rPr>
              <a:t>, depends on the choice of </a:t>
            </a:r>
            <a:r>
              <a:rPr i="1" lang="en">
                <a:solidFill>
                  <a:srgbClr val="000000"/>
                </a:solidFill>
              </a:rPr>
              <a:t>X</a:t>
            </a:r>
            <a:r>
              <a:rPr lang="en">
                <a:solidFill>
                  <a:srgbClr val="000000"/>
                </a:solidFill>
              </a:rPr>
              <a:t>, the </a:t>
            </a:r>
            <a:r>
              <a:rPr b="1" i="1" lang="en">
                <a:solidFill>
                  <a:srgbClr val="000000"/>
                </a:solidFill>
              </a:rPr>
              <a:t>conversion specifier</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18" name="Google Shape;118;p9"/>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700"/>
              </a:spcBef>
              <a:spcAft>
                <a:spcPts val="0"/>
              </a:spcAft>
              <a:buClr>
                <a:srgbClr val="000000"/>
              </a:buClr>
              <a:buSzPts val="1800"/>
              <a:buChar char="●"/>
            </a:pPr>
            <a:r>
              <a:rPr lang="en">
                <a:solidFill>
                  <a:srgbClr val="000000"/>
                </a:solidFill>
              </a:rPr>
              <a:t>The </a:t>
            </a:r>
            <a:r>
              <a:rPr b="1" lang="en">
                <a:solidFill>
                  <a:srgbClr val="000000"/>
                </a:solidFill>
              </a:rPr>
              <a:t>d </a:t>
            </a:r>
            <a:r>
              <a:rPr lang="en">
                <a:solidFill>
                  <a:srgbClr val="000000"/>
                </a:solidFill>
              </a:rPr>
              <a:t>specifier is used to display an integer in decimal form.</a:t>
            </a:r>
            <a:endParaRPr>
              <a:solidFill>
                <a:srgbClr val="000000"/>
              </a:solidFill>
            </a:endParaRPr>
          </a:p>
          <a:p>
            <a:pPr indent="457200" lvl="0" marL="0" rtl="0" algn="l">
              <a:lnSpc>
                <a:spcPct val="115000"/>
              </a:lnSpc>
              <a:spcBef>
                <a:spcPts val="600"/>
              </a:spcBef>
              <a:spcAft>
                <a:spcPts val="0"/>
              </a:spcAft>
              <a:buSzPts val="1800"/>
              <a:buNone/>
            </a:pPr>
            <a:r>
              <a:rPr lang="en">
                <a:solidFill>
                  <a:srgbClr val="000000"/>
                </a:solidFill>
              </a:rPr>
              <a:t>–	</a:t>
            </a:r>
            <a:r>
              <a:rPr b="1" i="1" lang="en">
                <a:solidFill>
                  <a:srgbClr val="000000"/>
                </a:solidFill>
              </a:rPr>
              <a:t>p</a:t>
            </a:r>
            <a:r>
              <a:rPr b="1" lang="en">
                <a:solidFill>
                  <a:srgbClr val="000000"/>
                </a:solidFill>
              </a:rPr>
              <a:t> </a:t>
            </a:r>
            <a:r>
              <a:rPr lang="en">
                <a:solidFill>
                  <a:srgbClr val="000000"/>
                </a:solidFill>
              </a:rPr>
              <a:t>indicates the minimum number of digits to display (extra zeros are added to the beginning of the number if necessary).</a:t>
            </a:r>
            <a:endParaRPr>
              <a:solidFill>
                <a:srgbClr val="000000"/>
              </a:solidFill>
            </a:endParaRPr>
          </a:p>
          <a:p>
            <a:pPr indent="457200" lvl="0" marL="0" rtl="0" algn="l">
              <a:lnSpc>
                <a:spcPct val="115000"/>
              </a:lnSpc>
              <a:spcBef>
                <a:spcPts val="500"/>
              </a:spcBef>
              <a:spcAft>
                <a:spcPts val="0"/>
              </a:spcAft>
              <a:buSzPts val="1800"/>
              <a:buNone/>
            </a:pPr>
            <a:r>
              <a:rPr lang="en">
                <a:solidFill>
                  <a:srgbClr val="000000"/>
                </a:solidFill>
              </a:rPr>
              <a:t>–	If </a:t>
            </a:r>
            <a:r>
              <a:rPr b="1" i="1" lang="en">
                <a:solidFill>
                  <a:srgbClr val="000000"/>
                </a:solidFill>
              </a:rPr>
              <a:t>p</a:t>
            </a:r>
            <a:r>
              <a:rPr b="1" lang="en">
                <a:solidFill>
                  <a:srgbClr val="000000"/>
                </a:solidFill>
              </a:rPr>
              <a:t> </a:t>
            </a:r>
            <a:r>
              <a:rPr lang="en">
                <a:solidFill>
                  <a:srgbClr val="000000"/>
                </a:solidFill>
              </a:rPr>
              <a:t>is omitted, it is assumed to be 1</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24" name="Google Shape;124;p10"/>
          <p:cNvSpPr txBox="1"/>
          <p:nvPr>
            <p:ph idx="1" type="body"/>
          </p:nvPr>
        </p:nvSpPr>
        <p:spPr>
          <a:xfrm>
            <a:off x="471900" y="17950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Conversion specifiers for floating-point numbers:</a:t>
            </a:r>
            <a:endParaRPr>
              <a:solidFill>
                <a:srgbClr val="000000"/>
              </a:solidFill>
            </a:endParaRPr>
          </a:p>
          <a:p>
            <a:pPr indent="0" lvl="0" marL="342900" rtl="0" algn="l">
              <a:lnSpc>
                <a:spcPct val="150000"/>
              </a:lnSpc>
              <a:spcBef>
                <a:spcPts val="600"/>
              </a:spcBef>
              <a:spcAft>
                <a:spcPts val="0"/>
              </a:spcAft>
              <a:buSzPts val="1800"/>
              <a:buNone/>
            </a:pPr>
            <a:r>
              <a:rPr lang="en">
                <a:solidFill>
                  <a:srgbClr val="000000"/>
                </a:solidFill>
              </a:rPr>
              <a:t>  	</a:t>
            </a:r>
            <a:r>
              <a:rPr b="1" lang="en" sz="1400">
                <a:solidFill>
                  <a:srgbClr val="000000"/>
                </a:solidFill>
              </a:rPr>
              <a:t>e </a:t>
            </a:r>
            <a:r>
              <a:rPr lang="en" sz="1400">
                <a:solidFill>
                  <a:srgbClr val="000000"/>
                </a:solidFill>
              </a:rPr>
              <a:t>— </a:t>
            </a:r>
            <a:r>
              <a:rPr i="1" lang="en" sz="1400">
                <a:solidFill>
                  <a:srgbClr val="000000"/>
                </a:solidFill>
              </a:rPr>
              <a:t>Exponential format</a:t>
            </a:r>
            <a:r>
              <a:rPr lang="en" sz="1400">
                <a:solidFill>
                  <a:srgbClr val="000000"/>
                </a:solidFill>
              </a:rPr>
              <a:t>. </a:t>
            </a:r>
            <a:r>
              <a:rPr b="1" i="1" lang="en" sz="1400">
                <a:solidFill>
                  <a:srgbClr val="000000"/>
                </a:solidFill>
              </a:rPr>
              <a:t>p</a:t>
            </a:r>
            <a:r>
              <a:rPr b="1" lang="en" sz="1400">
                <a:solidFill>
                  <a:srgbClr val="000000"/>
                </a:solidFill>
              </a:rPr>
              <a:t> </a:t>
            </a:r>
            <a:r>
              <a:rPr lang="en" sz="1400">
                <a:solidFill>
                  <a:srgbClr val="000000"/>
                </a:solidFill>
              </a:rPr>
              <a:t>indicates how many digits should appear after the decimal point (the default is 6). If </a:t>
            </a:r>
            <a:r>
              <a:rPr b="1" i="1" lang="en" sz="1400">
                <a:solidFill>
                  <a:srgbClr val="000000"/>
                </a:solidFill>
              </a:rPr>
              <a:t>p</a:t>
            </a:r>
            <a:r>
              <a:rPr b="1" lang="en" sz="1400">
                <a:solidFill>
                  <a:srgbClr val="000000"/>
                </a:solidFill>
              </a:rPr>
              <a:t> </a:t>
            </a:r>
            <a:r>
              <a:rPr lang="en" sz="1400">
                <a:solidFill>
                  <a:srgbClr val="000000"/>
                </a:solidFill>
              </a:rPr>
              <a:t>is </a:t>
            </a:r>
            <a:r>
              <a:rPr b="1" lang="en" sz="1400">
                <a:solidFill>
                  <a:srgbClr val="000000"/>
                </a:solidFill>
              </a:rPr>
              <a:t>0</a:t>
            </a:r>
            <a:r>
              <a:rPr lang="en" sz="1400">
                <a:solidFill>
                  <a:srgbClr val="000000"/>
                </a:solidFill>
              </a:rPr>
              <a:t>, no decimal point is displayed.</a:t>
            </a:r>
            <a:endParaRPr sz="1400">
              <a:solidFill>
                <a:srgbClr val="000000"/>
              </a:solidFill>
            </a:endParaRPr>
          </a:p>
          <a:p>
            <a:pPr indent="0" lvl="0" marL="342900" rtl="0" algn="l">
              <a:lnSpc>
                <a:spcPct val="150000"/>
              </a:lnSpc>
              <a:spcBef>
                <a:spcPts val="600"/>
              </a:spcBef>
              <a:spcAft>
                <a:spcPts val="0"/>
              </a:spcAft>
              <a:buSzPts val="1800"/>
              <a:buNone/>
            </a:pPr>
            <a:r>
              <a:rPr lang="en" sz="1400">
                <a:solidFill>
                  <a:srgbClr val="000000"/>
                </a:solidFill>
              </a:rPr>
              <a:t>  	</a:t>
            </a:r>
            <a:r>
              <a:rPr b="1" lang="en" sz="1400">
                <a:solidFill>
                  <a:srgbClr val="000000"/>
                </a:solidFill>
              </a:rPr>
              <a:t>f </a:t>
            </a:r>
            <a:r>
              <a:rPr lang="en" sz="1400">
                <a:solidFill>
                  <a:srgbClr val="000000"/>
                </a:solidFill>
              </a:rPr>
              <a:t>— “</a:t>
            </a:r>
            <a:r>
              <a:rPr i="1" lang="en" sz="1400">
                <a:solidFill>
                  <a:srgbClr val="000000"/>
                </a:solidFill>
              </a:rPr>
              <a:t>Fixed decimal</a:t>
            </a:r>
            <a:r>
              <a:rPr lang="en" sz="1400">
                <a:solidFill>
                  <a:srgbClr val="000000"/>
                </a:solidFill>
              </a:rPr>
              <a:t>” format. </a:t>
            </a:r>
            <a:r>
              <a:rPr b="1" i="1" lang="en" sz="1400">
                <a:solidFill>
                  <a:srgbClr val="000000"/>
                </a:solidFill>
              </a:rPr>
              <a:t>p</a:t>
            </a:r>
            <a:r>
              <a:rPr b="1" lang="en" sz="1400">
                <a:solidFill>
                  <a:srgbClr val="000000"/>
                </a:solidFill>
              </a:rPr>
              <a:t> </a:t>
            </a:r>
            <a:r>
              <a:rPr lang="en" sz="1400">
                <a:solidFill>
                  <a:srgbClr val="000000"/>
                </a:solidFill>
              </a:rPr>
              <a:t>has the same meaning as for the </a:t>
            </a:r>
            <a:r>
              <a:rPr b="1" lang="en" sz="1400">
                <a:solidFill>
                  <a:srgbClr val="000000"/>
                </a:solidFill>
              </a:rPr>
              <a:t>e </a:t>
            </a:r>
            <a:r>
              <a:rPr lang="en" sz="1400">
                <a:solidFill>
                  <a:srgbClr val="000000"/>
                </a:solidFill>
              </a:rPr>
              <a:t>specifier.</a:t>
            </a:r>
            <a:endParaRPr sz="1400">
              <a:solidFill>
                <a:srgbClr val="000000"/>
              </a:solidFill>
            </a:endParaRPr>
          </a:p>
          <a:p>
            <a:pPr indent="457200" lvl="0" marL="0" rtl="0" algn="l">
              <a:lnSpc>
                <a:spcPct val="150000"/>
              </a:lnSpc>
              <a:spcBef>
                <a:spcPts val="500"/>
              </a:spcBef>
              <a:spcAft>
                <a:spcPts val="0"/>
              </a:spcAft>
              <a:buSzPts val="1800"/>
              <a:buNone/>
            </a:pPr>
            <a:r>
              <a:rPr b="1" lang="en" sz="1400">
                <a:solidFill>
                  <a:srgbClr val="000000"/>
                </a:solidFill>
              </a:rPr>
              <a:t>d </a:t>
            </a:r>
            <a:r>
              <a:rPr lang="en" sz="1400">
                <a:solidFill>
                  <a:srgbClr val="000000"/>
                </a:solidFill>
              </a:rPr>
              <a:t>— Minimum number (</a:t>
            </a:r>
            <a:r>
              <a:rPr b="1" i="1" lang="en" sz="1400">
                <a:solidFill>
                  <a:srgbClr val="000000"/>
                </a:solidFill>
              </a:rPr>
              <a:t>p</a:t>
            </a:r>
            <a:r>
              <a:rPr lang="en" sz="1400">
                <a:solidFill>
                  <a:srgbClr val="000000"/>
                </a:solidFill>
              </a:rPr>
              <a:t>) of digits to display (append extra zeros at the beginning if needed)</a:t>
            </a:r>
            <a:endParaRPr sz="1400">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Use of various Format Specifiers</a:t>
            </a:r>
            <a:endParaRPr/>
          </a:p>
        </p:txBody>
      </p:sp>
      <p:sp>
        <p:nvSpPr>
          <p:cNvPr id="130" name="Google Shape;130;p11"/>
          <p:cNvSpPr txBox="1"/>
          <p:nvPr>
            <p:ph idx="1" type="body"/>
          </p:nvPr>
        </p:nvSpPr>
        <p:spPr>
          <a:xfrm>
            <a:off x="471900" y="17950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Show the use of format specifiers for both </a:t>
            </a:r>
            <a:r>
              <a:rPr lang="en">
                <a:solidFill>
                  <a:srgbClr val="000000"/>
                </a:solidFill>
                <a:latin typeface="Verdana"/>
                <a:ea typeface="Verdana"/>
                <a:cs typeface="Verdana"/>
                <a:sym typeface="Verdana"/>
              </a:rPr>
              <a:t>int </a:t>
            </a:r>
            <a:r>
              <a:rPr lang="en">
                <a:solidFill>
                  <a:srgbClr val="000000"/>
                </a:solidFill>
              </a:rPr>
              <a:t>and </a:t>
            </a:r>
            <a:r>
              <a:rPr lang="en">
                <a:solidFill>
                  <a:srgbClr val="000000"/>
                </a:solidFill>
                <a:latin typeface="Verdana"/>
                <a:ea typeface="Verdana"/>
                <a:cs typeface="Verdana"/>
                <a:sym typeface="Verdana"/>
              </a:rPr>
              <a:t>float</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Use </a:t>
            </a:r>
            <a:r>
              <a:rPr lang="en">
                <a:solidFill>
                  <a:srgbClr val="000000"/>
                </a:solidFill>
                <a:latin typeface="Verdana"/>
                <a:ea typeface="Verdana"/>
                <a:cs typeface="Verdana"/>
                <a:sym typeface="Verdana"/>
              </a:rPr>
              <a:t>%d</a:t>
            </a:r>
            <a:r>
              <a:rPr lang="en">
                <a:solidFill>
                  <a:srgbClr val="000000"/>
                </a:solidFill>
              </a:rPr>
              <a:t>, </a:t>
            </a:r>
            <a:r>
              <a:rPr lang="en">
                <a:solidFill>
                  <a:srgbClr val="000000"/>
                </a:solidFill>
                <a:latin typeface="Verdana"/>
                <a:ea typeface="Verdana"/>
                <a:cs typeface="Verdana"/>
                <a:sym typeface="Verdana"/>
              </a:rPr>
              <a:t>%5d</a:t>
            </a:r>
            <a:r>
              <a:rPr lang="en">
                <a:solidFill>
                  <a:srgbClr val="000000"/>
                </a:solidFill>
              </a:rPr>
              <a:t>, </a:t>
            </a:r>
            <a:r>
              <a:rPr lang="en">
                <a:solidFill>
                  <a:srgbClr val="000000"/>
                </a:solidFill>
                <a:latin typeface="Verdana"/>
                <a:ea typeface="Verdana"/>
                <a:cs typeface="Verdana"/>
                <a:sym typeface="Verdana"/>
              </a:rPr>
              <a:t>%-5d</a:t>
            </a:r>
            <a:r>
              <a:rPr lang="en">
                <a:solidFill>
                  <a:srgbClr val="000000"/>
                </a:solidFill>
              </a:rPr>
              <a:t>, </a:t>
            </a:r>
            <a:r>
              <a:rPr lang="en">
                <a:solidFill>
                  <a:srgbClr val="000000"/>
                </a:solidFill>
                <a:latin typeface="Verdana"/>
                <a:ea typeface="Verdana"/>
                <a:cs typeface="Verdana"/>
                <a:sym typeface="Verdana"/>
              </a:rPr>
              <a:t>%5.3d</a:t>
            </a:r>
            <a:r>
              <a:rPr lang="en">
                <a:solidFill>
                  <a:srgbClr val="000000"/>
                </a:solidFill>
              </a:rPr>
              <a:t> for </a:t>
            </a:r>
            <a:r>
              <a:rPr lang="en">
                <a:solidFill>
                  <a:srgbClr val="000000"/>
                </a:solidFill>
                <a:latin typeface="Verdana"/>
                <a:ea typeface="Verdana"/>
                <a:cs typeface="Verdana"/>
                <a:sym typeface="Verdana"/>
              </a:rPr>
              <a:t>40</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Use </a:t>
            </a:r>
            <a:r>
              <a:rPr lang="en">
                <a:solidFill>
                  <a:srgbClr val="000000"/>
                </a:solidFill>
                <a:latin typeface="Verdana"/>
                <a:ea typeface="Verdana"/>
                <a:cs typeface="Verdana"/>
                <a:sym typeface="Verdana"/>
              </a:rPr>
              <a:t>%10.3f</a:t>
            </a:r>
            <a:r>
              <a:rPr lang="en">
                <a:solidFill>
                  <a:srgbClr val="000000"/>
                </a:solidFill>
              </a:rPr>
              <a:t>, </a:t>
            </a:r>
            <a:r>
              <a:rPr lang="en">
                <a:solidFill>
                  <a:srgbClr val="000000"/>
                </a:solidFill>
                <a:latin typeface="Verdana"/>
                <a:ea typeface="Verdana"/>
                <a:cs typeface="Verdana"/>
                <a:sym typeface="Verdana"/>
              </a:rPr>
              <a:t>%10.3e</a:t>
            </a:r>
            <a:r>
              <a:rPr lang="en">
                <a:solidFill>
                  <a:srgbClr val="000000"/>
                </a:solidFill>
              </a:rPr>
              <a:t> for </a:t>
            </a:r>
            <a:r>
              <a:rPr lang="en">
                <a:solidFill>
                  <a:srgbClr val="000000"/>
                </a:solidFill>
                <a:latin typeface="Verdana"/>
                <a:ea typeface="Verdana"/>
                <a:cs typeface="Verdana"/>
                <a:sym typeface="Verdana"/>
              </a:rPr>
              <a:t>839.21</a:t>
            </a:r>
            <a:endParaRPr>
              <a:solidFill>
                <a:srgbClr val="000000"/>
              </a:solidFill>
              <a:latin typeface="Verdana"/>
              <a:ea typeface="Verdana"/>
              <a:cs typeface="Verdana"/>
              <a:sym typeface="Verdana"/>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Escape Sequences</a:t>
            </a:r>
            <a:endParaRPr/>
          </a:p>
        </p:txBody>
      </p:sp>
      <p:sp>
        <p:nvSpPr>
          <p:cNvPr id="136" name="Google Shape;136;p12"/>
          <p:cNvSpPr txBox="1"/>
          <p:nvPr>
            <p:ph idx="1" type="body"/>
          </p:nvPr>
        </p:nvSpPr>
        <p:spPr>
          <a:xfrm>
            <a:off x="471900" y="17136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\n</a:t>
            </a:r>
            <a:r>
              <a:rPr lang="en">
                <a:solidFill>
                  <a:srgbClr val="000000"/>
                </a:solidFill>
              </a:rPr>
              <a:t> code that used in format strings is called an </a:t>
            </a:r>
            <a:r>
              <a:rPr b="1" i="1" lang="en">
                <a:solidFill>
                  <a:srgbClr val="000000"/>
                </a:solidFill>
              </a:rPr>
              <a:t>escape sequence</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Control characters:</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Alert (Bell) : \a</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New line : \n</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Tab : \t</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Special characters: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Backslash (\) :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Double Quotes (“) :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Example: </a:t>
            </a:r>
            <a:r>
              <a:rPr lang="en">
                <a:solidFill>
                  <a:srgbClr val="000000"/>
                </a:solidFill>
                <a:latin typeface="Verdana"/>
                <a:ea typeface="Verdana"/>
                <a:cs typeface="Verdana"/>
                <a:sym typeface="Verdana"/>
              </a:rPr>
              <a:t>printf(“Item\tUnit\tPurchase\n\tPrice\tDate\n”);</a:t>
            </a:r>
            <a:r>
              <a:rPr lang="en">
                <a:solidFill>
                  <a:srgbClr val="000000"/>
                </a:solidFill>
              </a:rPr>
              <a:t> </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p:txBody>
      </p:sp>
      <p:sp>
        <p:nvSpPr>
          <p:cNvPr id="142" name="Google Shape;142;p13"/>
          <p:cNvSpPr txBox="1"/>
          <p:nvPr>
            <p:ph idx="1" type="body"/>
          </p:nvPr>
        </p:nvSpPr>
        <p:spPr>
          <a:xfrm>
            <a:off x="471900" y="16100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reads input according to a particular format</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 </a:t>
            </a:r>
            <a:r>
              <a:rPr lang="en">
                <a:solidFill>
                  <a:srgbClr val="000000"/>
                </a:solidFill>
                <a:latin typeface="Verdana"/>
                <a:ea typeface="Verdana"/>
                <a:cs typeface="Verdana"/>
                <a:sym typeface="Verdana"/>
              </a:rPr>
              <a:t>scanf </a:t>
            </a:r>
            <a:r>
              <a:rPr lang="en">
                <a:solidFill>
                  <a:srgbClr val="000000"/>
                </a:solidFill>
              </a:rPr>
              <a:t>format string may contain both ordinary characters and conversion specifications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Only format specifiers in most cases</a:t>
            </a:r>
            <a:endParaRPr>
              <a:solidFill>
                <a:srgbClr val="000000"/>
              </a:solidFill>
            </a:endParaRPr>
          </a:p>
          <a:p>
            <a:pPr indent="0" lvl="0" marL="0" rtl="0" algn="l">
              <a:lnSpc>
                <a:spcPct val="115000"/>
              </a:lnSpc>
              <a:spcBef>
                <a:spcPts val="700"/>
              </a:spcBef>
              <a:spcAft>
                <a:spcPts val="0"/>
              </a:spcAft>
              <a:buSzPts val="1800"/>
              <a:buNone/>
            </a:pPr>
            <a:r>
              <a:rPr lang="en">
                <a:solidFill>
                  <a:srgbClr val="000000"/>
                </a:solidFill>
              </a:rPr>
              <a:t>	</a:t>
            </a:r>
            <a:r>
              <a:rPr lang="en" sz="1400">
                <a:solidFill>
                  <a:schemeClr val="dk1"/>
                </a:solidFill>
                <a:latin typeface="Verdana"/>
                <a:ea typeface="Verdana"/>
                <a:cs typeface="Verdana"/>
                <a:sym typeface="Verdana"/>
              </a:rPr>
              <a:t>int </a:t>
            </a:r>
            <a:r>
              <a:rPr lang="en" sz="1400">
                <a:solidFill>
                  <a:srgbClr val="000000"/>
                </a:solidFill>
                <a:latin typeface="Verdana"/>
                <a:ea typeface="Verdana"/>
                <a:cs typeface="Verdana"/>
                <a:sym typeface="Verdana"/>
              </a:rPr>
              <a:t>i,j;</a:t>
            </a:r>
            <a:endParaRPr sz="1400">
              <a:solidFill>
                <a:srgbClr val="000000"/>
              </a:solidFill>
              <a:latin typeface="Verdana"/>
              <a:ea typeface="Verdana"/>
              <a:cs typeface="Verdana"/>
              <a:sym typeface="Verdana"/>
            </a:endParaRPr>
          </a:p>
          <a:p>
            <a:pPr indent="0" lvl="0" marL="0" rtl="0" algn="l">
              <a:lnSpc>
                <a:spcPct val="115000"/>
              </a:lnSpc>
              <a:spcBef>
                <a:spcPts val="700"/>
              </a:spcBef>
              <a:spcAft>
                <a:spcPts val="0"/>
              </a:spcAft>
              <a:buSzPts val="1800"/>
              <a:buNone/>
            </a:pPr>
            <a:r>
              <a:rPr lang="en" sz="1400">
                <a:solidFill>
                  <a:srgbClr val="000000"/>
                </a:solidFill>
                <a:latin typeface="Verdana"/>
                <a:ea typeface="Verdana"/>
                <a:cs typeface="Verdana"/>
                <a:sym typeface="Verdana"/>
              </a:rPr>
              <a:t>	</a:t>
            </a:r>
            <a:r>
              <a:rPr lang="en" sz="1400">
                <a:solidFill>
                  <a:schemeClr val="dk1"/>
                </a:solidFill>
                <a:latin typeface="Verdana"/>
                <a:ea typeface="Verdana"/>
                <a:cs typeface="Verdana"/>
                <a:sym typeface="Verdana"/>
              </a:rPr>
              <a:t>float </a:t>
            </a:r>
            <a:r>
              <a:rPr lang="en" sz="1400">
                <a:solidFill>
                  <a:srgbClr val="000000"/>
                </a:solidFill>
                <a:latin typeface="Verdana"/>
                <a:ea typeface="Verdana"/>
                <a:cs typeface="Verdana"/>
                <a:sym typeface="Verdana"/>
              </a:rPr>
              <a:t>x,y;</a:t>
            </a:r>
            <a:endParaRPr sz="1400">
              <a:solidFill>
                <a:srgbClr val="000000"/>
              </a:solidFill>
              <a:latin typeface="Verdana"/>
              <a:ea typeface="Verdana"/>
              <a:cs typeface="Verdana"/>
              <a:sym typeface="Verdana"/>
            </a:endParaRPr>
          </a:p>
          <a:p>
            <a:pPr indent="0" lvl="0" marL="0" rtl="0" algn="l">
              <a:lnSpc>
                <a:spcPct val="115000"/>
              </a:lnSpc>
              <a:spcBef>
                <a:spcPts val="700"/>
              </a:spcBef>
              <a:spcAft>
                <a:spcPts val="0"/>
              </a:spcAft>
              <a:buSzPts val="1800"/>
              <a:buNone/>
            </a:pPr>
            <a:r>
              <a:rPr lang="en" sz="1400">
                <a:solidFill>
                  <a:srgbClr val="000000"/>
                </a:solidFill>
                <a:latin typeface="Verdana"/>
                <a:ea typeface="Verdana"/>
                <a:cs typeface="Verdana"/>
                <a:sym typeface="Verdana"/>
              </a:rPr>
              <a:t>	scanf(“%d %d %f %f”, &amp;i, &amp;j, &amp;x, &amp;y);</a:t>
            </a:r>
            <a:endParaRPr sz="1400">
              <a:solidFill>
                <a:srgbClr val="000000"/>
              </a:solidFill>
              <a:latin typeface="Verdana"/>
              <a:ea typeface="Verdana"/>
              <a:cs typeface="Verdana"/>
              <a:sym typeface="Verdana"/>
            </a:endParaRPr>
          </a:p>
          <a:p>
            <a:pPr indent="-342900" lvl="0" marL="457200" rtl="0" algn="l">
              <a:lnSpc>
                <a:spcPct val="150000"/>
              </a:lnSpc>
              <a:spcBef>
                <a:spcPts val="700"/>
              </a:spcBef>
              <a:spcAft>
                <a:spcPts val="0"/>
              </a:spcAft>
              <a:buClr>
                <a:srgbClr val="000000"/>
              </a:buClr>
              <a:buSzPts val="1800"/>
              <a:buChar char="●"/>
            </a:pPr>
            <a:r>
              <a:rPr lang="en">
                <a:solidFill>
                  <a:srgbClr val="000000"/>
                </a:solidFill>
              </a:rPr>
              <a:t>Sample output: </a:t>
            </a:r>
            <a:r>
              <a:rPr lang="en" sz="1400">
                <a:solidFill>
                  <a:srgbClr val="000000"/>
                </a:solidFill>
                <a:latin typeface="Verdana"/>
                <a:ea typeface="Verdana"/>
                <a:cs typeface="Verdana"/>
                <a:sym typeface="Verdana"/>
              </a:rPr>
              <a:t>1	-20	.3	-4.0e3</a:t>
            </a:r>
            <a:endParaRPr sz="1400">
              <a:solidFill>
                <a:srgbClr val="000000"/>
              </a:solidFill>
              <a:latin typeface="Verdana"/>
              <a:ea typeface="Verdana"/>
              <a:cs typeface="Verdana"/>
              <a:sym typeface="Verdana"/>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p:txBody>
      </p:sp>
      <p:sp>
        <p:nvSpPr>
          <p:cNvPr id="148" name="Google Shape;148;p14"/>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When using </a:t>
            </a:r>
            <a:r>
              <a:rPr lang="en">
                <a:solidFill>
                  <a:srgbClr val="000000"/>
                </a:solidFill>
                <a:latin typeface="Verdana"/>
                <a:ea typeface="Verdana"/>
                <a:cs typeface="Verdana"/>
                <a:sym typeface="Verdana"/>
              </a:rPr>
              <a:t>scanf</a:t>
            </a:r>
            <a:r>
              <a:rPr lang="en">
                <a:solidFill>
                  <a:srgbClr val="000000"/>
                </a:solidFill>
              </a:rPr>
              <a:t>, the programmer must check that the number of conversion specifications matches the number of input variables and that each conversion is appropriate for the corresponding variable</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Another trap involves the </a:t>
            </a:r>
            <a:r>
              <a:rPr lang="en">
                <a:solidFill>
                  <a:srgbClr val="000000"/>
                </a:solidFill>
                <a:latin typeface="Verdana"/>
                <a:ea typeface="Verdana"/>
                <a:cs typeface="Verdana"/>
                <a:sym typeface="Verdana"/>
              </a:rPr>
              <a:t>&amp;</a:t>
            </a:r>
            <a:r>
              <a:rPr lang="en">
                <a:solidFill>
                  <a:srgbClr val="000000"/>
                </a:solidFill>
              </a:rPr>
              <a:t> symbol, which normally precedes each variable in a </a:t>
            </a:r>
            <a:r>
              <a:rPr lang="en">
                <a:solidFill>
                  <a:srgbClr val="000000"/>
                </a:solidFill>
                <a:latin typeface="Verdana"/>
                <a:ea typeface="Verdana"/>
                <a:cs typeface="Verdana"/>
                <a:sym typeface="Verdana"/>
              </a:rPr>
              <a:t>scanf</a:t>
            </a:r>
            <a:r>
              <a:rPr lang="en">
                <a:solidFill>
                  <a:srgbClr val="000000"/>
                </a:solidFill>
              </a:rPr>
              <a:t> call</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&amp;</a:t>
            </a:r>
            <a:r>
              <a:rPr lang="en">
                <a:solidFill>
                  <a:srgbClr val="000000"/>
                </a:solidFill>
              </a:rPr>
              <a:t> is usually (but not always) required, and it’s the programmer’s responsibility to remember to use it</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54" name="Google Shape;154;p15"/>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latin typeface="Verdana"/>
                <a:ea typeface="Verdana"/>
                <a:cs typeface="Verdana"/>
                <a:sym typeface="Verdana"/>
              </a:rPr>
              <a:t>scanf</a:t>
            </a:r>
            <a:r>
              <a:rPr lang="en">
                <a:solidFill>
                  <a:srgbClr val="000000"/>
                </a:solidFill>
              </a:rPr>
              <a:t> tries to match groups of input characters with conversion specifications in the format string</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For each conversion specification, </a:t>
            </a:r>
            <a:r>
              <a:rPr lang="en">
                <a:solidFill>
                  <a:srgbClr val="000000"/>
                </a:solidFill>
                <a:latin typeface="Verdana"/>
                <a:ea typeface="Verdana"/>
                <a:cs typeface="Verdana"/>
                <a:sym typeface="Verdana"/>
              </a:rPr>
              <a:t>scanf</a:t>
            </a:r>
            <a:r>
              <a:rPr lang="en">
                <a:solidFill>
                  <a:srgbClr val="000000"/>
                </a:solidFill>
              </a:rPr>
              <a:t> tries to locate an item of the appropriate type in the input data, skipping blank space if necessary</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then reads the item, stopping when it reaches a character that can’t belong to the item.</a:t>
            </a:r>
            <a:endParaRPr>
              <a:solidFill>
                <a:srgbClr val="000000"/>
              </a:solidFill>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item was read successfully, scanf continues processing the rest of the format string.</a:t>
            </a:r>
            <a:endParaRPr sz="1400">
              <a:solidFill>
                <a:srgbClr val="000000"/>
              </a:solidFill>
            </a:endParaRPr>
          </a:p>
          <a:p>
            <a:pPr indent="0" lvl="0" marL="457200" rtl="0" algn="l">
              <a:lnSpc>
                <a:spcPct val="150000"/>
              </a:lnSpc>
              <a:spcBef>
                <a:spcPts val="700"/>
              </a:spcBef>
              <a:spcAft>
                <a:spcPts val="0"/>
              </a:spcAft>
              <a:buSzPts val="1800"/>
              <a:buNone/>
            </a:pPr>
            <a:r>
              <a:rPr lang="en">
                <a:solidFill>
                  <a:srgbClr val="000000"/>
                </a:solidFill>
              </a:rPr>
              <a:t>–</a:t>
            </a:r>
            <a:r>
              <a:rPr lang="en" sz="1400">
                <a:solidFill>
                  <a:srgbClr val="000000"/>
                </a:solidFill>
              </a:rPr>
              <a:t>	If not, scanf returns immediately</a:t>
            </a:r>
            <a:endParaRPr sz="1400">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60" name="Google Shape;160;p16"/>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rPr>
              <a:t>As it searches for a number, </a:t>
            </a:r>
            <a:r>
              <a:rPr lang="en">
                <a:solidFill>
                  <a:srgbClr val="000000"/>
                </a:solidFill>
                <a:latin typeface="Verdana"/>
                <a:ea typeface="Verdana"/>
                <a:cs typeface="Verdana"/>
                <a:sym typeface="Verdana"/>
              </a:rPr>
              <a:t>scanf </a:t>
            </a:r>
            <a:r>
              <a:rPr lang="en">
                <a:solidFill>
                  <a:srgbClr val="000000"/>
                </a:solidFill>
              </a:rPr>
              <a:t>ignores </a:t>
            </a:r>
            <a:r>
              <a:rPr b="1" i="1" lang="en">
                <a:solidFill>
                  <a:srgbClr val="000000"/>
                </a:solidFill>
              </a:rPr>
              <a:t>white-space characters </a:t>
            </a:r>
            <a:r>
              <a:rPr lang="en">
                <a:solidFill>
                  <a:srgbClr val="000000"/>
                </a:solidFill>
              </a:rPr>
              <a:t>(space, horizontal and vertical tab, form-feed, and new-line)</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Example: </a:t>
            </a:r>
            <a:r>
              <a:rPr lang="en" sz="1400">
                <a:solidFill>
                  <a:srgbClr val="000000"/>
                </a:solidFill>
                <a:latin typeface="Verdana"/>
                <a:ea typeface="Verdana"/>
                <a:cs typeface="Verdana"/>
                <a:sym typeface="Verdana"/>
              </a:rPr>
              <a:t>scanf("%d%d%f%f", &amp;i, &amp;j, &amp;x, &amp;y);</a:t>
            </a:r>
            <a:endParaRPr sz="1400">
              <a:solidFill>
                <a:srgbClr val="000000"/>
              </a:solidFill>
              <a:latin typeface="Verdana"/>
              <a:ea typeface="Verdana"/>
              <a:cs typeface="Verdana"/>
              <a:sym typeface="Verdana"/>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The numbers can be on one line or spread over several lines:</a:t>
            </a:r>
            <a:endParaRPr>
              <a:solidFill>
                <a:srgbClr val="000000"/>
              </a:solidFill>
            </a:endParaRPr>
          </a:p>
          <a:p>
            <a:pPr indent="0" lvl="0" marL="457200" rtl="0" algn="l">
              <a:lnSpc>
                <a:spcPct val="115000"/>
              </a:lnSpc>
              <a:spcBef>
                <a:spcPts val="800"/>
              </a:spcBef>
              <a:spcAft>
                <a:spcPts val="0"/>
              </a:spcAft>
              <a:buSzPts val="1800"/>
              <a:buNone/>
            </a:pPr>
            <a:r>
              <a:rPr lang="en">
                <a:solidFill>
                  <a:srgbClr val="000000"/>
                </a:solidFill>
                <a:latin typeface="Verdana"/>
                <a:ea typeface="Verdana"/>
                <a:cs typeface="Verdana"/>
                <a:sym typeface="Verdana"/>
              </a:rPr>
              <a:t>   </a:t>
            </a:r>
            <a:r>
              <a:rPr lang="en" sz="1400">
                <a:solidFill>
                  <a:srgbClr val="000000"/>
                </a:solidFill>
                <a:latin typeface="Verdana"/>
                <a:ea typeface="Verdana"/>
                <a:cs typeface="Verdana"/>
                <a:sym typeface="Verdana"/>
              </a:rPr>
              <a:t> 1</a:t>
            </a:r>
            <a:endParaRPr sz="1400">
              <a:solidFill>
                <a:srgbClr val="000000"/>
              </a:solidFill>
              <a:latin typeface="Verdana"/>
              <a:ea typeface="Verdana"/>
              <a:cs typeface="Verdana"/>
              <a:sym typeface="Verdana"/>
            </a:endParaRPr>
          </a:p>
          <a:p>
            <a:pPr indent="0" lvl="0" marL="457200" rtl="0" algn="l">
              <a:lnSpc>
                <a:spcPct val="115000"/>
              </a:lnSpc>
              <a:spcBef>
                <a:spcPts val="200"/>
              </a:spcBef>
              <a:spcAft>
                <a:spcPts val="0"/>
              </a:spcAft>
              <a:buSzPts val="1800"/>
              <a:buNone/>
            </a:pPr>
            <a:r>
              <a:rPr lang="en" sz="1400">
                <a:solidFill>
                  <a:srgbClr val="000000"/>
                </a:solidFill>
                <a:latin typeface="Verdana"/>
                <a:ea typeface="Verdana"/>
                <a:cs typeface="Verdana"/>
                <a:sym typeface="Verdana"/>
              </a:rPr>
              <a:t> -20   .3</a:t>
            </a:r>
            <a:endParaRPr sz="1400">
              <a:solidFill>
                <a:srgbClr val="000000"/>
              </a:solidFill>
              <a:latin typeface="Verdana"/>
              <a:ea typeface="Verdana"/>
              <a:cs typeface="Verdana"/>
              <a:sym typeface="Verdana"/>
            </a:endParaRPr>
          </a:p>
          <a:p>
            <a:pPr indent="0" lvl="0" marL="457200" rtl="0" algn="l">
              <a:lnSpc>
                <a:spcPct val="115000"/>
              </a:lnSpc>
              <a:spcBef>
                <a:spcPts val="200"/>
              </a:spcBef>
              <a:spcAft>
                <a:spcPts val="0"/>
              </a:spcAft>
              <a:buSzPts val="1800"/>
              <a:buNone/>
            </a:pPr>
            <a:r>
              <a:rPr lang="en" sz="1400">
                <a:solidFill>
                  <a:srgbClr val="000000"/>
                </a:solidFill>
                <a:latin typeface="Verdana"/>
                <a:ea typeface="Verdana"/>
                <a:cs typeface="Verdana"/>
                <a:sym typeface="Verdana"/>
              </a:rPr>
              <a:t>   -4.0e3</a:t>
            </a:r>
            <a:endParaRPr sz="1400">
              <a:solidFill>
                <a:srgbClr val="000000"/>
              </a:solidFill>
              <a:latin typeface="Verdana"/>
              <a:ea typeface="Verdana"/>
              <a:cs typeface="Verdana"/>
              <a:sym typeface="Verdana"/>
            </a:endParaRPr>
          </a:p>
          <a:p>
            <a:pPr indent="-342900" lvl="0" marL="457200" rtl="0" algn="l">
              <a:lnSpc>
                <a:spcPct val="115000"/>
              </a:lnSpc>
              <a:spcBef>
                <a:spcPts val="60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sees a stream of characters (</a:t>
            </a:r>
            <a:r>
              <a:rPr lang="en">
                <a:solidFill>
                  <a:srgbClr val="000000"/>
                </a:solidFill>
                <a:latin typeface="Verdana"/>
                <a:ea typeface="Verdana"/>
                <a:cs typeface="Verdana"/>
                <a:sym typeface="Verdana"/>
              </a:rPr>
              <a:t>¤</a:t>
            </a:r>
            <a:r>
              <a:rPr lang="en">
                <a:solidFill>
                  <a:srgbClr val="000000"/>
                </a:solidFill>
              </a:rPr>
              <a:t> represents new-line):</a:t>
            </a:r>
            <a:endParaRPr>
              <a:solidFill>
                <a:srgbClr val="000000"/>
              </a:solidFill>
            </a:endParaRPr>
          </a:p>
          <a:p>
            <a:pPr indent="457200" lvl="0" marL="0" rtl="0" algn="l">
              <a:lnSpc>
                <a:spcPct val="115000"/>
              </a:lnSpc>
              <a:spcBef>
                <a:spcPts val="800"/>
              </a:spcBef>
              <a:spcAft>
                <a:spcPts val="0"/>
              </a:spcAft>
              <a:buSzPts val="1800"/>
              <a:buNone/>
            </a:pPr>
            <a:r>
              <a:rPr lang="en" sz="1400">
                <a:solidFill>
                  <a:srgbClr val="000000"/>
                </a:solidFill>
                <a:latin typeface="Verdana"/>
                <a:ea typeface="Verdana"/>
                <a:cs typeface="Verdana"/>
                <a:sym typeface="Verdana"/>
              </a:rPr>
              <a:t>••1¤-20•••.3¤•••-4.0e3¤</a:t>
            </a:r>
            <a:endParaRPr sz="1400">
              <a:solidFill>
                <a:srgbClr val="000000"/>
              </a:solidFill>
              <a:latin typeface="Verdana"/>
              <a:ea typeface="Verdana"/>
              <a:cs typeface="Verdana"/>
              <a:sym typeface="Verdana"/>
            </a:endParaRPr>
          </a:p>
          <a:p>
            <a:pPr indent="457200" lvl="0" marL="0" rtl="0" algn="l">
              <a:lnSpc>
                <a:spcPct val="115000"/>
              </a:lnSpc>
              <a:spcBef>
                <a:spcPts val="0"/>
              </a:spcBef>
              <a:spcAft>
                <a:spcPts val="0"/>
              </a:spcAft>
              <a:buSzPts val="1800"/>
              <a:buNone/>
            </a:pPr>
            <a:r>
              <a:rPr lang="en" sz="1400">
                <a:solidFill>
                  <a:srgbClr val="000000"/>
                </a:solidFill>
                <a:latin typeface="Verdana"/>
                <a:ea typeface="Verdana"/>
                <a:cs typeface="Verdana"/>
                <a:sym typeface="Verdana"/>
              </a:rPr>
              <a:t>ssrsrrrsssrrssssrrrrrr (s = skipped; r = read)</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66" name="Google Shape;166;p17"/>
          <p:cNvSpPr txBox="1"/>
          <p:nvPr>
            <p:ph idx="1" type="body"/>
          </p:nvPr>
        </p:nvSpPr>
        <p:spPr>
          <a:xfrm>
            <a:off x="460950" y="15656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“peeks” at the final new-line without reading it</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To read an </a:t>
            </a:r>
            <a:r>
              <a:rPr lang="en">
                <a:solidFill>
                  <a:srgbClr val="000000"/>
                </a:solidFill>
                <a:latin typeface="Verdana"/>
                <a:ea typeface="Verdana"/>
                <a:cs typeface="Verdana"/>
                <a:sym typeface="Verdana"/>
              </a:rPr>
              <a:t>int</a:t>
            </a:r>
            <a:endParaRPr>
              <a:solidFill>
                <a:srgbClr val="000000"/>
              </a:solidFill>
              <a:latin typeface="Verdana"/>
              <a:ea typeface="Verdana"/>
              <a:cs typeface="Verdana"/>
              <a:sym typeface="Verdana"/>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Search for digit / a plus sign / a minus sign</a:t>
            </a:r>
            <a:endParaRPr sz="1400">
              <a:solidFill>
                <a:srgbClr val="000000"/>
              </a:solidFill>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Read until non digit is found</a:t>
            </a:r>
            <a:endParaRPr sz="1400">
              <a:solidFill>
                <a:srgbClr val="000000"/>
              </a:solidFill>
            </a:endParaRPr>
          </a:p>
          <a:p>
            <a:pPr indent="-342900" lvl="0" marL="457200" rtl="0" algn="l">
              <a:lnSpc>
                <a:spcPct val="115000"/>
              </a:lnSpc>
              <a:spcBef>
                <a:spcPts val="600"/>
              </a:spcBef>
              <a:spcAft>
                <a:spcPts val="0"/>
              </a:spcAft>
              <a:buClr>
                <a:srgbClr val="000000"/>
              </a:buClr>
              <a:buSzPts val="1800"/>
              <a:buChar char="●"/>
            </a:pPr>
            <a:r>
              <a:rPr lang="en">
                <a:solidFill>
                  <a:srgbClr val="000000"/>
                </a:solidFill>
              </a:rPr>
              <a:t>To read a float</a:t>
            </a:r>
            <a:endParaRPr>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 plus sign/minus sign (Optional),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digits (possibly containing decimal point),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an exponent e/E (optional),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 plus/minus sign (Optional) and one or more digits</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Ordinary Characters in Format Strings</a:t>
            </a:r>
            <a:endParaRPr/>
          </a:p>
        </p:txBody>
      </p:sp>
      <p:sp>
        <p:nvSpPr>
          <p:cNvPr id="172" name="Google Shape;172;p18"/>
          <p:cNvSpPr txBox="1"/>
          <p:nvPr>
            <p:ph idx="1" type="body"/>
          </p:nvPr>
        </p:nvSpPr>
        <p:spPr>
          <a:xfrm>
            <a:off x="471900" y="17654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600"/>
              </a:spcBef>
              <a:spcAft>
                <a:spcPts val="0"/>
              </a:spcAft>
              <a:buClr>
                <a:srgbClr val="000000"/>
              </a:buClr>
              <a:buSzPts val="1800"/>
              <a:buChar char="●"/>
            </a:pPr>
            <a:r>
              <a:rPr lang="en">
                <a:solidFill>
                  <a:srgbClr val="000000"/>
                </a:solidFill>
              </a:rPr>
              <a:t>When </a:t>
            </a:r>
            <a:r>
              <a:rPr lang="en">
                <a:solidFill>
                  <a:srgbClr val="000000"/>
                </a:solidFill>
                <a:latin typeface="Verdana"/>
                <a:ea typeface="Verdana"/>
                <a:cs typeface="Verdana"/>
                <a:sym typeface="Verdana"/>
              </a:rPr>
              <a:t>scanf </a:t>
            </a:r>
            <a:r>
              <a:rPr lang="en">
                <a:solidFill>
                  <a:srgbClr val="000000"/>
                </a:solidFill>
              </a:rPr>
              <a:t>encounters a character that can’t be part of the current item, the character is “put back” to be read again during the scanning of the next input item or during the next call of </a:t>
            </a:r>
            <a:r>
              <a:rPr lang="en">
                <a:solidFill>
                  <a:srgbClr val="000000"/>
                </a:solidFill>
                <a:latin typeface="Verdana"/>
                <a:ea typeface="Verdana"/>
                <a:cs typeface="Verdana"/>
                <a:sym typeface="Verdana"/>
              </a:rPr>
              <a:t>scanf</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Font typeface="Verdana"/>
              <a:buChar char="●"/>
            </a:pPr>
            <a:r>
              <a:rPr lang="en">
                <a:solidFill>
                  <a:srgbClr val="000000"/>
                </a:solidFill>
              </a:rPr>
              <a:t>When it encounters one or more white-space characters in a format string, </a:t>
            </a:r>
            <a:r>
              <a:rPr lang="en">
                <a:solidFill>
                  <a:srgbClr val="000000"/>
                </a:solidFill>
                <a:latin typeface="Verdana"/>
                <a:ea typeface="Verdana"/>
                <a:cs typeface="Verdana"/>
                <a:sym typeface="Verdana"/>
              </a:rPr>
              <a:t>scanf </a:t>
            </a:r>
            <a:r>
              <a:rPr lang="en">
                <a:solidFill>
                  <a:srgbClr val="000000"/>
                </a:solidFill>
              </a:rPr>
              <a:t>reads white-space characters from the input until it reaches a non-white-space character (which is “put back”)</a:t>
            </a:r>
            <a:endParaRPr>
              <a:solidFill>
                <a:srgbClr val="000000"/>
              </a:solidFill>
              <a:latin typeface="Verdana"/>
              <a:ea typeface="Verdana"/>
              <a:cs typeface="Verdana"/>
              <a:sym typeface="Verdana"/>
            </a:endParaRPr>
          </a:p>
          <a:p>
            <a:pPr indent="0" lvl="0" marL="0" rtl="0" algn="l">
              <a:lnSpc>
                <a:spcPct val="115000"/>
              </a:lnSpc>
              <a:spcBef>
                <a:spcPts val="600"/>
              </a:spcBef>
              <a:spcAft>
                <a:spcPts val="0"/>
              </a:spcAft>
              <a:buSzPts val="1800"/>
              <a:buNone/>
            </a:pPr>
            <a:r>
              <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Ordinary Characters in Format Strings</a:t>
            </a:r>
            <a:endParaRPr/>
          </a:p>
        </p:txBody>
      </p:sp>
      <p:sp>
        <p:nvSpPr>
          <p:cNvPr id="178" name="Google Shape;178;p19"/>
          <p:cNvSpPr txBox="1"/>
          <p:nvPr>
            <p:ph idx="1" type="body"/>
          </p:nvPr>
        </p:nvSpPr>
        <p:spPr>
          <a:xfrm>
            <a:off x="401725" y="1706250"/>
            <a:ext cx="86790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700"/>
              </a:spcBef>
              <a:spcAft>
                <a:spcPts val="0"/>
              </a:spcAft>
              <a:buClr>
                <a:srgbClr val="000000"/>
              </a:buClr>
              <a:buSzPts val="1800"/>
              <a:buChar char="●"/>
            </a:pPr>
            <a:r>
              <a:rPr lang="en">
                <a:solidFill>
                  <a:srgbClr val="000000"/>
                </a:solidFill>
              </a:rPr>
              <a:t>When it encounters a non-white-space character in a format string, </a:t>
            </a:r>
            <a:r>
              <a:rPr lang="en">
                <a:solidFill>
                  <a:srgbClr val="000000"/>
                </a:solidFill>
                <a:latin typeface="Verdana"/>
                <a:ea typeface="Verdana"/>
                <a:cs typeface="Verdana"/>
                <a:sym typeface="Verdana"/>
              </a:rPr>
              <a:t>scanf </a:t>
            </a:r>
            <a:r>
              <a:rPr lang="en">
                <a:solidFill>
                  <a:srgbClr val="000000"/>
                </a:solidFill>
              </a:rPr>
              <a:t>compares it with the next input character</a:t>
            </a:r>
            <a:endParaRPr>
              <a:solidFill>
                <a:srgbClr val="000000"/>
              </a:solidFill>
            </a:endParaRPr>
          </a:p>
          <a:p>
            <a:pPr indent="45720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they match, scanf discards the input character and continues processing the format string</a:t>
            </a:r>
            <a:endParaRPr sz="1400">
              <a:solidFill>
                <a:srgbClr val="000000"/>
              </a:solidFill>
            </a:endParaRPr>
          </a:p>
          <a:p>
            <a:pPr indent="45720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they don’t match, scanf puts the offending character back into the input, then aborts</a:t>
            </a:r>
            <a:endParaRPr sz="1400">
              <a:solidFill>
                <a:srgbClr val="000000"/>
              </a:solidFill>
            </a:endParaRPr>
          </a:p>
          <a:p>
            <a:pPr indent="-342900" lvl="0" marL="457200" rtl="0" algn="l">
              <a:lnSpc>
                <a:spcPct val="115000"/>
              </a:lnSpc>
              <a:spcBef>
                <a:spcPts val="700"/>
              </a:spcBef>
              <a:spcAft>
                <a:spcPts val="0"/>
              </a:spcAft>
              <a:buClr>
                <a:srgbClr val="000000"/>
              </a:buClr>
              <a:buSzPts val="1800"/>
              <a:buChar char="●"/>
            </a:pPr>
            <a:r>
              <a:rPr lang="en">
                <a:solidFill>
                  <a:srgbClr val="000000"/>
                </a:solidFill>
              </a:rPr>
              <a:t>Examples:</a:t>
            </a:r>
            <a:endParaRPr>
              <a:solidFill>
                <a:srgbClr val="000000"/>
              </a:solidFill>
            </a:endParaRPr>
          </a:p>
          <a:p>
            <a:pPr indent="0" lvl="0" marL="9144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format string is "%d/%d" and the input is •5/•96, scanf succeeds</a:t>
            </a:r>
            <a:endParaRPr sz="1400">
              <a:solidFill>
                <a:srgbClr val="000000"/>
              </a:solidFill>
            </a:endParaRPr>
          </a:p>
          <a:p>
            <a:pPr indent="0" lvl="0" marL="9144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input is •5•/•96 , scanf fails, because the / in the format string doesn’t match the space in the input -&gt; Use “%d/%d” instead</a:t>
            </a:r>
            <a:endParaRPr sz="1400">
              <a:solidFill>
                <a:srgbClr val="000000"/>
              </a:solidFill>
            </a:endParaRPr>
          </a:p>
          <a:p>
            <a:pPr indent="0" lvl="0" marL="0" rtl="0" algn="l">
              <a:lnSpc>
                <a:spcPct val="115000"/>
              </a:lnSpc>
              <a:spcBef>
                <a:spcPts val="600"/>
              </a:spcBef>
              <a:spcAft>
                <a:spcPts val="0"/>
              </a:spcAft>
              <a:buSzPts val="1800"/>
              <a:buNone/>
            </a:pPr>
            <a:r>
              <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Confusing </a:t>
            </a:r>
            <a:r>
              <a:rPr i="1" lang="en" sz="2000">
                <a:latin typeface="Verdana"/>
                <a:ea typeface="Verdana"/>
                <a:cs typeface="Verdana"/>
                <a:sym typeface="Verdana"/>
              </a:rPr>
              <a:t>printf </a:t>
            </a:r>
            <a:r>
              <a:rPr i="1" lang="en" sz="2000"/>
              <a:t>with </a:t>
            </a:r>
            <a:r>
              <a:rPr i="1" lang="en" sz="2000">
                <a:latin typeface="Verdana"/>
                <a:ea typeface="Verdana"/>
                <a:cs typeface="Verdana"/>
                <a:sym typeface="Verdana"/>
              </a:rPr>
              <a:t>scanf</a:t>
            </a:r>
            <a:endParaRPr>
              <a:latin typeface="Verdana"/>
              <a:ea typeface="Verdana"/>
              <a:cs typeface="Verdana"/>
              <a:sym typeface="Verdana"/>
            </a:endParaRPr>
          </a:p>
        </p:txBody>
      </p:sp>
      <p:sp>
        <p:nvSpPr>
          <p:cNvPr id="184" name="Google Shape;184;p20"/>
          <p:cNvSpPr txBox="1"/>
          <p:nvPr>
            <p:ph idx="1" type="body"/>
          </p:nvPr>
        </p:nvSpPr>
        <p:spPr>
          <a:xfrm>
            <a:off x="409125" y="1669250"/>
            <a:ext cx="8679000" cy="29931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600"/>
              </a:spcBef>
              <a:spcAft>
                <a:spcPts val="0"/>
              </a:spcAft>
              <a:buClr>
                <a:srgbClr val="000000"/>
              </a:buClr>
              <a:buSzPts val="1400"/>
              <a:buChar char="●"/>
            </a:pPr>
            <a:r>
              <a:rPr lang="en">
                <a:solidFill>
                  <a:srgbClr val="E06666"/>
                </a:solidFill>
              </a:rPr>
              <a:t>Don’t use</a:t>
            </a:r>
            <a:r>
              <a:rPr lang="en">
                <a:solidFill>
                  <a:srgbClr val="000000"/>
                </a:solidFill>
              </a:rPr>
              <a:t> ampersand in </a:t>
            </a:r>
            <a:r>
              <a:rPr lang="en">
                <a:solidFill>
                  <a:srgbClr val="000000"/>
                </a:solidFill>
                <a:latin typeface="Verdana"/>
                <a:ea typeface="Verdana"/>
                <a:cs typeface="Verdana"/>
                <a:sym typeface="Verdana"/>
              </a:rPr>
              <a:t>printf</a:t>
            </a:r>
            <a:endParaRPr>
              <a:solidFill>
                <a:srgbClr val="000000"/>
              </a:solidFill>
              <a:latin typeface="Verdana"/>
              <a:ea typeface="Verdana"/>
              <a:cs typeface="Verdana"/>
              <a:sym typeface="Verdana"/>
            </a:endParaRPr>
          </a:p>
          <a:p>
            <a:pPr indent="-317500" lvl="1" marL="914400" rtl="0" algn="l">
              <a:lnSpc>
                <a:spcPct val="150000"/>
              </a:lnSpc>
              <a:spcBef>
                <a:spcPts val="0"/>
              </a:spcBef>
              <a:spcAft>
                <a:spcPts val="0"/>
              </a:spcAft>
              <a:buClr>
                <a:srgbClr val="000000"/>
              </a:buClr>
              <a:buSzPts val="1400"/>
              <a:buFont typeface="Verdana"/>
              <a:buChar char="○"/>
            </a:pPr>
            <a:r>
              <a:rPr lang="en">
                <a:solidFill>
                  <a:srgbClr val="000000"/>
                </a:solidFill>
                <a:latin typeface="Verdana"/>
                <a:ea typeface="Verdana"/>
                <a:cs typeface="Verdana"/>
                <a:sym typeface="Verdana"/>
              </a:rPr>
              <a:t>printf(“%d %d\n”, &amp;i,&amp;j);    </a:t>
            </a:r>
            <a:r>
              <a:rPr lang="en">
                <a:solidFill>
                  <a:srgbClr val="93C47D"/>
                </a:solidFill>
                <a:latin typeface="Verdana"/>
                <a:ea typeface="Verdana"/>
                <a:cs typeface="Verdana"/>
                <a:sym typeface="Verdana"/>
              </a:rPr>
              <a:t>// Wrong</a:t>
            </a:r>
            <a:endParaRPr>
              <a:solidFill>
                <a:srgbClr val="93C47D"/>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E06666"/>
                </a:solidFill>
              </a:rPr>
              <a:t>Don’t use</a:t>
            </a:r>
            <a:r>
              <a:rPr lang="en">
                <a:solidFill>
                  <a:srgbClr val="000000"/>
                </a:solidFill>
              </a:rPr>
              <a:t> ordinary characters unless it is necessary</a:t>
            </a:r>
            <a:endParaRPr>
              <a:solidFill>
                <a:srgbClr val="000000"/>
              </a:solidFill>
            </a:endParaRPr>
          </a:p>
          <a:p>
            <a:pPr indent="-317500" lvl="1" marL="914400" rtl="0" algn="l">
              <a:lnSpc>
                <a:spcPct val="150000"/>
              </a:lnSpc>
              <a:spcBef>
                <a:spcPts val="0"/>
              </a:spcBef>
              <a:spcAft>
                <a:spcPts val="0"/>
              </a:spcAft>
              <a:buClr>
                <a:srgbClr val="000000"/>
              </a:buClr>
              <a:buSzPts val="1400"/>
              <a:buFont typeface="Verdana"/>
              <a:buChar char="○"/>
            </a:pPr>
            <a:r>
              <a:rPr lang="en">
                <a:solidFill>
                  <a:srgbClr val="000000"/>
                </a:solidFill>
                <a:latin typeface="Verdana"/>
                <a:ea typeface="Verdana"/>
                <a:cs typeface="Verdana"/>
                <a:sym typeface="Verdana"/>
              </a:rPr>
              <a:t>scanf(“%d, %d”, &amp;i, &amp;j);   </a:t>
            </a:r>
            <a:r>
              <a:rPr lang="en">
                <a:solidFill>
                  <a:srgbClr val="93C47D"/>
                </a:solidFill>
                <a:latin typeface="Verdana"/>
                <a:ea typeface="Verdana"/>
                <a:cs typeface="Verdana"/>
                <a:sym typeface="Verdana"/>
              </a:rPr>
              <a:t>// Not wrong, but be careful</a:t>
            </a:r>
            <a:endParaRPr>
              <a:solidFill>
                <a:srgbClr val="93C47D"/>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Putting a new-line character at the end of a </a:t>
            </a:r>
            <a:r>
              <a:rPr lang="en">
                <a:solidFill>
                  <a:srgbClr val="000000"/>
                </a:solidFill>
                <a:latin typeface="Verdana"/>
                <a:ea typeface="Verdana"/>
                <a:cs typeface="Verdana"/>
                <a:sym typeface="Verdana"/>
              </a:rPr>
              <a:t>scanf </a:t>
            </a:r>
            <a:r>
              <a:rPr lang="en">
                <a:solidFill>
                  <a:srgbClr val="000000"/>
                </a:solidFill>
              </a:rPr>
              <a:t>format string is usually a bad idea</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If the format string is </a:t>
            </a:r>
            <a:r>
              <a:rPr lang="en">
                <a:solidFill>
                  <a:srgbClr val="000000"/>
                </a:solidFill>
                <a:latin typeface="Verdana"/>
                <a:ea typeface="Verdana"/>
                <a:cs typeface="Verdana"/>
                <a:sym typeface="Verdana"/>
              </a:rPr>
              <a:t>"%d\n"</a:t>
            </a:r>
            <a:r>
              <a:rPr lang="en">
                <a:solidFill>
                  <a:srgbClr val="000000"/>
                </a:solidFill>
              </a:rPr>
              <a:t>, </a:t>
            </a:r>
            <a:r>
              <a:rPr lang="en">
                <a:solidFill>
                  <a:srgbClr val="000000"/>
                </a:solidFill>
                <a:latin typeface="Verdana"/>
                <a:ea typeface="Verdana"/>
                <a:cs typeface="Verdana"/>
                <a:sym typeface="Verdana"/>
              </a:rPr>
              <a:t>scanf</a:t>
            </a:r>
            <a:r>
              <a:rPr lang="en">
                <a:solidFill>
                  <a:srgbClr val="000000"/>
                </a:solidFill>
              </a:rPr>
              <a:t> will skip white space, read an integer, then skip to next </a:t>
            </a:r>
            <a:r>
              <a:rPr i="1" lang="en">
                <a:solidFill>
                  <a:srgbClr val="000000"/>
                </a:solidFill>
              </a:rPr>
              <a:t>non-white-space</a:t>
            </a:r>
            <a:r>
              <a:rPr lang="en">
                <a:solidFill>
                  <a:srgbClr val="000000"/>
                </a:solidFill>
              </a:rPr>
              <a:t> character  -&gt; cause interactive programs to </a:t>
            </a:r>
            <a:r>
              <a:rPr b="1" i="1" lang="en">
                <a:solidFill>
                  <a:srgbClr val="000000"/>
                </a:solidFill>
              </a:rPr>
              <a:t>hang</a:t>
            </a:r>
            <a:endParaRPr b="1" i="1">
              <a:solidFill>
                <a:srgbClr val="000000"/>
              </a:solidFill>
            </a:endParaRPr>
          </a:p>
          <a:p>
            <a:pPr indent="0" lvl="0" marL="0" rtl="0" algn="l">
              <a:lnSpc>
                <a:spcPct val="150000"/>
              </a:lnSpc>
              <a:spcBef>
                <a:spcPts val="600"/>
              </a:spcBef>
              <a:spcAft>
                <a:spcPts val="0"/>
              </a:spcAft>
              <a:buSzPts val="1800"/>
              <a:buNone/>
            </a:pPr>
            <a:r>
              <a:t/>
            </a:r>
            <a:endParaRPr sz="1400">
              <a:solidFill>
                <a:srgbClr val="000000"/>
              </a:solidFill>
            </a:endParaRPr>
          </a:p>
          <a:p>
            <a:pPr indent="457200" lvl="0" marL="0" rtl="0" algn="l">
              <a:lnSpc>
                <a:spcPct val="150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15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Confusing </a:t>
            </a:r>
            <a:r>
              <a:rPr i="1" lang="en" sz="2000">
                <a:latin typeface="Verdana"/>
                <a:ea typeface="Verdana"/>
                <a:cs typeface="Verdana"/>
                <a:sym typeface="Verdana"/>
              </a:rPr>
              <a:t>printf </a:t>
            </a:r>
            <a:r>
              <a:rPr i="1" lang="en" sz="2000"/>
              <a:t>with </a:t>
            </a:r>
            <a:r>
              <a:rPr i="1" lang="en" sz="2000">
                <a:latin typeface="Verdana"/>
                <a:ea typeface="Verdana"/>
                <a:cs typeface="Verdana"/>
                <a:sym typeface="Verdana"/>
              </a:rPr>
              <a:t>scanf</a:t>
            </a:r>
            <a:endParaRPr>
              <a:latin typeface="Verdana"/>
              <a:ea typeface="Verdana"/>
              <a:cs typeface="Verdana"/>
              <a:sym typeface="Verdana"/>
            </a:endParaRPr>
          </a:p>
        </p:txBody>
      </p:sp>
      <p:sp>
        <p:nvSpPr>
          <p:cNvPr id="190" name="Google Shape;190;p21"/>
          <p:cNvSpPr txBox="1"/>
          <p:nvPr>
            <p:ph idx="1" type="body"/>
          </p:nvPr>
        </p:nvSpPr>
        <p:spPr>
          <a:xfrm>
            <a:off x="401725" y="1706250"/>
            <a:ext cx="86790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600"/>
              </a:spcBef>
              <a:spcAft>
                <a:spcPts val="0"/>
              </a:spcAft>
              <a:buClr>
                <a:srgbClr val="000000"/>
              </a:buClr>
              <a:buSzPts val="1800"/>
              <a:buChar char="●"/>
            </a:pPr>
            <a:r>
              <a:rPr lang="en">
                <a:solidFill>
                  <a:srgbClr val="000000"/>
                </a:solidFill>
              </a:rPr>
              <a:t>Consider a C program that prompts the user to enter two fractions and then displays their sum</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Fractions are customarily denoted as: </a:t>
            </a:r>
            <a:r>
              <a:rPr i="1" lang="en">
                <a:solidFill>
                  <a:srgbClr val="000000"/>
                </a:solidFill>
                <a:latin typeface="Verdana"/>
                <a:ea typeface="Verdana"/>
                <a:cs typeface="Verdana"/>
                <a:sym typeface="Verdana"/>
              </a:rPr>
              <a:t>numerator/denominator</a:t>
            </a:r>
            <a:endParaRPr i="1">
              <a:solidFill>
                <a:srgbClr val="000000"/>
              </a:solidFill>
              <a:latin typeface="Verdana"/>
              <a:ea typeface="Verdana"/>
              <a:cs typeface="Verdana"/>
              <a:sym typeface="Verdana"/>
            </a:endParaRPr>
          </a:p>
          <a:p>
            <a:pPr indent="0" lvl="0" marL="457200" rtl="0" algn="l">
              <a:lnSpc>
                <a:spcPct val="115000"/>
              </a:lnSpc>
              <a:spcBef>
                <a:spcPts val="700"/>
              </a:spcBef>
              <a:spcAft>
                <a:spcPts val="0"/>
              </a:spcAft>
              <a:buSzPts val="1800"/>
              <a:buNone/>
            </a:pPr>
            <a:r>
              <a:rPr lang="en" u="sng">
                <a:solidFill>
                  <a:srgbClr val="000000"/>
                </a:solidFill>
              </a:rPr>
              <a:t>Sample program output:</a:t>
            </a:r>
            <a:endParaRPr u="sng">
              <a:solidFill>
                <a:srgbClr val="000000"/>
              </a:solidFill>
            </a:endParaRPr>
          </a:p>
          <a:p>
            <a:pPr indent="0" lvl="0" marL="457200" rtl="0" algn="l">
              <a:lnSpc>
                <a:spcPct val="80000"/>
              </a:lnSpc>
              <a:spcBef>
                <a:spcPts val="1200"/>
              </a:spcBef>
              <a:spcAft>
                <a:spcPts val="0"/>
              </a:spcAft>
              <a:buSzPts val="1800"/>
              <a:buNone/>
            </a:pPr>
            <a:r>
              <a:rPr lang="en" sz="1400">
                <a:solidFill>
                  <a:srgbClr val="000000"/>
                </a:solidFill>
                <a:latin typeface="Verdana"/>
                <a:ea typeface="Verdana"/>
                <a:cs typeface="Verdana"/>
                <a:sym typeface="Verdana"/>
              </a:rPr>
              <a:t>Enter first fraction: 5/6</a:t>
            </a:r>
            <a:endParaRPr sz="1400">
              <a:solidFill>
                <a:srgbClr val="000000"/>
              </a:solidFill>
              <a:latin typeface="Verdana"/>
              <a:ea typeface="Verdana"/>
              <a:cs typeface="Verdana"/>
              <a:sym typeface="Verdana"/>
            </a:endParaRPr>
          </a:p>
          <a:p>
            <a:pPr indent="0" lvl="0" marL="45720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Enter second fraction: 3/4</a:t>
            </a:r>
            <a:endParaRPr sz="1400">
              <a:solidFill>
                <a:srgbClr val="000000"/>
              </a:solidFill>
              <a:latin typeface="Verdana"/>
              <a:ea typeface="Verdana"/>
              <a:cs typeface="Verdana"/>
              <a:sym typeface="Verdana"/>
            </a:endParaRPr>
          </a:p>
          <a:p>
            <a:pPr indent="0" lvl="0" marL="45720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The sum is 38/24</a:t>
            </a:r>
            <a:endParaRPr sz="1400">
              <a:solidFill>
                <a:srgbClr val="E06666"/>
              </a:solidFill>
              <a:latin typeface="Verdana"/>
              <a:ea typeface="Verdana"/>
              <a:cs typeface="Verdana"/>
              <a:sym typeface="Verdana"/>
            </a:endParaRPr>
          </a:p>
          <a:p>
            <a:pPr indent="0" lvl="0" marL="0" rtl="0" algn="l">
              <a:lnSpc>
                <a:spcPct val="150000"/>
              </a:lnSpc>
              <a:spcBef>
                <a:spcPts val="600"/>
              </a:spcBef>
              <a:spcAft>
                <a:spcPts val="0"/>
              </a:spcAft>
              <a:buSzPts val="1800"/>
              <a:buNone/>
            </a:pPr>
            <a:r>
              <a:t/>
            </a:r>
            <a:endParaRPr sz="1400">
              <a:solidFill>
                <a:srgbClr val="000000"/>
              </a:solidFill>
            </a:endParaRPr>
          </a:p>
          <a:p>
            <a:pPr indent="457200" lvl="0" marL="0" rtl="0" algn="l">
              <a:lnSpc>
                <a:spcPct val="150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15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