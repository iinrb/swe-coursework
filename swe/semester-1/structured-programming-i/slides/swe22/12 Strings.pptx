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</p:sldIdLst>
  <p:sldSz cy="5143500" cx="9144000"/>
  <p:notesSz cx="6858000" cy="9144000"/>
  <p:embeddedFontLst>
    <p:embeddedFont>
      <p:font typeface="Roboto"/>
      <p:regular r:id="rId58"/>
      <p:bold r:id="rId59"/>
      <p:italic r:id="rId60"/>
      <p:boldItalic r:id="rId6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62" roundtripDataSignature="AMtx7mgpwz+V8U8Q27xmfLyImu63hYXjx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FC9DE2E-A9FC-4DCD-AA13-BA0BA957BB1B}">
  <a:tblStyle styleId="{AFC9DE2E-A9FC-4DCD-AA13-BA0BA957BB1B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customschemas.google.com/relationships/presentationmetadata" Target="metadata"/><Relationship Id="rId61" Type="http://schemas.openxmlformats.org/officeDocument/2006/relationships/font" Target="fonts/Roboto-boldItalic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font" Target="fonts/Roboto-italic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font" Target="fonts/Roboto-bold.fntdata"/><Relationship Id="rId14" Type="http://schemas.openxmlformats.org/officeDocument/2006/relationships/slide" Target="slides/slide8.xml"/><Relationship Id="rId58" Type="http://schemas.openxmlformats.org/officeDocument/2006/relationships/font" Target="fonts/Roboto-regular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" name="Google Shape;270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" name="Google Shape;276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2" name="Google Shape;282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6" name="Google Shape;296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2" name="Google Shape;302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" name="Google Shape;308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4" name="Google Shape;314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0" name="Google Shape;320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7" name="Google Shape;327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3" name="Google Shape;333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4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0" name="Google Shape;340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6" name="Google Shape;346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4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2" name="Google Shape;352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4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8" name="Google Shape;358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4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4" name="Google Shape;364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5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0" name="Google Shape;370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5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6" name="Google Shape;376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3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53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7843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53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53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5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5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5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9" name="Google Shape;19;p5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5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5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3" name="Google Shape;23;p5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6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56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5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6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6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7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57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57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5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8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58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58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58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5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9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5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0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60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6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60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60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6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61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61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61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6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62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62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6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6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52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5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"/>
          <p:cNvSpPr txBox="1"/>
          <p:nvPr>
            <p:ph type="ctrTitle"/>
          </p:nvPr>
        </p:nvSpPr>
        <p:spPr>
          <a:xfrm>
            <a:off x="390525" y="1819275"/>
            <a:ext cx="84831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Lesson: Strings</a:t>
            </a:r>
            <a:endParaRPr/>
          </a:p>
        </p:txBody>
      </p:sp>
      <p:sp>
        <p:nvSpPr>
          <p:cNvPr id="68" name="Google Shape;68;p1"/>
          <p:cNvSpPr txBox="1"/>
          <p:nvPr>
            <p:ph idx="1" type="subTitle"/>
          </p:nvPr>
        </p:nvSpPr>
        <p:spPr>
          <a:xfrm>
            <a:off x="390525" y="2789124"/>
            <a:ext cx="8222100" cy="7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CSE 4107 : Structured Programming I 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Shahriar Ivan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Strings are arrays of characters in which a special character—the null character—marks the end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C library provides a collection of functions for working with strings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 </a:t>
            </a:r>
            <a:r>
              <a:rPr b="1" i="1" lang="en">
                <a:solidFill>
                  <a:srgbClr val="000000"/>
                </a:solidFill>
              </a:rPr>
              <a:t>string</a:t>
            </a:r>
            <a:r>
              <a:rPr lang="en">
                <a:solidFill>
                  <a:srgbClr val="000000"/>
                </a:solidFill>
              </a:rPr>
              <a:t> </a:t>
            </a:r>
            <a:r>
              <a:rPr b="1" i="1" lang="en">
                <a:solidFill>
                  <a:srgbClr val="000000"/>
                </a:solidFill>
              </a:rPr>
              <a:t>literal</a:t>
            </a:r>
            <a:r>
              <a:rPr lang="en">
                <a:solidFill>
                  <a:srgbClr val="000000"/>
                </a:solidFill>
              </a:rPr>
              <a:t> is a sequence of characters enclosed within double quotes:</a:t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rgbClr val="E69138"/>
                </a:solidFill>
                <a:latin typeface="Courier New"/>
                <a:ea typeface="Courier New"/>
                <a:cs typeface="Courier New"/>
                <a:sym typeface="Courier New"/>
              </a:rPr>
              <a:t>"When you come to a fork in the road, take it"</a:t>
            </a:r>
            <a:endParaRPr b="1" sz="1600">
              <a:solidFill>
                <a:srgbClr val="E6913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String literals may contain escape sequences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Character escapes often appear in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lang="en">
                <a:solidFill>
                  <a:srgbClr val="000000"/>
                </a:solidFill>
              </a:rPr>
              <a:t> and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scanf</a:t>
            </a:r>
            <a:r>
              <a:rPr lang="en">
                <a:solidFill>
                  <a:srgbClr val="000000"/>
                </a:solidFill>
              </a:rPr>
              <a:t> format strings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74" name="Google Shape;74;p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Introduction</a:t>
            </a:r>
            <a:br>
              <a:rPr lang="en"/>
            </a:br>
            <a:r>
              <a:rPr i="1" lang="en" sz="2000"/>
              <a:t>String Literals</a:t>
            </a:r>
            <a:endParaRPr i="1"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For example, each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\n</a:t>
            </a:r>
            <a:r>
              <a:rPr lang="en">
                <a:solidFill>
                  <a:srgbClr val="000000"/>
                </a:solidFill>
              </a:rPr>
              <a:t> character in the string</a:t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rgbClr val="E69138"/>
                </a:solidFill>
                <a:latin typeface="Courier New"/>
                <a:ea typeface="Courier New"/>
                <a:cs typeface="Courier New"/>
                <a:sym typeface="Courier New"/>
              </a:rPr>
              <a:t>"Candy\nIs dandy\nBut liquor\nIs quicker.\n  --Ogden Nash\n"</a:t>
            </a:r>
            <a:endParaRPr b="1" sz="1600">
              <a:solidFill>
                <a:srgbClr val="E6913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 Causes the cursor to advance to the next line:</a:t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rgbClr val="E69138"/>
                </a:solidFill>
                <a:latin typeface="Courier New"/>
                <a:ea typeface="Courier New"/>
                <a:cs typeface="Courier New"/>
                <a:sym typeface="Courier New"/>
              </a:rPr>
              <a:t>Candy</a:t>
            </a:r>
            <a:endParaRPr b="1" sz="1600">
              <a:solidFill>
                <a:srgbClr val="E6913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rgbClr val="E69138"/>
                </a:solidFill>
                <a:latin typeface="Courier New"/>
                <a:ea typeface="Courier New"/>
                <a:cs typeface="Courier New"/>
                <a:sym typeface="Courier New"/>
              </a:rPr>
              <a:t>  	Is dandy</a:t>
            </a:r>
            <a:endParaRPr b="1" sz="1600">
              <a:solidFill>
                <a:srgbClr val="E6913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rgbClr val="E69138"/>
                </a:solidFill>
                <a:latin typeface="Courier New"/>
                <a:ea typeface="Courier New"/>
                <a:cs typeface="Courier New"/>
                <a:sym typeface="Courier New"/>
              </a:rPr>
              <a:t>  	But liquor</a:t>
            </a:r>
            <a:endParaRPr b="1" sz="1600">
              <a:solidFill>
                <a:srgbClr val="E6913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rgbClr val="E69138"/>
                </a:solidFill>
                <a:latin typeface="Courier New"/>
                <a:ea typeface="Courier New"/>
                <a:cs typeface="Courier New"/>
                <a:sym typeface="Courier New"/>
              </a:rPr>
              <a:t>  	Is quicker.ww</a:t>
            </a:r>
            <a:endParaRPr b="1" sz="1600">
              <a:solidFill>
                <a:srgbClr val="E6913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rgbClr val="E69138"/>
                </a:solidFill>
                <a:latin typeface="Courier New"/>
                <a:ea typeface="Courier New"/>
                <a:cs typeface="Courier New"/>
                <a:sym typeface="Courier New"/>
              </a:rPr>
              <a:t>    	--Ogden Nash</a:t>
            </a:r>
            <a:endParaRPr b="1" sz="1600">
              <a:solidFill>
                <a:srgbClr val="E6913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Be </a:t>
            </a:r>
            <a:r>
              <a:rPr lang="en" sz="1400">
                <a:solidFill>
                  <a:srgbClr val="E06666"/>
                </a:solidFill>
              </a:rPr>
              <a:t>careful</a:t>
            </a:r>
            <a:r>
              <a:rPr lang="en" sz="1400">
                <a:solidFill>
                  <a:srgbClr val="000000"/>
                </a:solidFill>
              </a:rPr>
              <a:t> about octal and hexadecimal escape sequences ⇒ Counted as one character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80" name="Google Shape;80;p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Introduction</a:t>
            </a:r>
            <a:br>
              <a:rPr lang="en"/>
            </a:br>
            <a:r>
              <a:rPr i="1" lang="en" sz="2000"/>
              <a:t>String Literals</a:t>
            </a:r>
            <a:endParaRPr i="1"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backslash character (\) can be used to continue a string literal from one line to the next:</a:t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" sz="14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"When you come to a fork in the road, take it.  \</a:t>
            </a:r>
            <a:endParaRPr sz="1400">
              <a:solidFill>
                <a:srgbClr val="E69138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  	--Yogi Berra"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In general, the \ character can be used to join two or more lines of a program into a single line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86" name="Google Shape;86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String Literals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Counting a String Literal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There’s a </a:t>
            </a:r>
            <a:r>
              <a:rPr lang="en">
                <a:solidFill>
                  <a:srgbClr val="6D9EEB"/>
                </a:solidFill>
              </a:rPr>
              <a:t>better</a:t>
            </a:r>
            <a:r>
              <a:rPr lang="en">
                <a:solidFill>
                  <a:srgbClr val="000000"/>
                </a:solidFill>
              </a:rPr>
              <a:t> way to deal with long string literals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When two or more string literals are adjacent, the compiler will join them into a single string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This rule allows us to split a string literal over two or more lines: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" sz="14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"When you come to a fork in the road, take it.  "</a:t>
            </a:r>
            <a:endParaRPr sz="1400">
              <a:solidFill>
                <a:srgbClr val="E69138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           "--Yogi Berra"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92" name="Google Shape;92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String Literals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Counting a String Literal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6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i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(n+1)</a:t>
            </a:r>
            <a:r>
              <a:rPr lang="en">
                <a:solidFill>
                  <a:srgbClr val="000000"/>
                </a:solidFill>
              </a:rPr>
              <a:t> byte allocated for </a:t>
            </a:r>
            <a:r>
              <a:rPr i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n</a:t>
            </a:r>
            <a:r>
              <a:rPr lang="en">
                <a:solidFill>
                  <a:srgbClr val="000000"/>
                </a:solidFill>
              </a:rPr>
              <a:t> length string 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1 extra byte is used for </a:t>
            </a:r>
            <a:r>
              <a:rPr b="1" i="1" lang="en">
                <a:solidFill>
                  <a:srgbClr val="000000"/>
                </a:solidFill>
              </a:rPr>
              <a:t>null character</a:t>
            </a:r>
            <a:r>
              <a:rPr lang="en">
                <a:solidFill>
                  <a:srgbClr val="000000"/>
                </a:solidFill>
              </a:rPr>
              <a:t> ⇒ Denoting the end of string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Null Character (\0) ⇒ a byte whose bits are all zeros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string literal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"abc"</a:t>
            </a:r>
            <a:r>
              <a:rPr lang="en">
                <a:solidFill>
                  <a:srgbClr val="000000"/>
                </a:solidFill>
              </a:rPr>
              <a:t> is stored as an array of four characters: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string " " is stored as a single null character: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98" name="Google Shape;98;p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String Literals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How String Literals Are Stored</a:t>
            </a:r>
            <a:endParaRPr/>
          </a:p>
        </p:txBody>
      </p:sp>
      <p:pic>
        <p:nvPicPr>
          <p:cNvPr id="99" name="Google Shape;9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86325" y="3615950"/>
            <a:ext cx="1400132" cy="43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2000" y="4437425"/>
            <a:ext cx="440306" cy="43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7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Since a string literal is stored as an array, the compiler treats it as a pointer of type </a:t>
            </a:r>
            <a:r>
              <a:rPr i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char *</a:t>
            </a:r>
            <a:endParaRPr i="1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Both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lang="en">
                <a:solidFill>
                  <a:srgbClr val="000000"/>
                </a:solidFill>
              </a:rPr>
              <a:t> and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scanf</a:t>
            </a:r>
            <a:r>
              <a:rPr lang="en">
                <a:solidFill>
                  <a:srgbClr val="000000"/>
                </a:solidFill>
              </a:rPr>
              <a:t> expect a value of type </a:t>
            </a:r>
            <a:r>
              <a:rPr i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char *</a:t>
            </a:r>
            <a:r>
              <a:rPr lang="en">
                <a:solidFill>
                  <a:srgbClr val="000000"/>
                </a:solidFill>
              </a:rPr>
              <a:t> as their first argument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following call of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lang="en">
                <a:solidFill>
                  <a:srgbClr val="000000"/>
                </a:solidFill>
              </a:rPr>
              <a:t> passes the address of </a:t>
            </a:r>
            <a:r>
              <a:rPr i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"abc"</a:t>
            </a:r>
            <a:r>
              <a:rPr lang="en">
                <a:solidFill>
                  <a:srgbClr val="000000"/>
                </a:solidFill>
              </a:rPr>
              <a:t> (a pointer to where the letter a is stored in memory): {</a:t>
            </a:r>
            <a:r>
              <a:rPr lang="en">
                <a:solidFill>
                  <a:srgbClr val="E06666"/>
                </a:solidFill>
              </a:rPr>
              <a:t>Not same</a:t>
            </a:r>
            <a:r>
              <a:rPr lang="en">
                <a:solidFill>
                  <a:srgbClr val="000000"/>
                </a:solidFill>
              </a:rPr>
              <a:t> as character constants}</a:t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" sz="14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"abc"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); 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" sz="14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"\n"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); 	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// Legal ⇒ Pointer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" sz="14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‘\n’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);	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// WRONG ⇒ an integer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06" name="Google Shape;106;p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String Literals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How String Literals Are Stored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8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String literals can be subscripted:</a:t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char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ch, *p = "abc";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ch = "abc"[1]; 	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// subscripted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114300" lvl="0" marL="8001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The new value of ch will be the letter b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 function that converts a number between 0 and 15 into the equivalent hex digit:</a:t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char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digit_to_hex_char(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digit){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return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"0123456789ABCDEF"[digit];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}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12" name="Google Shape;112;p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String Literals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Operations on String Literals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9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Attempting to modify a string literal causes </a:t>
            </a:r>
            <a:r>
              <a:rPr lang="en">
                <a:solidFill>
                  <a:srgbClr val="E06666"/>
                </a:solidFill>
              </a:rPr>
              <a:t>undefined</a:t>
            </a:r>
            <a:r>
              <a:rPr lang="en">
                <a:solidFill>
                  <a:srgbClr val="000000"/>
                </a:solidFill>
              </a:rPr>
              <a:t> behavior:</a:t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char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*p = "abc";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*p = 'd';   	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/*** WRONG ***/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 program that tries to change a string literal may </a:t>
            </a:r>
            <a:r>
              <a:rPr lang="en">
                <a:solidFill>
                  <a:srgbClr val="E06666"/>
                </a:solidFill>
              </a:rPr>
              <a:t>crash</a:t>
            </a:r>
            <a:r>
              <a:rPr lang="en">
                <a:solidFill>
                  <a:srgbClr val="000000"/>
                </a:solidFill>
              </a:rPr>
              <a:t> or </a:t>
            </a:r>
            <a:r>
              <a:rPr lang="en">
                <a:solidFill>
                  <a:srgbClr val="E06666"/>
                </a:solidFill>
              </a:rPr>
              <a:t>behave erratically</a:t>
            </a:r>
            <a:endParaRPr>
              <a:solidFill>
                <a:srgbClr val="E06666"/>
              </a:solidFill>
            </a:endParaRPr>
          </a:p>
          <a:p>
            <a:pPr indent="0" lvl="0" marL="8001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18" name="Google Shape;118;p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String Literals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Operations on String Literals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0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Any </a:t>
            </a:r>
            <a:r>
              <a:rPr i="1" lang="en">
                <a:solidFill>
                  <a:srgbClr val="000000"/>
                </a:solidFill>
              </a:rPr>
              <a:t>one-dimensional</a:t>
            </a:r>
            <a:r>
              <a:rPr lang="en">
                <a:solidFill>
                  <a:srgbClr val="000000"/>
                </a:solidFill>
              </a:rPr>
              <a:t> array of characters can be used to store a string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 string must be terminated by a </a:t>
            </a:r>
            <a:r>
              <a:rPr b="1" i="1" lang="en">
                <a:solidFill>
                  <a:srgbClr val="000000"/>
                </a:solidFill>
              </a:rPr>
              <a:t>null character</a:t>
            </a:r>
            <a:endParaRPr b="1" i="1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E06666"/>
                </a:solidFill>
              </a:rPr>
              <a:t>Difficulties</a:t>
            </a:r>
            <a:r>
              <a:rPr lang="en">
                <a:solidFill>
                  <a:srgbClr val="000000"/>
                </a:solidFill>
              </a:rPr>
              <a:t> with this approach: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</a:t>
            </a:r>
            <a:r>
              <a:rPr lang="en" sz="1400">
                <a:solidFill>
                  <a:srgbClr val="000000"/>
                </a:solidFill>
              </a:rPr>
              <a:t>	It can be hard to tell whether an array of characters is being used as a string</a:t>
            </a:r>
            <a:endParaRPr sz="14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</a:t>
            </a:r>
            <a:r>
              <a:rPr lang="en" sz="1400">
                <a:solidFill>
                  <a:srgbClr val="000000"/>
                </a:solidFill>
              </a:rPr>
              <a:t>	String-handling functions must be careful to deal properly with the null character</a:t>
            </a:r>
            <a:endParaRPr sz="14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</a:t>
            </a:r>
            <a:r>
              <a:rPr lang="en" sz="1400">
                <a:solidFill>
                  <a:srgbClr val="000000"/>
                </a:solidFill>
              </a:rPr>
              <a:t>	Finding the length of a string requires searching for the null character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24" name="Google Shape;124;p1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String Variables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1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If a string variable holds 80 characters, it must be declared to have length 81: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#define STR_LEN 80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…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char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str[STR_LEN+1];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Adding 1 to the desired length allows room for the </a:t>
            </a:r>
            <a:r>
              <a:rPr b="1" i="1" lang="en">
                <a:solidFill>
                  <a:srgbClr val="000000"/>
                </a:solidFill>
              </a:rPr>
              <a:t>null character</a:t>
            </a:r>
            <a:r>
              <a:rPr lang="en">
                <a:solidFill>
                  <a:srgbClr val="000000"/>
                </a:solidFill>
              </a:rPr>
              <a:t> at the end of the string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Defining a </a:t>
            </a:r>
            <a:r>
              <a:rPr i="1" lang="en">
                <a:solidFill>
                  <a:srgbClr val="000000"/>
                </a:solidFill>
              </a:rPr>
              <a:t>macro</a:t>
            </a:r>
            <a:r>
              <a:rPr lang="en">
                <a:solidFill>
                  <a:srgbClr val="000000"/>
                </a:solidFill>
              </a:rPr>
              <a:t> that represents 80 and then adding 1 separately is a common practice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30" name="Google Shape;130;p1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String Variables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2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 string variable can be initialized at the same time it’s declared:</a:t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char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pun1[9] = "pie rate"; 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Compiler automatically adds null character at the end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Filled with extra null characters at the end if the input character size is less</a:t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char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pun2[10] = "peas out";</a:t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36" name="Google Shape;136;p1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String Variables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Initializing a String Variable</a:t>
            </a:r>
            <a:endParaRPr/>
          </a:p>
        </p:txBody>
      </p:sp>
      <p:graphicFrame>
        <p:nvGraphicFramePr>
          <p:cNvPr id="137" name="Google Shape;137;p12"/>
          <p:cNvGraphicFramePr/>
          <p:nvPr/>
        </p:nvGraphicFramePr>
        <p:xfrm>
          <a:off x="1595325" y="2729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{AFC9DE2E-A9FC-4DCD-AA13-BA0BA957BB1B}</a:tableStyleId>
              </a:tblPr>
              <a:tblGrid>
                <a:gridCol w="484050"/>
                <a:gridCol w="484050"/>
                <a:gridCol w="484050"/>
                <a:gridCol w="484050"/>
                <a:gridCol w="484050"/>
                <a:gridCol w="484050"/>
                <a:gridCol w="484050"/>
                <a:gridCol w="484050"/>
                <a:gridCol w="484050"/>
              </a:tblGrid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p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i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e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r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t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e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\0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8" name="Google Shape;138;p12"/>
          <p:cNvGraphicFramePr/>
          <p:nvPr/>
        </p:nvGraphicFramePr>
        <p:xfrm>
          <a:off x="1503500" y="453188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{AFC9DE2E-A9FC-4DCD-AA13-BA0BA957BB1B}</a:tableStyleId>
              </a:tblPr>
              <a:tblGrid>
                <a:gridCol w="435650"/>
                <a:gridCol w="435650"/>
                <a:gridCol w="435650"/>
                <a:gridCol w="435650"/>
                <a:gridCol w="435650"/>
                <a:gridCol w="435650"/>
                <a:gridCol w="435650"/>
                <a:gridCol w="435650"/>
                <a:gridCol w="435650"/>
                <a:gridCol w="435650"/>
              </a:tblGrid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p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e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s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o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u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t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\0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\0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3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Initializer cannot be longer than the variable, but can be the same length</a:t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char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pun1[8] = "pie rate"; 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Compiler automatically computes the length if its omitted 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Particularly useful if the initializer is long</a:t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char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pun2[] = "peas out";</a:t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44" name="Google Shape;144;p1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String Variables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Initializing a String Variable</a:t>
            </a:r>
            <a:endParaRPr/>
          </a:p>
        </p:txBody>
      </p:sp>
      <p:graphicFrame>
        <p:nvGraphicFramePr>
          <p:cNvPr id="145" name="Google Shape;145;p13"/>
          <p:cNvGraphicFramePr/>
          <p:nvPr/>
        </p:nvGraphicFramePr>
        <p:xfrm>
          <a:off x="1595325" y="2729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{AFC9DE2E-A9FC-4DCD-AA13-BA0BA957BB1B}</a:tableStyleId>
              </a:tblPr>
              <a:tblGrid>
                <a:gridCol w="484050"/>
                <a:gridCol w="484050"/>
                <a:gridCol w="484050"/>
                <a:gridCol w="484050"/>
                <a:gridCol w="484050"/>
                <a:gridCol w="484050"/>
                <a:gridCol w="484050"/>
                <a:gridCol w="484050"/>
              </a:tblGrid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p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i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e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r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t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e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6" name="Google Shape;146;p13"/>
          <p:cNvGraphicFramePr/>
          <p:nvPr/>
        </p:nvGraphicFramePr>
        <p:xfrm>
          <a:off x="1503500" y="453188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{AFC9DE2E-A9FC-4DCD-AA13-BA0BA957BB1B}</a:tableStyleId>
              </a:tblPr>
              <a:tblGrid>
                <a:gridCol w="435650"/>
                <a:gridCol w="435650"/>
                <a:gridCol w="435650"/>
                <a:gridCol w="435650"/>
                <a:gridCol w="435650"/>
                <a:gridCol w="435650"/>
                <a:gridCol w="435650"/>
                <a:gridCol w="435650"/>
              </a:tblGrid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p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e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s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o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u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t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4"/>
          <p:cNvSpPr txBox="1"/>
          <p:nvPr>
            <p:ph idx="1" type="body"/>
          </p:nvPr>
        </p:nvSpPr>
        <p:spPr>
          <a:xfrm>
            <a:off x="512750" y="16378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declaration:</a:t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char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pun1[] = "pie rate";	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// Declares pun1 to be an array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char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*pun2 = "peas out";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// Declares pun2 to be a pointer</a:t>
            </a:r>
            <a:endParaRPr>
              <a:solidFill>
                <a:srgbClr val="6AA84F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Difference: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52" name="Google Shape;152;p1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String Variables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Character Array vs Character Pointers</a:t>
            </a:r>
            <a:endParaRPr/>
          </a:p>
        </p:txBody>
      </p:sp>
      <p:graphicFrame>
        <p:nvGraphicFramePr>
          <p:cNvPr id="153" name="Google Shape;153;p14"/>
          <p:cNvGraphicFramePr/>
          <p:nvPr/>
        </p:nvGraphicFramePr>
        <p:xfrm>
          <a:off x="963450" y="3437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{AFC9DE2E-A9FC-4DCD-AA13-BA0BA957BB1B}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pun1[]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*pun2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Name of an array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Pointer to a string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Allocated space for string in memory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Points to the first memory location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Stored characters can be modified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Can’t be modified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5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One possibility is to make p point to a string variable: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char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str[STR_LEN+1], *p;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p = str;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Another possibility is to make p point to a dynamically allocated string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Using an uninitialized pointer variable as a string is a serious error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59" name="Google Shape;159;p1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String Variables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Character Array vs Character Pointers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6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An attempt at building the string "abc":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 char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*p;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p[0] = 'a';    		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/*** WRONG ***/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p[1] = 'b';    		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/*** WRONG ***/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p[2] = 'c';    		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/*** WRONG ***/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p[3] = '\0';   		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/*** WRONG ***/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Since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</a:t>
            </a:r>
            <a:r>
              <a:rPr lang="en">
                <a:solidFill>
                  <a:srgbClr val="000000"/>
                </a:solidFill>
              </a:rPr>
              <a:t> hasn’t been initialized, this causes </a:t>
            </a:r>
            <a:r>
              <a:rPr lang="en">
                <a:solidFill>
                  <a:srgbClr val="E06666"/>
                </a:solidFill>
              </a:rPr>
              <a:t>undefined behavior</a:t>
            </a:r>
            <a:endParaRPr>
              <a:solidFill>
                <a:srgbClr val="E06666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65" name="Google Shape;165;p1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String Variables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Character Array vs Character Pointers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7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Writing a </a:t>
            </a:r>
            <a:r>
              <a:rPr i="1" lang="en">
                <a:solidFill>
                  <a:srgbClr val="000000"/>
                </a:solidFill>
              </a:rPr>
              <a:t>string</a:t>
            </a:r>
            <a:r>
              <a:rPr lang="en">
                <a:solidFill>
                  <a:srgbClr val="000000"/>
                </a:solidFill>
              </a:rPr>
              <a:t> is easy using either </a:t>
            </a:r>
            <a:r>
              <a:rPr i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lang="en">
                <a:solidFill>
                  <a:srgbClr val="000000"/>
                </a:solidFill>
              </a:rPr>
              <a:t> or </a:t>
            </a:r>
            <a:r>
              <a:rPr i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puts</a:t>
            </a:r>
            <a:endParaRPr i="1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Reading a </a:t>
            </a:r>
            <a:r>
              <a:rPr i="1" lang="en">
                <a:solidFill>
                  <a:srgbClr val="000000"/>
                </a:solidFill>
              </a:rPr>
              <a:t>string</a:t>
            </a:r>
            <a:r>
              <a:rPr lang="en">
                <a:solidFill>
                  <a:srgbClr val="000000"/>
                </a:solidFill>
              </a:rPr>
              <a:t> is a bit </a:t>
            </a:r>
            <a:r>
              <a:rPr lang="en">
                <a:solidFill>
                  <a:srgbClr val="E06666"/>
                </a:solidFill>
              </a:rPr>
              <a:t>harder</a:t>
            </a:r>
            <a:r>
              <a:rPr lang="en">
                <a:solidFill>
                  <a:srgbClr val="000000"/>
                </a:solidFill>
              </a:rPr>
              <a:t>, because the input may be longer than the </a:t>
            </a:r>
            <a:r>
              <a:rPr i="1" lang="en">
                <a:solidFill>
                  <a:srgbClr val="000000"/>
                </a:solidFill>
              </a:rPr>
              <a:t>string</a:t>
            </a:r>
            <a:r>
              <a:rPr lang="en">
                <a:solidFill>
                  <a:srgbClr val="000000"/>
                </a:solidFill>
              </a:rPr>
              <a:t> variable into which it’s being stored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To read a </a:t>
            </a:r>
            <a:r>
              <a:rPr i="1" lang="en">
                <a:solidFill>
                  <a:srgbClr val="000000"/>
                </a:solidFill>
              </a:rPr>
              <a:t>string</a:t>
            </a:r>
            <a:r>
              <a:rPr lang="en">
                <a:solidFill>
                  <a:srgbClr val="000000"/>
                </a:solidFill>
              </a:rPr>
              <a:t> in a single step, we can use either </a:t>
            </a:r>
            <a:r>
              <a:rPr i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scanf</a:t>
            </a:r>
            <a:r>
              <a:rPr lang="en">
                <a:solidFill>
                  <a:srgbClr val="000000"/>
                </a:solidFill>
              </a:rPr>
              <a:t> or </a:t>
            </a:r>
            <a:r>
              <a:rPr i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gets</a:t>
            </a:r>
            <a:endParaRPr i="1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As an </a:t>
            </a:r>
            <a:r>
              <a:rPr lang="en">
                <a:solidFill>
                  <a:srgbClr val="6D9EEB"/>
                </a:solidFill>
              </a:rPr>
              <a:t>alternative</a:t>
            </a:r>
            <a:r>
              <a:rPr lang="en">
                <a:solidFill>
                  <a:srgbClr val="000000"/>
                </a:solidFill>
              </a:rPr>
              <a:t>, we can read strings one character at a time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E06666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71" name="Google Shape;171;p1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Reading and Writing Strings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8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Using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lang="en">
                <a:solidFill>
                  <a:srgbClr val="000000"/>
                </a:solidFill>
              </a:rPr>
              <a:t> :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Format specifier: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%-m.ps</a:t>
            </a:r>
            <a:r>
              <a:rPr lang="en">
                <a:solidFill>
                  <a:srgbClr val="000000"/>
                </a:solidFill>
              </a:rPr>
              <a:t> (Minus sign is optional)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char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str[] = "yay, I’m in a string";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" sz="14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"%s\n"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str);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Prints until null character is encountered</a:t>
            </a:r>
            <a:endParaRPr>
              <a:solidFill>
                <a:srgbClr val="000000"/>
              </a:solidFill>
            </a:endParaRPr>
          </a:p>
          <a:p>
            <a:pPr indent="-3175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</a:t>
            </a:r>
            <a:r>
              <a:rPr lang="en">
                <a:solidFill>
                  <a:srgbClr val="000000"/>
                </a:solidFill>
              </a:rPr>
              <a:t> ⇒ Number of characters to be displayed</a:t>
            </a:r>
            <a:endParaRPr>
              <a:solidFill>
                <a:srgbClr val="000000"/>
              </a:solidFill>
            </a:endParaRPr>
          </a:p>
          <a:p>
            <a:pPr indent="-3175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m</a:t>
            </a:r>
            <a:r>
              <a:rPr lang="en">
                <a:solidFill>
                  <a:srgbClr val="000000"/>
                </a:solidFill>
              </a:rPr>
              <a:t> ⇒ Size of the string field</a:t>
            </a:r>
            <a:endParaRPr>
              <a:solidFill>
                <a:srgbClr val="000000"/>
              </a:solidFill>
            </a:endParaRPr>
          </a:p>
          <a:p>
            <a:pPr indent="-3175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(-)</a:t>
            </a:r>
            <a:r>
              <a:rPr lang="en">
                <a:solidFill>
                  <a:srgbClr val="000000"/>
                </a:solidFill>
              </a:rPr>
              <a:t> ⇒ Left-justify within string field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" sz="14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"%4.5s\n"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str);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// prints only the first four characters</a:t>
            </a:r>
            <a:endParaRPr>
              <a:solidFill>
                <a:srgbClr val="6AA84F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E06666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77" name="Google Shape;177;p1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Reading and Writing Strings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Writing Strings Using </a:t>
            </a:r>
            <a:r>
              <a:rPr i="1" lang="en" sz="2000"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i="1" lang="en" sz="2000"/>
              <a:t> and </a:t>
            </a:r>
            <a:r>
              <a:rPr i="1" lang="en" sz="2000">
                <a:latin typeface="Verdana"/>
                <a:ea typeface="Verdana"/>
                <a:cs typeface="Verdana"/>
                <a:sym typeface="Verdana"/>
              </a:rPr>
              <a:t>puts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9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Using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puts</a:t>
            </a:r>
            <a:r>
              <a:rPr lang="en">
                <a:solidFill>
                  <a:srgbClr val="000000"/>
                </a:solidFill>
              </a:rPr>
              <a:t>: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The C library also provides puts: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puts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(str);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After writing a string, puts always writes an additional new-line character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E06666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83" name="Google Shape;183;p1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Reading and Writing Strings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Writing Strings Using </a:t>
            </a:r>
            <a:r>
              <a:rPr i="1" lang="en" sz="2000"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i="1" lang="en" sz="2000"/>
              <a:t> and </a:t>
            </a:r>
            <a:r>
              <a:rPr i="1" lang="en" sz="2000">
                <a:latin typeface="Verdana"/>
                <a:ea typeface="Verdana"/>
                <a:cs typeface="Verdana"/>
                <a:sym typeface="Verdana"/>
              </a:rPr>
              <a:t>puts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0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Using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scanf</a:t>
            </a:r>
            <a:r>
              <a:rPr lang="en">
                <a:solidFill>
                  <a:srgbClr val="000000"/>
                </a:solidFill>
              </a:rPr>
              <a:t> :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Format specifier: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%ns</a:t>
            </a:r>
            <a:r>
              <a:rPr lang="en">
                <a:solidFill>
                  <a:srgbClr val="000000"/>
                </a:solidFill>
              </a:rPr>
              <a:t> 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scanf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" sz="14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"%s"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str);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Treats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str</a:t>
            </a:r>
            <a:r>
              <a:rPr lang="en">
                <a:solidFill>
                  <a:srgbClr val="000000"/>
                </a:solidFill>
              </a:rPr>
              <a:t> as a pointer ⇒ No &amp; required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Skips white spaces, reads characters, stores them in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str</a:t>
            </a:r>
            <a:r>
              <a:rPr lang="en">
                <a:solidFill>
                  <a:srgbClr val="000000"/>
                </a:solidFill>
              </a:rPr>
              <a:t> until white-space is encountered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Stores null character at the end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Doesn’t read a full line ⇒ Stops at new-line/space/tab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E06666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89" name="Google Shape;189;p2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Reading and Writing Strings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Writing Strings Using </a:t>
            </a:r>
            <a:r>
              <a:rPr i="1" lang="en" sz="2000">
                <a:latin typeface="Verdana"/>
                <a:ea typeface="Verdana"/>
                <a:cs typeface="Verdana"/>
                <a:sym typeface="Verdana"/>
              </a:rPr>
              <a:t>scanf</a:t>
            </a:r>
            <a:r>
              <a:rPr i="1" lang="en" sz="2000"/>
              <a:t> and </a:t>
            </a:r>
            <a:r>
              <a:rPr i="1" lang="en" sz="2000">
                <a:latin typeface="Verdana"/>
                <a:ea typeface="Verdana"/>
                <a:cs typeface="Verdana"/>
                <a:sym typeface="Verdana"/>
              </a:rPr>
              <a:t>gets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1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Using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gets</a:t>
            </a:r>
            <a:r>
              <a:rPr lang="en">
                <a:solidFill>
                  <a:srgbClr val="000000"/>
                </a:solidFill>
              </a:rPr>
              <a:t> :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Doesn’t skip white-space before starting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Reads until new-line character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Discards new-line and stores null character at the end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gets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(str);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E06666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95" name="Google Shape;195;p2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Reading and Writing Strings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Writing Strings Using </a:t>
            </a:r>
            <a:r>
              <a:rPr i="1" lang="en" sz="2000">
                <a:latin typeface="Verdana"/>
                <a:ea typeface="Verdana"/>
                <a:cs typeface="Verdana"/>
                <a:sym typeface="Verdana"/>
              </a:rPr>
              <a:t>scanf</a:t>
            </a:r>
            <a:r>
              <a:rPr i="1" lang="en" sz="2000"/>
              <a:t> and </a:t>
            </a:r>
            <a:r>
              <a:rPr i="1" lang="en" sz="2000">
                <a:latin typeface="Verdana"/>
                <a:ea typeface="Verdana"/>
                <a:cs typeface="Verdana"/>
                <a:sym typeface="Verdana"/>
              </a:rPr>
              <a:t>gets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2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Consider the following program fragment:</a:t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char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sentence[STR_LEN+1];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scanf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" sz="14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"%s"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sentence);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Suppose that after the prompt the user enters the line</a:t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**Hello world! (** denotes spaces)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114300" lvl="0" marL="8001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Scanf will only store "Hello"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If we replace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scanf</a:t>
            </a:r>
            <a:r>
              <a:rPr lang="en">
                <a:solidFill>
                  <a:srgbClr val="000000"/>
                </a:solidFill>
              </a:rPr>
              <a:t> with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gets(str)</a:t>
            </a:r>
            <a:r>
              <a:rPr lang="en">
                <a:solidFill>
                  <a:srgbClr val="000000"/>
                </a:solidFill>
              </a:rPr>
              <a:t>,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gets()</a:t>
            </a:r>
            <a:r>
              <a:rPr lang="en">
                <a:solidFill>
                  <a:srgbClr val="000000"/>
                </a:solidFill>
              </a:rPr>
              <a:t> will store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"  Hello world!"</a:t>
            </a:r>
            <a:endParaRPr sz="2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E06666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01" name="Google Shape;201;p2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Reading and Writing Strings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Writing Strings Using </a:t>
            </a:r>
            <a:r>
              <a:rPr i="1" lang="en" sz="2000">
                <a:latin typeface="Verdana"/>
                <a:ea typeface="Verdana"/>
                <a:cs typeface="Verdana"/>
                <a:sym typeface="Verdana"/>
              </a:rPr>
              <a:t>scanf</a:t>
            </a:r>
            <a:r>
              <a:rPr i="1" lang="en" sz="2000"/>
              <a:t> and </a:t>
            </a:r>
            <a:r>
              <a:rPr i="1" lang="en" sz="2000">
                <a:latin typeface="Verdana"/>
                <a:ea typeface="Verdana"/>
                <a:cs typeface="Verdana"/>
                <a:sym typeface="Verdana"/>
              </a:rPr>
              <a:t>gets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3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As they read characters into an array,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scanf</a:t>
            </a:r>
            <a:r>
              <a:rPr lang="en">
                <a:solidFill>
                  <a:srgbClr val="000000"/>
                </a:solidFill>
              </a:rPr>
              <a:t> and gets have no way to detect when it’s full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Consequently, they may store characters past the end of the array, causing </a:t>
            </a:r>
            <a:r>
              <a:rPr lang="en">
                <a:solidFill>
                  <a:srgbClr val="E06666"/>
                </a:solidFill>
              </a:rPr>
              <a:t>undefined behavior</a:t>
            </a:r>
            <a:endParaRPr>
              <a:solidFill>
                <a:srgbClr val="E06666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scanf</a:t>
            </a:r>
            <a:r>
              <a:rPr lang="en">
                <a:solidFill>
                  <a:srgbClr val="000000"/>
                </a:solidFill>
              </a:rPr>
              <a:t> can be made safer by the conversion specification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%</a:t>
            </a:r>
            <a:r>
              <a:rPr i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n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 </a:t>
            </a:r>
            <a:r>
              <a:rPr lang="en">
                <a:solidFill>
                  <a:srgbClr val="000000"/>
                </a:solidFill>
              </a:rPr>
              <a:t>instead of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%s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i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n</a:t>
            </a:r>
            <a:r>
              <a:rPr lang="en">
                <a:solidFill>
                  <a:srgbClr val="000000"/>
                </a:solidFill>
              </a:rPr>
              <a:t> is an integer indicating the maximum number of characters to be stored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gets</a:t>
            </a:r>
            <a:r>
              <a:rPr lang="en">
                <a:solidFill>
                  <a:srgbClr val="000000"/>
                </a:solidFill>
              </a:rPr>
              <a:t> is inherently </a:t>
            </a:r>
            <a:r>
              <a:rPr lang="en">
                <a:solidFill>
                  <a:srgbClr val="E06666"/>
                </a:solidFill>
              </a:rPr>
              <a:t>unsafe</a:t>
            </a:r>
            <a:r>
              <a:rPr lang="en">
                <a:solidFill>
                  <a:srgbClr val="000000"/>
                </a:solidFill>
              </a:rPr>
              <a:t>;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fgets</a:t>
            </a:r>
            <a:r>
              <a:rPr lang="en">
                <a:solidFill>
                  <a:srgbClr val="000000"/>
                </a:solidFill>
              </a:rPr>
              <a:t> is a much </a:t>
            </a:r>
            <a:r>
              <a:rPr lang="en">
                <a:solidFill>
                  <a:srgbClr val="6D9EEB"/>
                </a:solidFill>
              </a:rPr>
              <a:t>better alternative</a:t>
            </a:r>
            <a:endParaRPr>
              <a:solidFill>
                <a:srgbClr val="6D9EEB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E06666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07" name="Google Shape;207;p2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Reading and Writing Strings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Writing Strings Using </a:t>
            </a:r>
            <a:r>
              <a:rPr i="1" lang="en" sz="2000">
                <a:latin typeface="Verdana"/>
                <a:ea typeface="Verdana"/>
                <a:cs typeface="Verdana"/>
                <a:sym typeface="Verdana"/>
              </a:rPr>
              <a:t>scanf</a:t>
            </a:r>
            <a:r>
              <a:rPr i="1" lang="en" sz="2000"/>
              <a:t> and </a:t>
            </a:r>
            <a:r>
              <a:rPr i="1" lang="en" sz="2000">
                <a:latin typeface="Verdana"/>
                <a:ea typeface="Verdana"/>
                <a:cs typeface="Verdana"/>
                <a:sym typeface="Verdana"/>
              </a:rPr>
              <a:t>gets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4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Programmers often write their own input functions.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Issues to consider: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lang="en" sz="1400">
                <a:solidFill>
                  <a:srgbClr val="000000"/>
                </a:solidFill>
              </a:rPr>
              <a:t>Should the function skip white space before beginning to store the string?</a:t>
            </a:r>
            <a:endParaRPr sz="14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lang="en" sz="1400">
                <a:solidFill>
                  <a:srgbClr val="000000"/>
                </a:solidFill>
              </a:rPr>
              <a:t>What character causes the function to stop reading: a new-line character, any white-space character, or some other character? Is this character stored in the string or discarded?</a:t>
            </a:r>
            <a:endParaRPr sz="14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lang="en" sz="1400">
                <a:solidFill>
                  <a:srgbClr val="000000"/>
                </a:solidFill>
              </a:rPr>
              <a:t>What should the function do if the input string is too long to store: discard the extra characters or leave them for the next input operation?</a:t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E06666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13" name="Google Shape;213;p2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Reading and Writing Strings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Writing Strings Using </a:t>
            </a:r>
            <a:r>
              <a:rPr i="1" lang="en" sz="2000">
                <a:latin typeface="Verdana"/>
                <a:ea typeface="Verdana"/>
                <a:cs typeface="Verdana"/>
                <a:sym typeface="Verdana"/>
              </a:rPr>
              <a:t>scanf</a:t>
            </a:r>
            <a:r>
              <a:rPr i="1" lang="en" sz="2000"/>
              <a:t> and </a:t>
            </a:r>
            <a:r>
              <a:rPr i="1" lang="en" sz="2000">
                <a:latin typeface="Verdana"/>
                <a:ea typeface="Verdana"/>
                <a:cs typeface="Verdana"/>
                <a:sym typeface="Verdana"/>
              </a:rPr>
              <a:t>gets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5"/>
          <p:cNvSpPr txBox="1"/>
          <p:nvPr>
            <p:ph idx="1" type="body"/>
          </p:nvPr>
        </p:nvSpPr>
        <p:spPr>
          <a:xfrm>
            <a:off x="512750" y="16378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Suppose we need a function that: 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doesn’t skip white-space characters, 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stops reading at the first new-line character (which isn’t stored in the string), 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discards extra characters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 prototype for the function:</a:t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	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read_line(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char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str[], 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n);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If the input line contains more than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n</a:t>
            </a:r>
            <a:r>
              <a:rPr lang="en">
                <a:solidFill>
                  <a:srgbClr val="000000"/>
                </a:solidFill>
              </a:rPr>
              <a:t> characters,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read_line</a:t>
            </a:r>
            <a:r>
              <a:rPr lang="en">
                <a:solidFill>
                  <a:srgbClr val="000000"/>
                </a:solidFill>
              </a:rPr>
              <a:t> will discard the additional characters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read_line</a:t>
            </a:r>
            <a:r>
              <a:rPr lang="en">
                <a:solidFill>
                  <a:srgbClr val="000000"/>
                </a:solidFill>
              </a:rPr>
              <a:t> will return the number of characters it stores in str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E06666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19" name="Google Shape;219;p2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Reading and Writing Strings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Reading Strings Character by Character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6"/>
          <p:cNvSpPr txBox="1"/>
          <p:nvPr>
            <p:ph idx="1" type="body"/>
          </p:nvPr>
        </p:nvSpPr>
        <p:spPr>
          <a:xfrm>
            <a:off x="512750" y="16378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read_line</a:t>
            </a:r>
            <a:r>
              <a:rPr lang="en">
                <a:solidFill>
                  <a:srgbClr val="000000"/>
                </a:solidFill>
              </a:rPr>
              <a:t> consists primarily of a loop that calls getchar to read a character and then stores the character in str, provided that there’s room left: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read_line(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char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str[], 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n){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ch, i = 0;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while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((ch = getchar()) != '\n')   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// ends at newline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		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if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(i &lt; n)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    		str[i++] = ch;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str[i] = '\0';   		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 terminates string */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return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i;    		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 number of characters stored */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}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E06666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25" name="Google Shape;225;p2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Reading and Writing Strings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Reading Strings Character by Character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7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 function that counts the number of spaces in a string: {Array subscripting}</a:t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 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count_spaces(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const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char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s[]){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count = 0, i;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for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(i = 0; s[i] != '\0'; i++)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		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if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(s[i] == ' ')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    			count++;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return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count;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}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E06666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31" name="Google Shape;231;p2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Accessing the Characters in a String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8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 version that uses pointer arithmetic instead of array subscripting :</a:t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count_spaces(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const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char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*s){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count = 0;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for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(; *s != '\0'; s++)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		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if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(*s == ' ')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    			count++;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return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count;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} 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E06666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37" name="Google Shape;237;p2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Accessing the Characters in a String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9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*s</a:t>
            </a:r>
            <a:r>
              <a:rPr lang="en">
                <a:solidFill>
                  <a:srgbClr val="000000"/>
                </a:solidFill>
              </a:rPr>
              <a:t> can be modified despite being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const</a:t>
            </a:r>
            <a:r>
              <a:rPr lang="en">
                <a:solidFill>
                  <a:srgbClr val="000000"/>
                </a:solidFill>
              </a:rPr>
              <a:t> ⇒ Copy of pointer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Ensures we don’t modify the string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Which one is better? ⇒ Can use either. Traditionally we use pointer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String parameter in function? ⇒ Can be both. No difference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Argument passed for both parameters? ⇒ Array name, Pointer variable, or string literal</a:t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E06666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43" name="Google Shape;243;p2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Accessing the Characters in a String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0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Can’t use operators to copy, compare, or concatenate strings ⇒ as Arrays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char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s1[10], s2[10];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…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s1 = "abc"; 	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// Wrong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s2 = s1;		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// Wrong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if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(s1 == s2) …	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// Wrong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Initialization using “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=</a:t>
            </a:r>
            <a:r>
              <a:rPr lang="en">
                <a:solidFill>
                  <a:srgbClr val="000000"/>
                </a:solidFill>
              </a:rPr>
              <a:t>” is legal</a:t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char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s1[10] = "abc";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E06666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49" name="Google Shape;249;p3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Using the C String Library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1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“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==</a:t>
            </a:r>
            <a:r>
              <a:rPr lang="en">
                <a:solidFill>
                  <a:srgbClr val="000000"/>
                </a:solidFill>
              </a:rPr>
              <a:t>” compares pointers in this case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C library provides a rich set of functions for performing operations on strings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Programs that need string operations should contain the following line:</a:t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#include &lt;string.h&gt;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In subsequent examples, assume that str1 and str2 are character arrays used as strings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E06666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55" name="Google Shape;255;p3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Using the C String Library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2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Prototype for the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strcpy</a:t>
            </a:r>
            <a:r>
              <a:rPr lang="en">
                <a:solidFill>
                  <a:srgbClr val="000000"/>
                </a:solidFill>
              </a:rPr>
              <a:t> function: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char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*strcpy(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char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*s1, 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const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char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*s2);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strcpy</a:t>
            </a:r>
            <a:r>
              <a:rPr lang="en">
                <a:solidFill>
                  <a:srgbClr val="000000"/>
                </a:solidFill>
              </a:rPr>
              <a:t> copies the string s2 into the string s1.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lang="en" sz="1400">
                <a:solidFill>
                  <a:srgbClr val="000000"/>
                </a:solidFill>
              </a:rPr>
              <a:t>To be precise, we should say “strcpy copies the string pointed to by s2 into the array pointed to by s1.”</a:t>
            </a:r>
            <a:endParaRPr sz="1400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strcpy</a:t>
            </a:r>
            <a:r>
              <a:rPr lang="en">
                <a:solidFill>
                  <a:srgbClr val="000000"/>
                </a:solidFill>
              </a:rPr>
              <a:t> returns s1 (a pointer to the destination string)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E06666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61" name="Google Shape;261;p3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Using the C String Library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The </a:t>
            </a:r>
            <a:r>
              <a:rPr i="1" lang="en" sz="2000">
                <a:latin typeface="Verdana"/>
                <a:ea typeface="Verdana"/>
                <a:cs typeface="Verdana"/>
                <a:sym typeface="Verdana"/>
              </a:rPr>
              <a:t>strcpy</a:t>
            </a:r>
            <a:r>
              <a:rPr i="1" lang="en" sz="2000"/>
              <a:t> Function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3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 call of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strcpy</a:t>
            </a:r>
            <a:r>
              <a:rPr lang="en">
                <a:solidFill>
                  <a:srgbClr val="000000"/>
                </a:solidFill>
              </a:rPr>
              <a:t> that stores the string "abcd" in str2: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strcpy(str2, </a:t>
            </a:r>
            <a:r>
              <a:rPr lang="en" sz="14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"abcd"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);	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 str2 now contains "abcd" */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 call that copies the contents of str2 into str1: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strcpy(str1, str2);		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 str1 now contains "abcd" */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In the call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strcpy(str1, str2)</a:t>
            </a:r>
            <a:r>
              <a:rPr lang="en">
                <a:solidFill>
                  <a:srgbClr val="000000"/>
                </a:solidFill>
              </a:rPr>
              <a:t>,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strcpy</a:t>
            </a:r>
            <a:r>
              <a:rPr lang="en">
                <a:solidFill>
                  <a:srgbClr val="000000"/>
                </a:solidFill>
              </a:rPr>
              <a:t> has no way to check that the str2 string will fit in the array pointed to by str1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If it doesn’t, </a:t>
            </a:r>
            <a:r>
              <a:rPr lang="en">
                <a:solidFill>
                  <a:srgbClr val="E06666"/>
                </a:solidFill>
              </a:rPr>
              <a:t>undefined behavior</a:t>
            </a:r>
            <a:r>
              <a:rPr lang="en">
                <a:solidFill>
                  <a:srgbClr val="000000"/>
                </a:solidFill>
              </a:rPr>
              <a:t> occurs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E06666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67" name="Google Shape;267;p3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Using the C String Library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The </a:t>
            </a:r>
            <a:r>
              <a:rPr i="1" lang="en" sz="2000">
                <a:latin typeface="Verdana"/>
                <a:ea typeface="Verdana"/>
                <a:cs typeface="Verdana"/>
                <a:sym typeface="Verdana"/>
              </a:rPr>
              <a:t>strcpy</a:t>
            </a:r>
            <a:r>
              <a:rPr i="1" lang="en" sz="2000"/>
              <a:t> Function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4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Solution: Use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strncpy(s1, s2, sizeof(s1))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// makes sure string ends with \0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strncpy(s1, s2, 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sizeof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(s1) - 1);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s1[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sizeof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(s1) - 1] = ’\0’;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E06666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73" name="Google Shape;273;p3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Using the C String Library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The </a:t>
            </a:r>
            <a:r>
              <a:rPr i="1" lang="en" sz="2000">
                <a:latin typeface="Verdana"/>
                <a:ea typeface="Verdana"/>
                <a:cs typeface="Verdana"/>
                <a:sym typeface="Verdana"/>
              </a:rPr>
              <a:t>strcpy</a:t>
            </a:r>
            <a:r>
              <a:rPr i="1" lang="en" sz="2000"/>
              <a:t> Function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5"/>
          <p:cNvSpPr txBox="1"/>
          <p:nvPr>
            <p:ph idx="1" type="body"/>
          </p:nvPr>
        </p:nvSpPr>
        <p:spPr>
          <a:xfrm>
            <a:off x="512750" y="16378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Prototype</a:t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size_t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strlen(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const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char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*s);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size_t </a:t>
            </a:r>
            <a:r>
              <a:rPr lang="en">
                <a:solidFill>
                  <a:srgbClr val="000000"/>
                </a:solidFill>
              </a:rPr>
              <a:t>⇒ Defined as one of the unsigned integer types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Returns length of s excluding the null character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len;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len = strlen(</a:t>
            </a:r>
            <a:r>
              <a:rPr lang="en" sz="12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"abc"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); 		</a:t>
            </a:r>
            <a:r>
              <a:rPr lang="en" sz="12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// len is now 3</a:t>
            </a:r>
            <a:endParaRPr sz="12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len = strlen(</a:t>
            </a:r>
            <a:r>
              <a:rPr lang="en" sz="12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""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); 			</a:t>
            </a:r>
            <a:r>
              <a:rPr lang="en" sz="12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// len is now 0</a:t>
            </a:r>
            <a:endParaRPr sz="12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strcpy(s1, </a:t>
            </a:r>
            <a:r>
              <a:rPr lang="en" sz="12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"abcd"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);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len = strlen(s1); 			</a:t>
            </a:r>
            <a:r>
              <a:rPr lang="en" sz="12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// len is now 4</a:t>
            </a:r>
            <a:endParaRPr sz="12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Doesn’t measure the length of the variable, only the stored string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E06666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79" name="Google Shape;279;p3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Using the C String Library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The </a:t>
            </a:r>
            <a:r>
              <a:rPr i="1" lang="en" sz="2000">
                <a:latin typeface="Verdana"/>
                <a:ea typeface="Verdana"/>
                <a:cs typeface="Verdana"/>
                <a:sym typeface="Verdana"/>
              </a:rPr>
              <a:t>strlen</a:t>
            </a:r>
            <a:r>
              <a:rPr i="1" lang="en" sz="2000"/>
              <a:t> Function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6"/>
          <p:cNvSpPr txBox="1"/>
          <p:nvPr>
            <p:ph idx="1" type="body"/>
          </p:nvPr>
        </p:nvSpPr>
        <p:spPr>
          <a:xfrm>
            <a:off x="512750" y="16378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Prototype:</a:t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char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*strcat(</a:t>
            </a:r>
            <a:r>
              <a:rPr lang="en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char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*s1, </a:t>
            </a:r>
            <a:r>
              <a:rPr lang="en" sz="12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const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char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*s2);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Appends the contents of s2 at the end of s1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Return pointer to s1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Doesn’t check if array is long enough ⇒ </a:t>
            </a:r>
            <a:r>
              <a:rPr lang="en">
                <a:solidFill>
                  <a:srgbClr val="E06666"/>
                </a:solidFill>
              </a:rPr>
              <a:t>Undefined behavior</a:t>
            </a:r>
            <a:endParaRPr>
              <a:solidFill>
                <a:srgbClr val="E06666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Solution: Use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strncat </a:t>
            </a:r>
            <a:r>
              <a:rPr lang="en">
                <a:solidFill>
                  <a:srgbClr val="000000"/>
                </a:solidFill>
              </a:rPr>
              <a:t>	⇒ 	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strncat(s1, s2, </a:t>
            </a:r>
            <a:r>
              <a:rPr lang="en" sz="12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sizeof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(s1) - strlen(s1) - 1);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E06666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85" name="Google Shape;285;p3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Using the C String Library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The </a:t>
            </a:r>
            <a:r>
              <a:rPr i="1" lang="en" sz="2000">
                <a:latin typeface="Verdana"/>
                <a:ea typeface="Verdana"/>
                <a:cs typeface="Verdana"/>
                <a:sym typeface="Verdana"/>
              </a:rPr>
              <a:t>strcat </a:t>
            </a:r>
            <a:r>
              <a:rPr i="1" lang="en" sz="2000"/>
              <a:t>Function</a:t>
            </a:r>
            <a:endParaRPr/>
          </a:p>
        </p:txBody>
      </p:sp>
      <p:sp>
        <p:nvSpPr>
          <p:cNvPr id="286" name="Google Shape;286;p36"/>
          <p:cNvSpPr txBox="1"/>
          <p:nvPr/>
        </p:nvSpPr>
        <p:spPr>
          <a:xfrm>
            <a:off x="3493150" y="2986875"/>
            <a:ext cx="4632900" cy="12759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strcpy(s1, </a:t>
            </a:r>
            <a:r>
              <a:rPr b="0" i="0" lang="en" sz="1200" u="none" cap="none" strike="noStrike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"abc"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);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strcat(s1, </a:t>
            </a:r>
            <a:r>
              <a:rPr b="0" i="0" lang="en" sz="1200" u="none" cap="none" strike="noStrike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"def"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); 			</a:t>
            </a:r>
            <a:r>
              <a:rPr b="0" i="0" lang="en" sz="1200" u="none" cap="none" strike="noStrike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// s1 contains "abcdef"</a:t>
            </a:r>
            <a:endParaRPr b="0" i="0" sz="1200" u="none" cap="none" strike="noStrike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strcpy(s2, </a:t>
            </a:r>
            <a:r>
              <a:rPr b="0" i="0" lang="en" sz="1200" u="none" cap="none" strike="noStrike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"ghi"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); 		</a:t>
            </a:r>
            <a:r>
              <a:rPr b="0" i="0" lang="en" sz="1200" u="none" cap="none" strike="noStrike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// s2 contains "ghi"</a:t>
            </a:r>
            <a:endParaRPr b="0" i="0" sz="1200" u="none" cap="none" strike="noStrike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strcat(s1, s2); 			</a:t>
            </a:r>
            <a:r>
              <a:rPr b="0" i="0" lang="en" sz="1200" u="none" cap="none" strike="noStrike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// s1 contains "abcdefghi"</a:t>
            </a:r>
            <a:endParaRPr b="0" i="0" sz="1400" u="none" cap="none" strike="noStrike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7"/>
          <p:cNvSpPr txBox="1"/>
          <p:nvPr>
            <p:ph idx="1" type="body"/>
          </p:nvPr>
        </p:nvSpPr>
        <p:spPr>
          <a:xfrm>
            <a:off x="512750" y="16378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Prototype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strcmp(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const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char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*s1, 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const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char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*s2);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Compares s1 and s2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Returns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</a:rPr>
              <a:t>– 	0 ⇒ If s1 and s2 are equal</a:t>
            </a:r>
            <a:endParaRPr sz="14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</a:rPr>
              <a:t>– 	Less than 0 ⇒ If s1 is less than s2</a:t>
            </a:r>
            <a:endParaRPr sz="14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</a:rPr>
              <a:t>– 	Greater than 0 ⇒ If s1 is greater than s2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E06666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92" name="Google Shape;292;p3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Using the C String Library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The </a:t>
            </a:r>
            <a:r>
              <a:rPr i="1" lang="en" sz="2000">
                <a:latin typeface="Verdana"/>
                <a:ea typeface="Verdana"/>
                <a:cs typeface="Verdana"/>
                <a:sym typeface="Verdana"/>
              </a:rPr>
              <a:t>strcmp </a:t>
            </a:r>
            <a:r>
              <a:rPr i="1" lang="en" sz="2000"/>
              <a:t>Function</a:t>
            </a:r>
            <a:endParaRPr/>
          </a:p>
        </p:txBody>
      </p:sp>
      <p:sp>
        <p:nvSpPr>
          <p:cNvPr id="293" name="Google Shape;293;p37"/>
          <p:cNvSpPr txBox="1"/>
          <p:nvPr/>
        </p:nvSpPr>
        <p:spPr>
          <a:xfrm>
            <a:off x="4572000" y="3130500"/>
            <a:ext cx="4188900" cy="8133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// Checks if s1 is less than or equal to s2</a:t>
            </a:r>
            <a:endParaRPr b="0" i="0" sz="1400" u="none" cap="none" strike="noStrike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if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(strcmp(s1, s2) &lt;= 0) ...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8"/>
          <p:cNvSpPr txBox="1"/>
          <p:nvPr>
            <p:ph idx="1" type="body"/>
          </p:nvPr>
        </p:nvSpPr>
        <p:spPr>
          <a:xfrm>
            <a:off x="512750" y="16378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As it compares two strings, strcmp looks at the numerical codes for the characters in the strings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Some knowledge of the underlying character set is helpful 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Important properties of ASCII:</a:t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lang="en" sz="1400">
                <a:solidFill>
                  <a:srgbClr val="000000"/>
                </a:solidFill>
              </a:rPr>
              <a:t>A–Z, a–z, and 0–9 have consecutive codes</a:t>
            </a:r>
            <a:endParaRPr sz="1400"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lang="en" sz="1400">
                <a:solidFill>
                  <a:srgbClr val="000000"/>
                </a:solidFill>
              </a:rPr>
              <a:t>All upper-case letters are less than all lower-case letters</a:t>
            </a:r>
            <a:endParaRPr sz="1400"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lang="en" sz="1400">
                <a:solidFill>
                  <a:srgbClr val="000000"/>
                </a:solidFill>
              </a:rPr>
              <a:t>Digits are less than letters</a:t>
            </a:r>
            <a:endParaRPr sz="1400"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lang="en" sz="1400">
                <a:solidFill>
                  <a:srgbClr val="000000"/>
                </a:solidFill>
              </a:rPr>
              <a:t>Spaces are less than all printing characters</a:t>
            </a:r>
            <a:endParaRPr sz="14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E06666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99" name="Google Shape;299;p3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Using the C String Library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The </a:t>
            </a:r>
            <a:r>
              <a:rPr i="1" lang="en" sz="2000">
                <a:latin typeface="Verdana"/>
                <a:ea typeface="Verdana"/>
                <a:cs typeface="Verdana"/>
                <a:sym typeface="Verdana"/>
              </a:rPr>
              <a:t>strcmp </a:t>
            </a:r>
            <a:r>
              <a:rPr i="1" lang="en" sz="2000"/>
              <a:t>Function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9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program prints a one-month list of daily reminders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user will enter a series of reminders, with each prefixed by a day of the month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When the user enters 0 instead of a valid day, the program will print a list of all reminders entered, sorted by day</a:t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E06666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05" name="Google Shape;305;p3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Programming Task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Printing a One-Month Reminder List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0"/>
          <p:cNvSpPr txBox="1"/>
          <p:nvPr>
            <p:ph idx="1" type="body"/>
          </p:nvPr>
        </p:nvSpPr>
        <p:spPr>
          <a:xfrm>
            <a:off x="512750" y="16378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429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b="1" lang="en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Enter day and reminder: </a:t>
            </a:r>
            <a:r>
              <a:rPr b="1" lang="en" sz="1200" u="sng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24 Susan's birthday</a:t>
            </a:r>
            <a:endParaRPr b="1" sz="1200" u="sng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3429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b="1" lang="en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Enter day and reminder: </a:t>
            </a:r>
            <a:r>
              <a:rPr b="1" lang="en" sz="1200" u="sng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5 6:00 - Dinner with Marge and Russ</a:t>
            </a:r>
            <a:endParaRPr b="1" sz="1200" u="sng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3429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b="1" lang="en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Enter day and reminder: </a:t>
            </a:r>
            <a:r>
              <a:rPr b="1" lang="en" sz="1200" u="sng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26 Movie - "Chinatown"</a:t>
            </a:r>
            <a:endParaRPr b="1" sz="1200" u="sng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3429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b="1" lang="en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Enter day and reminder: </a:t>
            </a:r>
            <a:r>
              <a:rPr b="1" lang="en" sz="1200" u="sng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7 10:30 - Dental appointment</a:t>
            </a:r>
            <a:endParaRPr b="1" sz="1200" u="sng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3429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b="1" lang="en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Enter day and reminder: </a:t>
            </a:r>
            <a:r>
              <a:rPr b="1" lang="en" sz="1200" u="sng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12 Movie - "Dazed and Confused"</a:t>
            </a:r>
            <a:endParaRPr b="1" sz="1200" u="sng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3429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b="1" lang="en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Enter day and reminder: </a:t>
            </a:r>
            <a:r>
              <a:rPr b="1" lang="en" sz="1200" u="sng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b="1" sz="1200" u="sng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3429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200" u="sng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3429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b="1" lang="en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Day Reminder</a:t>
            </a:r>
            <a:endParaRPr b="1" sz="12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3429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b="1" lang="en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5 6:00 - Dinner with Marge and Russ</a:t>
            </a:r>
            <a:endParaRPr b="1" sz="12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3429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b="1" lang="en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7 10:30 - Dental appointment</a:t>
            </a:r>
            <a:endParaRPr b="1" sz="12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3429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b="1" lang="en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12 Movie - "Dazed and Confused“</a:t>
            </a:r>
            <a:endParaRPr b="1" sz="12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3429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b="1" lang="en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24 Susan's birthday</a:t>
            </a:r>
            <a:endParaRPr b="1" sz="12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3429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b="1" lang="en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26 Movie - "Chinatown"</a:t>
            </a:r>
            <a:endParaRPr b="1" sz="12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E06666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11" name="Google Shape;311;p4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Programming Task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Printing a One-Month Reminder List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41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There is more than one way to store an array of strings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One option is to use a two-dimensional array of characters, with one string per row: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char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planets[][8] = {"Mercury", "Venus", "Earth", "Mars", "Jupiter", "Saturn",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            	   		"Uranus", "Neptune", "Pluto"};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number of rows in the array can be omitted, but we must specify the number of columns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E06666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17" name="Google Shape;317;p4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Array of Strings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2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Unfortunately, the planets array contains a fair bit of wasted space (extra null characters):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E06666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23" name="Google Shape;323;p4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Array of Strings</a:t>
            </a:r>
            <a:endParaRPr/>
          </a:p>
        </p:txBody>
      </p:sp>
      <p:pic>
        <p:nvPicPr>
          <p:cNvPr id="324" name="Google Shape;324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20750" y="2255350"/>
            <a:ext cx="2514800" cy="279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3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Most collections of strings will have a mixture of long strings and short strings.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What we need is a </a:t>
            </a:r>
            <a:r>
              <a:rPr b="1" i="1" lang="en">
                <a:solidFill>
                  <a:srgbClr val="000000"/>
                </a:solidFill>
              </a:rPr>
              <a:t>ragged array, </a:t>
            </a:r>
            <a:r>
              <a:rPr lang="en">
                <a:solidFill>
                  <a:srgbClr val="000000"/>
                </a:solidFill>
              </a:rPr>
              <a:t>whose rows can have different lengths.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We can simulate a ragged array in C by creating an array whose elements are </a:t>
            </a:r>
            <a:r>
              <a:rPr i="1" lang="en">
                <a:solidFill>
                  <a:srgbClr val="000000"/>
                </a:solidFill>
              </a:rPr>
              <a:t>pointers</a:t>
            </a:r>
            <a:r>
              <a:rPr lang="en">
                <a:solidFill>
                  <a:srgbClr val="000000"/>
                </a:solidFill>
              </a:rPr>
              <a:t> to strings: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char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*planets[] = {"Mercury", "Venus", "Earth", "Mars", "Jupiter", "Saturn",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                 		"Uranus", "Neptune", "Pluto"};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E06666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30" name="Google Shape;330;p4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Array of Strings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4"/>
          <p:cNvSpPr txBox="1"/>
          <p:nvPr>
            <p:ph idx="1" type="body"/>
          </p:nvPr>
        </p:nvSpPr>
        <p:spPr>
          <a:xfrm>
            <a:off x="512750" y="16378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This small change has a dramatic effect on how planets is stored: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E06666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36" name="Google Shape;336;p4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Array of Strings</a:t>
            </a:r>
            <a:endParaRPr/>
          </a:p>
        </p:txBody>
      </p:sp>
      <p:pic>
        <p:nvPicPr>
          <p:cNvPr id="337" name="Google Shape;337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41150" y="2141875"/>
            <a:ext cx="2761225" cy="292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5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To access one of the planet names, all we need do is subscript the planets array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Accessing a character in a planet name is done in the same way as accessing an element of </a:t>
            </a:r>
            <a:r>
              <a:rPr i="1" lang="en">
                <a:solidFill>
                  <a:srgbClr val="000000"/>
                </a:solidFill>
              </a:rPr>
              <a:t>two-dimensional</a:t>
            </a:r>
            <a:r>
              <a:rPr lang="en">
                <a:solidFill>
                  <a:srgbClr val="000000"/>
                </a:solidFill>
              </a:rPr>
              <a:t> array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 loop that searches the planets array for strings beginning with the letter M:</a:t>
            </a:r>
            <a:endParaRPr>
              <a:solidFill>
                <a:srgbClr val="000000"/>
              </a:solidFill>
            </a:endParaRPr>
          </a:p>
          <a:p>
            <a:pPr indent="0" lvl="0" marL="12573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  for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(i = 0; i &lt; 9; i++)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573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if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(planets[i][0] == 'M')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573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		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" sz="14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"%s begins with M\n"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planets[i]);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E06666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43" name="Google Shape;343;p4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Array of Strings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6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Command-line information is available to all programs, not just operating system commands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To obtain access to </a:t>
            </a:r>
            <a:r>
              <a:rPr b="1" i="1" lang="en">
                <a:solidFill>
                  <a:srgbClr val="000000"/>
                </a:solidFill>
              </a:rPr>
              <a:t>command-line arguments</a:t>
            </a:r>
            <a:r>
              <a:rPr b="1" lang="en">
                <a:solidFill>
                  <a:srgbClr val="000000"/>
                </a:solidFill>
              </a:rPr>
              <a:t>,</a:t>
            </a:r>
            <a:r>
              <a:rPr lang="en">
                <a:solidFill>
                  <a:srgbClr val="000000"/>
                </a:solidFill>
              </a:rPr>
              <a:t> main must have two parameters:</a:t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main(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argc, 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char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*argv[]){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…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}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rgbClr val="000000"/>
                </a:solidFill>
              </a:rPr>
              <a:t>Command-line arguments are called </a:t>
            </a:r>
            <a:r>
              <a:rPr b="1" i="1" lang="en">
                <a:solidFill>
                  <a:srgbClr val="000000"/>
                </a:solidFill>
              </a:rPr>
              <a:t>program parameters</a:t>
            </a:r>
            <a:r>
              <a:rPr lang="en">
                <a:solidFill>
                  <a:srgbClr val="000000"/>
                </a:solidFill>
              </a:rPr>
              <a:t> in the C standard</a:t>
            </a:r>
            <a:endParaRPr>
              <a:solidFill>
                <a:srgbClr val="000000"/>
              </a:solidFill>
            </a:endParaRPr>
          </a:p>
          <a:p>
            <a:pPr indent="0" lvl="0" marL="12573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E06666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49" name="Google Shape;349;p4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Array of Strings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Command-Line Arguments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47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argc</a:t>
            </a:r>
            <a:r>
              <a:rPr lang="en">
                <a:solidFill>
                  <a:srgbClr val="000000"/>
                </a:solidFill>
              </a:rPr>
              <a:t> (“argument count”) is the number of command-line arguments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argv</a:t>
            </a:r>
            <a:r>
              <a:rPr lang="en">
                <a:solidFill>
                  <a:srgbClr val="000000"/>
                </a:solidFill>
              </a:rPr>
              <a:t> (“argument vector”) is an array of pointers to the command-line arguments (stored as strings)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argv[0] </a:t>
            </a:r>
            <a:r>
              <a:rPr lang="en">
                <a:solidFill>
                  <a:srgbClr val="000000"/>
                </a:solidFill>
              </a:rPr>
              <a:t>points to the name of the program, while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argv[1]</a:t>
            </a:r>
            <a:r>
              <a:rPr lang="en">
                <a:solidFill>
                  <a:srgbClr val="000000"/>
                </a:solidFill>
              </a:rPr>
              <a:t> through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argv[argc-1]</a:t>
            </a:r>
            <a:r>
              <a:rPr lang="en">
                <a:solidFill>
                  <a:srgbClr val="000000"/>
                </a:solidFill>
              </a:rPr>
              <a:t> point to the remaining command-line arguments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argv[argc]</a:t>
            </a:r>
            <a:r>
              <a:rPr lang="en">
                <a:solidFill>
                  <a:srgbClr val="000000"/>
                </a:solidFill>
              </a:rPr>
              <a:t> is always a </a:t>
            </a:r>
            <a:r>
              <a:rPr b="1" i="1" lang="en">
                <a:solidFill>
                  <a:srgbClr val="000000"/>
                </a:solidFill>
              </a:rPr>
              <a:t>null pointer</a:t>
            </a:r>
            <a:r>
              <a:rPr lang="en">
                <a:solidFill>
                  <a:srgbClr val="000000"/>
                </a:solidFill>
              </a:rPr>
              <a:t>—a special pointer that points to nothing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lang="en" sz="1400">
                <a:solidFill>
                  <a:srgbClr val="000000"/>
                </a:solidFill>
              </a:rPr>
              <a:t>The macro NULL represents a null pointer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12573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E06666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55" name="Google Shape;355;p4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Array of Strings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Command-Line Arguments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48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#include&lt;stdio.h&gt;</a:t>
            </a:r>
            <a:endParaRPr sz="11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int main(int argc,char* argv[]){</a:t>
            </a:r>
            <a:endParaRPr sz="11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int counter;</a:t>
            </a:r>
            <a:endParaRPr sz="11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printf("Program Name Is: %s",argv[0]);</a:t>
            </a:r>
            <a:endParaRPr sz="11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if(argc==1)</a:t>
            </a:r>
            <a:endParaRPr sz="11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printf("\nNo Extra Command Line Argument Passed Other Than Program Name");</a:t>
            </a:r>
            <a:endParaRPr sz="11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if(argc&gt;=2){</a:t>
            </a:r>
            <a:endParaRPr sz="11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printf("\nNumber Of Arguments Passed: %d",argc);</a:t>
            </a:r>
            <a:endParaRPr sz="11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printf("\n----Following Are The Command Line Arguments Passed----");</a:t>
            </a:r>
            <a:endParaRPr sz="11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for(counter=0;counter&lt;argc;counter++)</a:t>
            </a:r>
            <a:endParaRPr sz="11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printf("\nargv[%d]: %s",counter,argv[counter]);</a:t>
            </a:r>
            <a:endParaRPr sz="11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1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0;</a:t>
            </a:r>
            <a:endParaRPr sz="11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1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12573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E06666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61" name="Google Shape;361;p4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Array of Strings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Command-Line Arguments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49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$ ./a.out First Second Third</a:t>
            </a:r>
            <a:endParaRPr sz="11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Program Name Is: ./a.out</a:t>
            </a:r>
            <a:endParaRPr sz="11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Number Of Arguments Passed: 4</a:t>
            </a:r>
            <a:endParaRPr sz="11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----Following Are The Command Line Arguments Passed----</a:t>
            </a:r>
            <a:endParaRPr sz="11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argv[0]: ./a.out</a:t>
            </a:r>
            <a:endParaRPr sz="11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argv[1]: First</a:t>
            </a:r>
            <a:endParaRPr sz="11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argv[2]: Second</a:t>
            </a:r>
            <a:endParaRPr sz="11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argv[3]: Third</a:t>
            </a:r>
            <a:endParaRPr sz="11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12573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E06666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67" name="Google Shape;367;p4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Array of Strings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Command-Line Arguments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50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Can be accessed using loop</a:t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i;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for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(i = 1; i &lt; argc; i++)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9144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" sz="14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"%s\n"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argv[i]);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E06666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73" name="Google Shape;373;p5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Array of Strings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Command-Line Arguments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51"/>
          <p:cNvSpPr txBox="1"/>
          <p:nvPr>
            <p:ph idx="1" type="body"/>
          </p:nvPr>
        </p:nvSpPr>
        <p:spPr>
          <a:xfrm>
            <a:off x="512750" y="16378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program is to check a series of strings to see the names of planets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strings are put on the command line:</a:t>
            </a:r>
            <a:endParaRPr>
              <a:solidFill>
                <a:srgbClr val="000000"/>
              </a:solidFill>
            </a:endParaRPr>
          </a:p>
          <a:p>
            <a:pPr indent="114300" lvl="0" marL="3429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" sz="1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	planet Jupiter venus Earth fred</a:t>
            </a:r>
            <a:endParaRPr b="1" sz="14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program will indicate whether each string is a planet name and display the planet’s number:</a:t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" sz="1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Jupiter is planet 5</a:t>
            </a:r>
            <a:endParaRPr b="1" sz="14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8001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b="1" lang="en" sz="1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venus is not a planet</a:t>
            </a:r>
            <a:endParaRPr b="1" sz="14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8001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b="1" lang="en" sz="1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Earth is planet 3</a:t>
            </a:r>
            <a:endParaRPr b="1" sz="14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8001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b="1" lang="en" sz="1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fred is not a planet</a:t>
            </a:r>
            <a:endParaRPr b="1" sz="14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3429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E06666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79" name="Google Shape;379;p5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Programming Task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Checking Planet Names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