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embeddedFontLst>
    <p:embeddedFont>
      <p:font typeface="Roboto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5" roundtripDataSignature="AMtx7mijYd/e/TZ2PIykkr5t4oBY6mPU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regular.fntdata"/><Relationship Id="rId50" Type="http://schemas.openxmlformats.org/officeDocument/2006/relationships/slide" Target="slides/slide45.xml"/><Relationship Id="rId53" Type="http://schemas.openxmlformats.org/officeDocument/2006/relationships/font" Target="fonts/Roboto-italic.fntdata"/><Relationship Id="rId52" Type="http://schemas.openxmlformats.org/officeDocument/2006/relationships/font" Target="fonts/Roboto-bold.fntdata"/><Relationship Id="rId11" Type="http://schemas.openxmlformats.org/officeDocument/2006/relationships/slide" Target="slides/slide6.xml"/><Relationship Id="rId55" Type="http://customschemas.google.com/relationships/presentationmetadata" Target="metadata"/><Relationship Id="rId10" Type="http://schemas.openxmlformats.org/officeDocument/2006/relationships/slide" Target="slides/slide5.xml"/><Relationship Id="rId54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47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7843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47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47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4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8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48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4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9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3" name="Google Shape;23;p4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0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50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5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0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0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1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51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51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5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2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52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5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5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3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5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4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54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5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54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54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5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5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55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55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5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6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6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b="0" i="0" sz="3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4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 b="0" i="0" sz="14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4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/>
          <p:nvPr>
            <p:ph type="ctrTitle"/>
          </p:nvPr>
        </p:nvSpPr>
        <p:spPr>
          <a:xfrm>
            <a:off x="390525" y="1819275"/>
            <a:ext cx="8483100" cy="93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/>
              <a:t>Lesson: Loops</a:t>
            </a:r>
            <a:endParaRPr/>
          </a:p>
        </p:txBody>
      </p:sp>
      <p:sp>
        <p:nvSpPr>
          <p:cNvPr id="68" name="Google Shape;68;p1"/>
          <p:cNvSpPr txBox="1"/>
          <p:nvPr>
            <p:ph idx="1" type="subTitle"/>
          </p:nvPr>
        </p:nvSpPr>
        <p:spPr>
          <a:xfrm>
            <a:off x="390525" y="2789124"/>
            <a:ext cx="8222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CSE 4107 : Structured Programming I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Shahriar Ivan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Iteration Statements</a:t>
            </a:r>
            <a:endParaRPr/>
          </a:p>
        </p:txBody>
      </p:sp>
      <p:sp>
        <p:nvSpPr>
          <p:cNvPr id="74" name="Google Shape;74;p2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C’s iteration statements are used to set up loops.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b="1" i="1" lang="en">
                <a:solidFill>
                  <a:srgbClr val="000000"/>
                </a:solidFill>
              </a:rPr>
              <a:t>loop</a:t>
            </a:r>
            <a:r>
              <a:rPr lang="en">
                <a:solidFill>
                  <a:srgbClr val="000000"/>
                </a:solidFill>
              </a:rPr>
              <a:t> is a statement whose job is to repeatedly execute some other statement (the </a:t>
            </a:r>
            <a:r>
              <a:rPr b="1" i="1" lang="en">
                <a:solidFill>
                  <a:srgbClr val="000000"/>
                </a:solidFill>
              </a:rPr>
              <a:t>loop body</a:t>
            </a:r>
            <a:r>
              <a:rPr lang="en">
                <a:solidFill>
                  <a:srgbClr val="000000"/>
                </a:solidFill>
              </a:rPr>
              <a:t>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In C, every loop has a </a:t>
            </a:r>
            <a:r>
              <a:rPr b="1" i="1" lang="en">
                <a:solidFill>
                  <a:srgbClr val="000000"/>
                </a:solidFill>
              </a:rPr>
              <a:t>controlling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Each time the loop body is executed (an </a:t>
            </a:r>
            <a:r>
              <a:rPr b="1" i="1" lang="en">
                <a:solidFill>
                  <a:srgbClr val="000000"/>
                </a:solidFill>
              </a:rPr>
              <a:t>iteration</a:t>
            </a:r>
            <a:r>
              <a:rPr lang="en">
                <a:solidFill>
                  <a:srgbClr val="000000"/>
                </a:solidFill>
              </a:rPr>
              <a:t> of the loop), the controlling expression is evaluated.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If the expression is true (has a value that’s not zero) the loop continues to execute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Iteration Statements</a:t>
            </a:r>
            <a:endParaRPr/>
          </a:p>
        </p:txBody>
      </p:sp>
      <p:sp>
        <p:nvSpPr>
          <p:cNvPr id="80" name="Google Shape;80;p3"/>
          <p:cNvSpPr txBox="1"/>
          <p:nvPr>
            <p:ph idx="1" type="body"/>
          </p:nvPr>
        </p:nvSpPr>
        <p:spPr>
          <a:xfrm>
            <a:off x="512750" y="16378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 provides </a:t>
            </a:r>
            <a:r>
              <a:rPr b="1" i="1" lang="en">
                <a:solidFill>
                  <a:srgbClr val="000000"/>
                </a:solidFill>
              </a:rPr>
              <a:t>three </a:t>
            </a:r>
            <a:r>
              <a:rPr lang="en">
                <a:solidFill>
                  <a:srgbClr val="000000"/>
                </a:solidFill>
              </a:rPr>
              <a:t>iteration statements: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</a:rPr>
              <a:t>statement is used for loops whose controlling expression is tested </a:t>
            </a:r>
            <a:r>
              <a:rPr i="1" lang="en" sz="1400">
                <a:solidFill>
                  <a:srgbClr val="000000"/>
                </a:solidFill>
              </a:rPr>
              <a:t>before</a:t>
            </a:r>
            <a:r>
              <a:rPr lang="en" sz="1400">
                <a:solidFill>
                  <a:srgbClr val="000000"/>
                </a:solidFill>
              </a:rPr>
              <a:t> the loop body is executed</a:t>
            </a:r>
            <a:endParaRPr sz="1400"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 sz="1400">
                <a:solidFill>
                  <a:srgbClr val="000000"/>
                </a:solidFill>
              </a:rPr>
              <a:t>statement is used if the expression is tested </a:t>
            </a:r>
            <a:r>
              <a:rPr i="1" lang="en" sz="1400">
                <a:solidFill>
                  <a:srgbClr val="000000"/>
                </a:solidFill>
              </a:rPr>
              <a:t>after</a:t>
            </a:r>
            <a:r>
              <a:rPr lang="en" sz="1400">
                <a:solidFill>
                  <a:srgbClr val="000000"/>
                </a:solidFill>
              </a:rPr>
              <a:t> the loop body is executed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is convenient for loops that increment or decrement a counting variable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86" name="Google Shape;86;p4"/>
          <p:cNvSpPr txBox="1"/>
          <p:nvPr>
            <p:ph idx="1" type="body"/>
          </p:nvPr>
        </p:nvSpPr>
        <p:spPr>
          <a:xfrm>
            <a:off x="520150" y="16674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a while statement is the easiest way to set up a loop.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while statement has the form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of a while statement: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while statement is executed, the controlling expression is evaluated first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7" name="Google Shape;87;p4"/>
          <p:cNvSpPr txBox="1"/>
          <p:nvPr/>
        </p:nvSpPr>
        <p:spPr>
          <a:xfrm>
            <a:off x="1269150" y="3328700"/>
            <a:ext cx="4975500" cy="748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controlling expression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loop body */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93" name="Google Shape;93;p5"/>
          <p:cNvSpPr txBox="1"/>
          <p:nvPr>
            <p:ph idx="1" type="body"/>
          </p:nvPr>
        </p:nvSpPr>
        <p:spPr>
          <a:xfrm>
            <a:off x="520150" y="16674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95100" y="2163325"/>
            <a:ext cx="2463875" cy="251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100" name="Google Shape;100;p6"/>
          <p:cNvSpPr txBox="1"/>
          <p:nvPr>
            <p:ph idx="1" type="body"/>
          </p:nvPr>
        </p:nvSpPr>
        <p:spPr>
          <a:xfrm>
            <a:off x="520150" y="16674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its value is nonzero (true), the loop body is executed and the expression is tested again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process continues until the controlling expression eventually has the value zero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statement that computes the smallest power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">
                <a:solidFill>
                  <a:srgbClr val="000000"/>
                </a:solidFill>
              </a:rPr>
              <a:t> that is greater than or equal to a number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4630900" y="4068275"/>
            <a:ext cx="1882500" cy="856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107" name="Google Shape;107;p7"/>
          <p:cNvSpPr txBox="1"/>
          <p:nvPr>
            <p:ph idx="1" type="body"/>
          </p:nvPr>
        </p:nvSpPr>
        <p:spPr>
          <a:xfrm>
            <a:off x="520150" y="16766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trace of the loop when n has the value 10: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1;  			i is now 1.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 &lt; n?  			Yes; continue.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    		i is now 2.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 &lt; n?  			Yes; continue.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  		i is now 4.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 &lt; n?  			Yes; continue.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    		i is now 8.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 &lt; n?  			Yes; continue.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  		i is now 16.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i &lt; n?  			No; exit from loop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113" name="Google Shape;113;p8"/>
          <p:cNvSpPr txBox="1"/>
          <p:nvPr>
            <p:ph idx="1" type="body"/>
          </p:nvPr>
        </p:nvSpPr>
        <p:spPr>
          <a:xfrm>
            <a:off x="527550" y="16026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multiple statements are needed, use braces to create a single compound statement: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Some programmers always use braces, even when they’re not strictly necessary: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2647475" y="2208038"/>
            <a:ext cx="4328400" cy="1123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i--;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8"/>
          <p:cNvSpPr txBox="1"/>
          <p:nvPr/>
        </p:nvSpPr>
        <p:spPr>
          <a:xfrm>
            <a:off x="3084525" y="4033150"/>
            <a:ext cx="1916100" cy="933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&lt; n)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i * 2;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</p:txBody>
      </p:sp>
      <p:sp>
        <p:nvSpPr>
          <p:cNvPr id="121" name="Google Shape;121;p9"/>
          <p:cNvSpPr txBox="1"/>
          <p:nvPr>
            <p:ph idx="1" type="body"/>
          </p:nvPr>
        </p:nvSpPr>
        <p:spPr>
          <a:xfrm>
            <a:off x="527550" y="16026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Observations about the while statement: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controlling expression is </a:t>
            </a:r>
            <a:r>
              <a:rPr i="1" lang="en" sz="1400">
                <a:solidFill>
                  <a:srgbClr val="000000"/>
                </a:solidFill>
              </a:rPr>
              <a:t>false</a:t>
            </a:r>
            <a:r>
              <a:rPr lang="en" sz="1400">
                <a:solidFill>
                  <a:srgbClr val="000000"/>
                </a:solidFill>
              </a:rPr>
              <a:t> when 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</a:rPr>
              <a:t>loop terminates. Thus, when a loop controlled by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&gt; 0</a:t>
            </a:r>
            <a:r>
              <a:rPr lang="en" sz="1400">
                <a:solidFill>
                  <a:srgbClr val="000000"/>
                </a:solidFill>
              </a:rPr>
              <a:t> terminates,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 sz="1400">
                <a:solidFill>
                  <a:srgbClr val="000000"/>
                </a:solidFill>
              </a:rPr>
              <a:t> must be less than or equal to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The body of 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400">
                <a:solidFill>
                  <a:srgbClr val="000000"/>
                </a:solidFill>
              </a:rPr>
              <a:t>loop may not be executed at all, because the controlling expression is tested </a:t>
            </a:r>
            <a:r>
              <a:rPr i="1" lang="en" sz="1400">
                <a:solidFill>
                  <a:srgbClr val="000000"/>
                </a:solidFill>
              </a:rPr>
              <a:t>before</a:t>
            </a:r>
            <a:r>
              <a:rPr lang="en" sz="1400">
                <a:solidFill>
                  <a:srgbClr val="000000"/>
                </a:solidFill>
              </a:rPr>
              <a:t> the body is executed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3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A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 sz="1400">
                <a:solidFill>
                  <a:srgbClr val="000000"/>
                </a:solidFill>
              </a:rPr>
              <a:t> statement can often be written in a variety of ways. A more concise version of the countdown loop:</a:t>
            </a:r>
            <a:endParaRPr sz="1400">
              <a:solidFill>
                <a:srgbClr val="000000"/>
              </a:solidFill>
            </a:endParaRPr>
          </a:p>
          <a:p>
            <a:pPr indent="0" lvl="0" marL="7366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22" name="Google Shape;122;p9"/>
          <p:cNvSpPr txBox="1"/>
          <p:nvPr/>
        </p:nvSpPr>
        <p:spPr>
          <a:xfrm>
            <a:off x="2370150" y="4236350"/>
            <a:ext cx="4689600" cy="692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794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2794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i--);</a:t>
            </a:r>
            <a:endParaRPr b="1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Infinite Loop</a:t>
            </a:r>
            <a:endParaRPr/>
          </a:p>
        </p:txBody>
      </p:sp>
      <p:sp>
        <p:nvSpPr>
          <p:cNvPr id="128" name="Google Shape;128;p10"/>
          <p:cNvSpPr txBox="1"/>
          <p:nvPr>
            <p:ph idx="1" type="body"/>
          </p:nvPr>
        </p:nvSpPr>
        <p:spPr>
          <a:xfrm>
            <a:off x="527550" y="16026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statement won’t terminate if the controlling expression always has a nonzero value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C programmers sometimes deliberately create an </a:t>
            </a:r>
            <a:r>
              <a:rPr b="1" i="1" lang="en">
                <a:solidFill>
                  <a:srgbClr val="000000"/>
                </a:solidFill>
              </a:rPr>
              <a:t>infinite loop </a:t>
            </a:r>
            <a:r>
              <a:rPr lang="en">
                <a:solidFill>
                  <a:srgbClr val="000000"/>
                </a:solidFill>
              </a:rPr>
              <a:t>by using a nonzero constant as the controlling expression: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(1)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statement of this form will execute forever unless its body contains a statement that transfers control out of the loop (break, goto, return) or calls a function that causes the program to terminate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"/>
          <p:cNvSpPr txBox="1"/>
          <p:nvPr>
            <p:ph idx="1" type="body"/>
          </p:nvPr>
        </p:nvSpPr>
        <p:spPr>
          <a:xfrm>
            <a:off x="527550" y="16026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uses a while statement to print a table of squares.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specifies the number of entries in the table:</a:t>
            </a:r>
            <a:endParaRPr>
              <a:solidFill>
                <a:srgbClr val="000000"/>
              </a:solidFill>
            </a:endParaRPr>
          </a:p>
          <a:p>
            <a:pPr indent="-34290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program prints a table of squares.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Enter number of entries in table: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     	1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     	4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     	9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    	16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    	25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34" name="Google Shape;134;p1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Table of Squares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5127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sums a series of integers entered by the user: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This program sums a series of integers.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Enter integers (0 to terminate): </a:t>
            </a:r>
            <a:r>
              <a:rPr lang="en" sz="1400" u="sng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8 23 71 5 0</a:t>
            </a:r>
            <a:endParaRPr sz="1400" u="sng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The sum is: 107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need a loop that uses scanf to read a number and then adds the number to a running total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0" name="Google Shape;140;p1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Summing a Series of Numbers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/>
              <a:t>Statement</a:t>
            </a:r>
            <a:endParaRPr/>
          </a:p>
        </p:txBody>
      </p:sp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5201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do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while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expression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 is executed, the loop body is executed first, then the controlling expression is evaluated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value of the expression is nonzero, the loop body is executed again and then the expression is evaluated once more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/>
              <a:t>Statement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520150" y="16674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3" name="Google Shape;15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4900" y="2016500"/>
            <a:ext cx="2476500" cy="25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/>
              <a:t>Statement</a:t>
            </a:r>
            <a:endParaRPr/>
          </a:p>
        </p:txBody>
      </p:sp>
      <p:sp>
        <p:nvSpPr>
          <p:cNvPr id="159" name="Google Shape;159;p15"/>
          <p:cNvSpPr txBox="1"/>
          <p:nvPr>
            <p:ph idx="1" type="body"/>
          </p:nvPr>
        </p:nvSpPr>
        <p:spPr>
          <a:xfrm>
            <a:off x="5201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countdown example rewritten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 is often indistinguishable from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only difference is that the body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 is always executed at least once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15"/>
          <p:cNvSpPr txBox="1"/>
          <p:nvPr/>
        </p:nvSpPr>
        <p:spPr>
          <a:xfrm>
            <a:off x="1571725" y="2219325"/>
            <a:ext cx="4614000" cy="14160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6"/>
          <p:cNvSpPr txBox="1"/>
          <p:nvPr>
            <p:ph idx="1" type="body"/>
          </p:nvPr>
        </p:nvSpPr>
        <p:spPr>
          <a:xfrm>
            <a:off x="5127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calculates the number of digits in an integer entered by the user: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Enter a nonnegative integer: </a:t>
            </a:r>
            <a:r>
              <a:rPr lang="en" sz="1400" u="sng">
                <a:solidFill>
                  <a:srgbClr val="000000"/>
                </a:solidFill>
              </a:rPr>
              <a:t>60</a:t>
            </a:r>
            <a:endParaRPr sz="1400" u="sng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</a:rPr>
              <a:t>The number has 2 digit(s)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 will divide the user’s input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10 </a:t>
            </a:r>
            <a:r>
              <a:rPr lang="en">
                <a:solidFill>
                  <a:srgbClr val="000000"/>
                </a:solidFill>
              </a:rPr>
              <a:t>repeatedly until it becomes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; the number of divisions performed is the number of digits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Writing this loop as a do statement is better than using a while statement, because every integer—even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lang="en">
                <a:solidFill>
                  <a:srgbClr val="000000"/>
                </a:solidFill>
              </a:rPr>
              <a:t>—has at least one digit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6" name="Google Shape;166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Calculating the Number of Digits in an Integer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</p:txBody>
      </p:sp>
      <p:sp>
        <p:nvSpPr>
          <p:cNvPr id="172" name="Google Shape;172;p17"/>
          <p:cNvSpPr txBox="1"/>
          <p:nvPr>
            <p:ph idx="1" type="body"/>
          </p:nvPr>
        </p:nvSpPr>
        <p:spPr>
          <a:xfrm>
            <a:off x="5201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is ideal for loops that have a “counting” variable, but it’s versatile enough to be used for other kinds of loops as well.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 of the for statement: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(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;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;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</a:t>
            </a:r>
            <a:r>
              <a:rPr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endParaRPr i="1"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1" marL="13716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Verdana"/>
              <a:buChar char="○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and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are expressions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1412025" y="4110300"/>
            <a:ext cx="4513200" cy="7251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10; i &gt; 0; i--)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</p:txBody>
      </p:sp>
      <p:sp>
        <p:nvSpPr>
          <p:cNvPr id="179" name="Google Shape;179;p18"/>
          <p:cNvSpPr txBox="1"/>
          <p:nvPr>
            <p:ph idx="1" type="body"/>
          </p:nvPr>
        </p:nvSpPr>
        <p:spPr>
          <a:xfrm>
            <a:off x="520150" y="16674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9325" y="1740250"/>
            <a:ext cx="2309675" cy="324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</p:txBody>
      </p:sp>
      <p:sp>
        <p:nvSpPr>
          <p:cNvPr id="186" name="Google Shape;186;p19"/>
          <p:cNvSpPr txBox="1"/>
          <p:nvPr>
            <p:ph idx="1" type="body"/>
          </p:nvPr>
        </p:nvSpPr>
        <p:spPr>
          <a:xfrm>
            <a:off x="520150" y="166925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Except in a few rare cases,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loop can always be replaced by an equivalent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loop: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is an initialization step that’s performed only once, before the loop begins to execute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7" name="Google Shape;187;p19"/>
          <p:cNvSpPr txBox="1"/>
          <p:nvPr/>
        </p:nvSpPr>
        <p:spPr>
          <a:xfrm>
            <a:off x="4499525" y="2529300"/>
            <a:ext cx="4429800" cy="1569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i--;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8" name="Google Shape;188;p19"/>
          <p:cNvCxnSpPr/>
          <p:nvPr/>
        </p:nvCxnSpPr>
        <p:spPr>
          <a:xfrm flipH="1">
            <a:off x="3796575" y="2582850"/>
            <a:ext cx="22200" cy="164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9" name="Google Shape;189;p19"/>
          <p:cNvSpPr txBox="1"/>
          <p:nvPr/>
        </p:nvSpPr>
        <p:spPr>
          <a:xfrm>
            <a:off x="922225" y="2571750"/>
            <a:ext cx="2389200" cy="1699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</a:t>
            </a:r>
            <a:r>
              <a:rPr b="0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0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statement</a:t>
            </a:r>
            <a:endParaRPr b="0" i="1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</a:t>
            </a:r>
            <a:r>
              <a:rPr b="0" i="1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expr3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</p:txBody>
      </p:sp>
      <p:sp>
        <p:nvSpPr>
          <p:cNvPr id="195" name="Google Shape;195;p20"/>
          <p:cNvSpPr txBox="1"/>
          <p:nvPr>
            <p:ph idx="1" type="body"/>
          </p:nvPr>
        </p:nvSpPr>
        <p:spPr>
          <a:xfrm>
            <a:off x="542350" y="16100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i-- </a:t>
            </a:r>
            <a:r>
              <a:rPr lang="en">
                <a:solidFill>
                  <a:srgbClr val="000000"/>
                </a:solidFill>
              </a:rPr>
              <a:t>is replaced by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--i</a:t>
            </a:r>
            <a:r>
              <a:rPr lang="en">
                <a:solidFill>
                  <a:srgbClr val="000000"/>
                </a:solidFill>
              </a:rPr>
              <a:t>, it does not have any change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</a:t>
            </a:r>
            <a:r>
              <a:rPr lang="en">
                <a:solidFill>
                  <a:srgbClr val="000000"/>
                </a:solidFill>
              </a:rPr>
              <a:t>value as they are processed as statements</a:t>
            </a:r>
            <a:endParaRPr>
              <a:solidFill>
                <a:srgbClr val="000000"/>
              </a:solidFill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equivalent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loop shows that the change has no effect :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1714600" y="2471450"/>
            <a:ext cx="4412400" cy="671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10; i &gt; 0; --i)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1714600" y="3631225"/>
            <a:ext cx="4412400" cy="1467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10;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 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--i;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2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Statement Idioms</a:t>
            </a:r>
            <a:endParaRPr/>
          </a:p>
        </p:txBody>
      </p:sp>
      <p:sp>
        <p:nvSpPr>
          <p:cNvPr id="203" name="Google Shape;203;p21"/>
          <p:cNvSpPr txBox="1"/>
          <p:nvPr>
            <p:ph idx="1" type="body"/>
          </p:nvPr>
        </p:nvSpPr>
        <p:spPr>
          <a:xfrm>
            <a:off x="542350" y="16100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is usually the best choice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loops that “count up” (increment a variable) or “count down” (decrement a variable)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that counts up or down a total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</a:t>
            </a:r>
            <a:r>
              <a:rPr lang="en">
                <a:solidFill>
                  <a:srgbClr val="000000"/>
                </a:solidFill>
              </a:rPr>
              <a:t>times will usually have one of the following forms: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Counting up from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n–1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0; i &lt; n; i++)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Counting up from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  	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1; i &lt;= n; i++)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Counting down from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n–1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0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n - 1; i &gt;= 0; i--)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Counting down from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to </a:t>
            </a:r>
            <a:r>
              <a:rPr b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b="1" i="1"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n; i &gt; 0; i--) …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Statement Idioms</a:t>
            </a:r>
            <a:endParaRPr/>
          </a:p>
        </p:txBody>
      </p:sp>
      <p:sp>
        <p:nvSpPr>
          <p:cNvPr id="209" name="Google Shape;209;p22"/>
          <p:cNvSpPr txBox="1"/>
          <p:nvPr>
            <p:ph idx="1" type="body"/>
          </p:nvPr>
        </p:nvSpPr>
        <p:spPr>
          <a:xfrm>
            <a:off x="534950" y="16618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Common for statement errors: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Using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" sz="1400">
                <a:solidFill>
                  <a:srgbClr val="000000"/>
                </a:solidFill>
              </a:rPr>
              <a:t>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" sz="1400">
                <a:solidFill>
                  <a:srgbClr val="000000"/>
                </a:solidFill>
              </a:rPr>
              <a:t>(or vice versa) in the controlling expression. “Counting up” loops should use 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 </a:t>
            </a:r>
            <a:r>
              <a:rPr lang="en" sz="1400">
                <a:solidFill>
                  <a:srgbClr val="000000"/>
                </a:solidFill>
              </a:rPr>
              <a:t>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&lt;= </a:t>
            </a:r>
            <a:r>
              <a:rPr lang="en" sz="1400">
                <a:solidFill>
                  <a:srgbClr val="000000"/>
                </a:solidFill>
              </a:rPr>
              <a:t>operator. “Counting down” loops should use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 </a:t>
            </a:r>
            <a:r>
              <a:rPr lang="en" sz="1400">
                <a:solidFill>
                  <a:srgbClr val="000000"/>
                </a:solidFill>
              </a:rPr>
              <a:t>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&gt;=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Using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== </a:t>
            </a:r>
            <a:r>
              <a:rPr lang="en" sz="1400">
                <a:solidFill>
                  <a:srgbClr val="000000"/>
                </a:solidFill>
              </a:rPr>
              <a:t>in the controlling expression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&lt;=</a:t>
            </a:r>
            <a:r>
              <a:rPr lang="en" sz="1400">
                <a:solidFill>
                  <a:srgbClr val="000000"/>
                </a:solidFill>
              </a:rPr>
              <a:t>,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</a:t>
            </a:r>
            <a:r>
              <a:rPr lang="en" sz="1400">
                <a:solidFill>
                  <a:srgbClr val="000000"/>
                </a:solidFill>
              </a:rPr>
              <a:t>, or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&gt;=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</a:rPr>
              <a:t>“Off-by-one” errors such as writing the controlling expression as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&lt;= n</a:t>
            </a:r>
            <a:r>
              <a:rPr lang="en" sz="1400">
                <a:solidFill>
                  <a:srgbClr val="000000"/>
                </a:solidFill>
              </a:rPr>
              <a:t> instead of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&lt; n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Omitting Expressions in a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i="1" lang="en" sz="2000"/>
              <a:t> Statement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534950" y="167662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Any or All of the expressions that control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to be omitted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</a:t>
            </a:r>
            <a:r>
              <a:rPr i="1" lang="en">
                <a:solidFill>
                  <a:srgbClr val="000000"/>
                </a:solidFill>
              </a:rPr>
              <a:t>first</a:t>
            </a:r>
            <a:r>
              <a:rPr lang="en">
                <a:solidFill>
                  <a:srgbClr val="000000"/>
                </a:solidFill>
              </a:rPr>
              <a:t> expression is omitted, no initialization is performed before the loop is executed: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1412025" y="3135400"/>
            <a:ext cx="4992300" cy="1149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10;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(; i &gt; 0; --i)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Omitting Expressions in a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i="1" lang="en" sz="2000"/>
              <a:t> Statement</a:t>
            </a:r>
            <a:endParaRPr/>
          </a:p>
        </p:txBody>
      </p:sp>
      <p:sp>
        <p:nvSpPr>
          <p:cNvPr id="222" name="Google Shape;222;p24"/>
          <p:cNvSpPr txBox="1"/>
          <p:nvPr>
            <p:ph idx="1" type="body"/>
          </p:nvPr>
        </p:nvSpPr>
        <p:spPr>
          <a:xfrm>
            <a:off x="527550" y="155822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</a:t>
            </a:r>
            <a:r>
              <a:rPr i="1" lang="en">
                <a:solidFill>
                  <a:srgbClr val="000000"/>
                </a:solidFill>
              </a:rPr>
              <a:t>third</a:t>
            </a:r>
            <a:r>
              <a:rPr lang="en">
                <a:solidFill>
                  <a:srgbClr val="000000"/>
                </a:solidFill>
              </a:rPr>
              <a:t> expression is omitted, the loop body is responsible for ensuring that the value of the </a:t>
            </a:r>
            <a:r>
              <a:rPr i="1" lang="en">
                <a:solidFill>
                  <a:srgbClr val="000000"/>
                </a:solidFill>
              </a:rPr>
              <a:t>second </a:t>
            </a:r>
            <a:r>
              <a:rPr lang="en">
                <a:solidFill>
                  <a:srgbClr val="000000"/>
                </a:solidFill>
              </a:rPr>
              <a:t>expression eventually becomes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false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</a:t>
            </a:r>
            <a:r>
              <a:rPr i="1" lang="en">
                <a:solidFill>
                  <a:srgbClr val="000000"/>
                </a:solidFill>
              </a:rPr>
              <a:t>first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i="1" lang="en">
                <a:solidFill>
                  <a:srgbClr val="000000"/>
                </a:solidFill>
              </a:rPr>
              <a:t>third</a:t>
            </a:r>
            <a:r>
              <a:rPr lang="en">
                <a:solidFill>
                  <a:srgbClr val="000000"/>
                </a:solidFill>
              </a:rPr>
              <a:t> expressions are omitted, then it’s the same as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loop: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i="1"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b="1" i="1"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is the same as,</a:t>
            </a:r>
            <a:endParaRPr b="1" i="1"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1680975" y="2412600"/>
            <a:ext cx="4218900" cy="605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 10; i &gt; 0;)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i--);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2473500" y="3463175"/>
            <a:ext cx="4218900" cy="631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(; i &gt; 0;)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i--);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2473500" y="4358725"/>
            <a:ext cx="4218900" cy="6312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i--);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Omitting Expressions in a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i="1" lang="en" sz="2000"/>
              <a:t> Statement</a:t>
            </a:r>
            <a:endParaRPr/>
          </a:p>
        </p:txBody>
      </p:sp>
      <p:sp>
        <p:nvSpPr>
          <p:cNvPr id="231" name="Google Shape;231;p25"/>
          <p:cNvSpPr txBox="1"/>
          <p:nvPr>
            <p:ph idx="1" type="body"/>
          </p:nvPr>
        </p:nvSpPr>
        <p:spPr>
          <a:xfrm>
            <a:off x="520150" y="1676650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</a:t>
            </a:r>
            <a:r>
              <a:rPr i="1" lang="en">
                <a:solidFill>
                  <a:srgbClr val="000000"/>
                </a:solidFill>
              </a:rPr>
              <a:t>second</a:t>
            </a:r>
            <a:r>
              <a:rPr lang="en">
                <a:solidFill>
                  <a:srgbClr val="000000"/>
                </a:solidFill>
              </a:rPr>
              <a:t> expression is missing, it defaults to a true value, so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doesn’t terminate (unless stopped in some other fashion)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For example, some programmers use the following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to establish an infinite loop: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r>
              <a:rPr lang="en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;  ; ) …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i="1" lang="en" sz="2000"/>
              <a:t>statements in C99</a:t>
            </a:r>
            <a:endParaRPr/>
          </a:p>
        </p:txBody>
      </p:sp>
      <p:sp>
        <p:nvSpPr>
          <p:cNvPr id="237" name="Google Shape;237;p26"/>
          <p:cNvSpPr txBox="1"/>
          <p:nvPr>
            <p:ph idx="1" type="body"/>
          </p:nvPr>
        </p:nvSpPr>
        <p:spPr>
          <a:xfrm>
            <a:off x="512750" y="1711800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In C99, the first expression in a for statement can be replaced by a declaration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feature allows the programmer to declare a variable for use by the loop: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	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variable </a:t>
            </a:r>
            <a:r>
              <a:rPr i="1"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">
                <a:solidFill>
                  <a:srgbClr val="000000"/>
                </a:solidFill>
              </a:rPr>
              <a:t>need not have been declared prior to this statement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1328000" y="2790825"/>
            <a:ext cx="3092700" cy="800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0; i &lt; n;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…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i="1" lang="en" sz="2000"/>
              <a:t>statements in C99</a:t>
            </a:r>
            <a:endParaRPr/>
          </a:p>
        </p:txBody>
      </p:sp>
      <p:sp>
        <p:nvSpPr>
          <p:cNvPr id="244" name="Google Shape;244;p27"/>
          <p:cNvSpPr txBox="1"/>
          <p:nvPr>
            <p:ph idx="1" type="body"/>
          </p:nvPr>
        </p:nvSpPr>
        <p:spPr>
          <a:xfrm>
            <a:off x="512750" y="1711800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variable declared by a for statement can’t be accessed outside the body of the loop (we say that it’s not </a:t>
            </a:r>
            <a:r>
              <a:rPr b="1" i="1" lang="en">
                <a:solidFill>
                  <a:srgbClr val="000000"/>
                </a:solidFill>
              </a:rPr>
              <a:t>visible</a:t>
            </a:r>
            <a:r>
              <a:rPr lang="en">
                <a:solidFill>
                  <a:srgbClr val="000000"/>
                </a:solidFill>
              </a:rPr>
              <a:t> outside the loop):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1151500" y="2723575"/>
            <a:ext cx="5673000" cy="18624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0; i &lt; n; i++)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legal; i is visible inside loop 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   	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i="1" lang="en" sz="2000"/>
              <a:t>statements in C99</a:t>
            </a:r>
            <a:endParaRPr/>
          </a:p>
        </p:txBody>
      </p:sp>
      <p:sp>
        <p:nvSpPr>
          <p:cNvPr id="251" name="Google Shape;251;p28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If the program needs to access the variable after loop termination, it’s necessary to use the older form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may declare more than one variable, provided that all variables have the same type: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2" name="Google Shape;252;p28"/>
          <p:cNvSpPr txBox="1"/>
          <p:nvPr/>
        </p:nvSpPr>
        <p:spPr>
          <a:xfrm>
            <a:off x="1370025" y="3513600"/>
            <a:ext cx="3950100" cy="723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i = 0, j = 0; i &lt; n; i++)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…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Comma Operator</a:t>
            </a:r>
            <a:endParaRPr/>
          </a:p>
        </p:txBody>
      </p:sp>
      <p:sp>
        <p:nvSpPr>
          <p:cNvPr id="258" name="Google Shape;258;p29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More than one initialization expression or several increments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Used in </a:t>
            </a:r>
            <a:r>
              <a:rPr i="1" lang="en">
                <a:solidFill>
                  <a:srgbClr val="000000"/>
                </a:solidFill>
              </a:rPr>
              <a:t>first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i="1" lang="en">
                <a:solidFill>
                  <a:srgbClr val="000000"/>
                </a:solidFill>
              </a:rPr>
              <a:t>third </a:t>
            </a:r>
            <a:r>
              <a:rPr lang="en">
                <a:solidFill>
                  <a:srgbClr val="000000"/>
                </a:solidFill>
              </a:rPr>
              <a:t>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General form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expr1, expr2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Two step evaluation: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Evaluate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 </a:t>
            </a:r>
            <a:r>
              <a:rPr lang="en">
                <a:solidFill>
                  <a:srgbClr val="000000"/>
                </a:solidFill>
              </a:rPr>
              <a:t>-&gt; Discard value</a:t>
            </a:r>
            <a:endParaRPr>
              <a:solidFill>
                <a:srgbClr val="000000"/>
              </a:solidFill>
            </a:endParaRPr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Evaluate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expr2 </a:t>
            </a:r>
            <a:r>
              <a:rPr lang="en">
                <a:solidFill>
                  <a:srgbClr val="000000"/>
                </a:solidFill>
              </a:rPr>
              <a:t>-&gt; Value of the entire expression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expr1 </a:t>
            </a:r>
            <a:r>
              <a:rPr lang="en">
                <a:solidFill>
                  <a:srgbClr val="000000"/>
                </a:solidFill>
              </a:rPr>
              <a:t>must have side effect -&gt; Serves no purpose otherwise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/>
              <a:t>Statement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Comma Operator</a:t>
            </a:r>
            <a:endParaRPr/>
          </a:p>
        </p:txBody>
      </p:sp>
      <p:sp>
        <p:nvSpPr>
          <p:cNvPr id="264" name="Google Shape;264;p30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comma operator is</a:t>
            </a:r>
            <a:r>
              <a:rPr i="1" lang="en">
                <a:solidFill>
                  <a:srgbClr val="000000"/>
                </a:solidFill>
              </a:rPr>
              <a:t> left</a:t>
            </a:r>
            <a:r>
              <a:rPr lang="en">
                <a:solidFill>
                  <a:srgbClr val="000000"/>
                </a:solidFill>
              </a:rPr>
              <a:t> associative, so the compiler interprets</a:t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1, j = 2, k = i + j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as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((i = 1), (j = 2)), (k = (i + j))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Since the </a:t>
            </a:r>
            <a:r>
              <a:rPr i="1" lang="en">
                <a:solidFill>
                  <a:srgbClr val="000000"/>
                </a:solidFill>
              </a:rPr>
              <a:t>left</a:t>
            </a:r>
            <a:r>
              <a:rPr lang="en">
                <a:solidFill>
                  <a:srgbClr val="000000"/>
                </a:solidFill>
              </a:rPr>
              <a:t> operand in a comma expression is evaluated before the right operand, the assignments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j = 2</a:t>
            </a:r>
            <a:r>
              <a:rPr lang="en" sz="1400">
                <a:solidFill>
                  <a:srgbClr val="000000"/>
                </a:solidFill>
              </a:rPr>
              <a:t>,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k = i + j</a:t>
            </a:r>
            <a:r>
              <a:rPr lang="en">
                <a:solidFill>
                  <a:srgbClr val="000000"/>
                </a:solidFill>
              </a:rPr>
              <a:t> will be performed from left to right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instead of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square2.c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Expressions can be unrelated -&gt;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square3.c</a:t>
            </a:r>
            <a:endParaRPr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0" name="Google Shape;270;p3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Printing a Table of Squares (Revisited)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276" name="Google Shape;276;p32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normal exit point for a loop is at the beginning (as in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statement) or at the end (the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 </a:t>
            </a:r>
            <a:r>
              <a:rPr lang="en">
                <a:solidFill>
                  <a:srgbClr val="000000"/>
                </a:solidFill>
              </a:rPr>
              <a:t>statement).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Using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statement, it’s possible to write a loop with an exit point in the middle or a loop with more than one exit point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 can transfer control out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statement, but it can also be used to jump out of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>
                <a:solidFill>
                  <a:srgbClr val="000000"/>
                </a:solidFill>
              </a:rPr>
              <a:t>,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loop.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 loop that checks whether a number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</a:t>
            </a:r>
            <a:r>
              <a:rPr lang="en">
                <a:solidFill>
                  <a:srgbClr val="000000"/>
                </a:solidFill>
              </a:rPr>
              <a:t>is prime can use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 to terminate the loop as soon as a divisor is found:</a:t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2" name="Google Shape;282;p3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1462475" y="3479975"/>
            <a:ext cx="33534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 = 2; d &lt; n; d++)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(n % d == 0)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9144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After the loop has terminated,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>
                <a:solidFill>
                  <a:srgbClr val="000000"/>
                </a:solidFill>
              </a:rPr>
              <a:t>statement can be use to determine whether termination was premature (hence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</a:t>
            </a:r>
            <a:r>
              <a:rPr lang="en">
                <a:solidFill>
                  <a:srgbClr val="000000"/>
                </a:solidFill>
              </a:rPr>
              <a:t>isn’t prime) or normal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">
                <a:solidFill>
                  <a:srgbClr val="000000"/>
                </a:solidFill>
              </a:rPr>
              <a:t> is prime):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9" name="Google Shape;289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290" name="Google Shape;290;p34"/>
          <p:cNvSpPr txBox="1"/>
          <p:nvPr/>
        </p:nvSpPr>
        <p:spPr>
          <a:xfrm>
            <a:off x="1336400" y="3110175"/>
            <a:ext cx="4840800" cy="16008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 &lt; n)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 is divisible by %d\n"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n, d);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else</a:t>
            </a:r>
            <a:endParaRPr b="0" i="0" sz="1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 is prime\n"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505350" y="15933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We use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 in loops where the exit point is in the middle of the body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Loops that read user input, terminating when a particular value is entered, fall into this category: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6" name="Google Shape;296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297" name="Google Shape;297;p35"/>
          <p:cNvSpPr txBox="1"/>
          <p:nvPr/>
        </p:nvSpPr>
        <p:spPr>
          <a:xfrm>
            <a:off x="1008625" y="3085575"/>
            <a:ext cx="4958700" cy="193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3429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  ;   ;  ) {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"Enter a number (enter 0 to stop): 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&amp;n);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 == 0)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break;</a:t>
            </a:r>
            <a:endParaRPr b="0" i="0" sz="1200" u="none" cap="none" strike="noStrike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2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 cubed is %d\n"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n, n * n * n);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"/>
          <p:cNvSpPr txBox="1"/>
          <p:nvPr>
            <p:ph idx="1" type="body"/>
          </p:nvPr>
        </p:nvSpPr>
        <p:spPr>
          <a:xfrm>
            <a:off x="505350" y="15933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When the statements are nested,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statement can escape only one level of nesting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transfers control out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statement, but not out of 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>
                <a:solidFill>
                  <a:srgbClr val="000000"/>
                </a:solidFill>
              </a:rPr>
              <a:t>loop</a:t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3" name="Google Shape;303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304" name="Google Shape;304;p36"/>
          <p:cNvSpPr txBox="1"/>
          <p:nvPr/>
        </p:nvSpPr>
        <p:spPr>
          <a:xfrm>
            <a:off x="2990300" y="2286550"/>
            <a:ext cx="3370200" cy="1949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(…)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(…)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457200" marR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break;</a:t>
            </a:r>
            <a:endParaRPr b="0" i="0" sz="1400" u="none" cap="none" strike="noStrike">
              <a:solidFill>
                <a:srgbClr val="E6913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…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7"/>
          <p:cNvSpPr txBox="1"/>
          <p:nvPr>
            <p:ph idx="1" type="body"/>
          </p:nvPr>
        </p:nvSpPr>
        <p:spPr>
          <a:xfrm>
            <a:off x="505350" y="1674775"/>
            <a:ext cx="85458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 </a:t>
            </a:r>
            <a:r>
              <a:rPr lang="en">
                <a:solidFill>
                  <a:srgbClr val="000000"/>
                </a:solidFill>
              </a:rPr>
              <a:t>statement is similar to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lang="en">
                <a:solidFill>
                  <a:srgbClr val="000000"/>
                </a:solidFill>
              </a:rPr>
              <a:t>:</a:t>
            </a:r>
            <a:endParaRPr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 sz="1400">
                <a:solidFill>
                  <a:srgbClr val="000000"/>
                </a:solidFill>
              </a:rPr>
              <a:t>transfers control just past the end of a loop (control goes outside)</a:t>
            </a:r>
            <a:endParaRPr sz="1400">
              <a:solidFill>
                <a:srgbClr val="000000"/>
              </a:solidFill>
            </a:endParaRPr>
          </a:p>
          <a:p>
            <a:pPr indent="45720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 </a:t>
            </a:r>
            <a:r>
              <a:rPr lang="en" sz="1400">
                <a:solidFill>
                  <a:srgbClr val="000000"/>
                </a:solidFill>
              </a:rPr>
              <a:t>transfers control to a point just before the end of the loop body (control stays inside the loop)</a:t>
            </a:r>
            <a:endParaRPr sz="1400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There’s another difference between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</a:t>
            </a:r>
            <a:r>
              <a:rPr lang="en">
                <a:solidFill>
                  <a:srgbClr val="000000"/>
                </a:solidFill>
              </a:rPr>
              <a:t>: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break </a:t>
            </a:r>
            <a:r>
              <a:rPr lang="en">
                <a:solidFill>
                  <a:srgbClr val="000000"/>
                </a:solidFill>
              </a:rPr>
              <a:t>can be used in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switch </a:t>
            </a:r>
            <a:r>
              <a:rPr lang="en">
                <a:solidFill>
                  <a:srgbClr val="000000"/>
                </a:solidFill>
              </a:rPr>
              <a:t>statements and loops (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do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</a:t>
            </a:r>
            <a:r>
              <a:rPr lang="en">
                <a:solidFill>
                  <a:srgbClr val="000000"/>
                </a:solidFill>
              </a:rPr>
              <a:t>), whereas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continue </a:t>
            </a:r>
            <a:r>
              <a:rPr lang="en">
                <a:solidFill>
                  <a:srgbClr val="000000"/>
                </a:solidFill>
              </a:rPr>
              <a:t>is limited to loops</a:t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0" name="Google Shape;310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continue </a:t>
            </a:r>
            <a:r>
              <a:rPr i="1" lang="en" sz="2000"/>
              <a:t>Statement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8"/>
          <p:cNvSpPr txBox="1"/>
          <p:nvPr>
            <p:ph idx="1" type="body"/>
          </p:nvPr>
        </p:nvSpPr>
        <p:spPr>
          <a:xfrm>
            <a:off x="520150" y="1762000"/>
            <a:ext cx="4362900" cy="3222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–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loop that uses the continue statement,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= 0, sum = 0, 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 &lt; 10) {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lang="en" sz="1200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== 0)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	</a:t>
            </a:r>
            <a:r>
              <a:rPr lang="en" sz="1200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continue</a:t>
            </a: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sum += i;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n++;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lang="en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continue jumps to here */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 sz="12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}</a:t>
            </a:r>
            <a:endParaRPr sz="12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13716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16" name="Google Shape;316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Exiting from a Loop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The </a:t>
            </a:r>
            <a:r>
              <a:rPr i="1" lang="en" sz="2000">
                <a:latin typeface="Verdana"/>
                <a:ea typeface="Verdana"/>
                <a:cs typeface="Verdana"/>
                <a:sym typeface="Verdana"/>
              </a:rPr>
              <a:t>continue </a:t>
            </a:r>
            <a:r>
              <a:rPr i="1" lang="en" sz="2000"/>
              <a:t>Statement</a:t>
            </a:r>
            <a:endParaRPr/>
          </a:p>
        </p:txBody>
      </p:sp>
      <p:sp>
        <p:nvSpPr>
          <p:cNvPr id="317" name="Google Shape;317;p38"/>
          <p:cNvSpPr txBox="1"/>
          <p:nvPr/>
        </p:nvSpPr>
        <p:spPr>
          <a:xfrm>
            <a:off x="4958475" y="1762000"/>
            <a:ext cx="4026000" cy="3181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–	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Same loop, but without continue,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int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n = 0, sum = 0,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 &lt; 10)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scanf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"%d"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&amp;i);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!= 0) {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sum += 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		n++;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34290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}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9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Many simple interactive programs present the user with a list of commands to choose from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Once a command is entered, the program performs the desired action, then prompts the user for another command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This process continues until the user selects an “</a:t>
            </a:r>
            <a:r>
              <a:rPr b="1" i="1" lang="en">
                <a:solidFill>
                  <a:srgbClr val="000000"/>
                </a:solidFill>
              </a:rPr>
              <a:t>exit</a:t>
            </a:r>
            <a:r>
              <a:rPr lang="en">
                <a:solidFill>
                  <a:srgbClr val="000000"/>
                </a:solidFill>
              </a:rPr>
              <a:t>” or “</a:t>
            </a:r>
            <a:r>
              <a:rPr b="1" i="1" lang="en">
                <a:solidFill>
                  <a:srgbClr val="000000"/>
                </a:solidFill>
              </a:rPr>
              <a:t>quit</a:t>
            </a:r>
            <a:r>
              <a:rPr lang="en">
                <a:solidFill>
                  <a:srgbClr val="000000"/>
                </a:solidFill>
              </a:rPr>
              <a:t>” command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3" name="Google Shape;323;p3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Balancing a Checkbook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0"/>
          <p:cNvSpPr txBox="1"/>
          <p:nvPr>
            <p:ph idx="1" type="body"/>
          </p:nvPr>
        </p:nvSpPr>
        <p:spPr>
          <a:xfrm>
            <a:off x="512750" y="1711800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program, which maintains a checkbook balance, uses a loop of this type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user is allowed to clear the </a:t>
            </a:r>
            <a:r>
              <a:rPr b="1" i="1" lang="en">
                <a:solidFill>
                  <a:srgbClr val="000000"/>
                </a:solidFill>
              </a:rPr>
              <a:t>account balance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b="1" i="1" lang="en">
                <a:solidFill>
                  <a:srgbClr val="000000"/>
                </a:solidFill>
              </a:rPr>
              <a:t>credit money</a:t>
            </a:r>
            <a:r>
              <a:rPr lang="en">
                <a:solidFill>
                  <a:srgbClr val="000000"/>
                </a:solidFill>
              </a:rPr>
              <a:t> to the account, </a:t>
            </a:r>
            <a:r>
              <a:rPr b="1" i="1" lang="en">
                <a:solidFill>
                  <a:srgbClr val="000000"/>
                </a:solidFill>
              </a:rPr>
              <a:t>debit money </a:t>
            </a:r>
            <a:r>
              <a:rPr lang="en">
                <a:solidFill>
                  <a:srgbClr val="000000"/>
                </a:solidFill>
              </a:rPr>
              <a:t>from the account, </a:t>
            </a:r>
            <a:r>
              <a:rPr b="1" i="1" lang="en">
                <a:solidFill>
                  <a:srgbClr val="000000"/>
                </a:solidFill>
              </a:rPr>
              <a:t>display the current balance</a:t>
            </a:r>
            <a:r>
              <a:rPr lang="en">
                <a:solidFill>
                  <a:srgbClr val="000000"/>
                </a:solidFill>
              </a:rPr>
              <a:t>, and </a:t>
            </a:r>
            <a:r>
              <a:rPr b="1" i="1" lang="en">
                <a:solidFill>
                  <a:srgbClr val="000000"/>
                </a:solidFill>
              </a:rPr>
              <a:t>exit</a:t>
            </a:r>
            <a:r>
              <a:rPr lang="en">
                <a:solidFill>
                  <a:srgbClr val="000000"/>
                </a:solidFill>
              </a:rPr>
              <a:t> the program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29" name="Google Shape;329;p40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 (contd.)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Balancing a Checkbook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1"/>
          <p:cNvSpPr txBox="1"/>
          <p:nvPr>
            <p:ph idx="1" type="body"/>
          </p:nvPr>
        </p:nvSpPr>
        <p:spPr>
          <a:xfrm>
            <a:off x="512750" y="16229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*** ACME checkbook-balancing program ***</a:t>
            </a:r>
            <a:endParaRPr b="1"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Commands: 0=clear, 1=credit, 2=debit, 3=balance, 4=exit</a:t>
            </a:r>
            <a:endParaRPr b="1"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b="1"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amount of credit: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1042.56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amount of debit: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133.79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amount of credit: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1754.32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amount of debit: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1400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amount of debit: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68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1" sz="1100" u="sng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Current balance: $1195.09</a:t>
            </a:r>
            <a:endParaRPr b="1"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b="1" lang="en" sz="11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Enter command: </a:t>
            </a:r>
            <a:r>
              <a:rPr b="1" lang="en" sz="1100" u="sng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1" sz="11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35" name="Google Shape;335;p4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Programming Task (contd.)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i="1" lang="en" sz="2000"/>
              <a:t>Balancing a Checkbook (Sample Run)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2"/>
          <p:cNvSpPr txBox="1"/>
          <p:nvPr>
            <p:ph idx="1" type="body"/>
          </p:nvPr>
        </p:nvSpPr>
        <p:spPr>
          <a:xfrm>
            <a:off x="5275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</a:rPr>
              <a:t>A statement can be </a:t>
            </a:r>
            <a:r>
              <a:rPr b="1" i="1" lang="en">
                <a:solidFill>
                  <a:srgbClr val="000000"/>
                </a:solidFill>
              </a:rPr>
              <a:t>null</a:t>
            </a:r>
            <a:r>
              <a:rPr lang="en">
                <a:solidFill>
                  <a:srgbClr val="000000"/>
                </a:solidFill>
              </a:rPr>
              <a:t>—devoid of symbols except for the semicolon at the end.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following line contains three statements:</a:t>
            </a:r>
            <a:endParaRPr>
              <a:solidFill>
                <a:srgbClr val="000000"/>
              </a:solidFill>
            </a:endParaRPr>
          </a:p>
          <a:p>
            <a:pPr indent="0" lvl="0" marL="3429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		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0; ; j = 1;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>
                <a:solidFill>
                  <a:srgbClr val="000000"/>
                </a:solidFill>
              </a:rPr>
              <a:t>statement is primarily good for one thing: writing loops whose bodies are empty</a:t>
            </a:r>
            <a:endParaRPr b="1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1" name="Google Shape;341;p4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/>
              <a:t>Statement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3"/>
          <p:cNvSpPr txBox="1"/>
          <p:nvPr>
            <p:ph idx="1" type="body"/>
          </p:nvPr>
        </p:nvSpPr>
        <p:spPr>
          <a:xfrm>
            <a:off x="5275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Consider the following prime-finding loop: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If 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 % d == 0</a:t>
            </a:r>
            <a:r>
              <a:rPr lang="en" sz="1400">
                <a:solidFill>
                  <a:srgbClr val="000000"/>
                </a:solidFill>
              </a:rPr>
              <a:t> condition is moved into the loop’s controlling expression, the body of the loop becomes empty: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To </a:t>
            </a:r>
            <a:r>
              <a:rPr lang="en" sz="1400">
                <a:solidFill>
                  <a:srgbClr val="E06666"/>
                </a:solidFill>
              </a:rPr>
              <a:t>avoid confusion</a:t>
            </a:r>
            <a:r>
              <a:rPr lang="en" sz="1400">
                <a:solidFill>
                  <a:srgbClr val="000000"/>
                </a:solidFill>
              </a:rPr>
              <a:t>, C programmers customarily put the </a:t>
            </a: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 sz="1400">
                <a:solidFill>
                  <a:srgbClr val="000000"/>
                </a:solidFill>
              </a:rPr>
              <a:t>statement on a line by itself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47" name="Google Shape;347;p43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/>
              <a:t>Statement</a:t>
            </a:r>
            <a:endParaRPr/>
          </a:p>
        </p:txBody>
      </p:sp>
      <p:sp>
        <p:nvSpPr>
          <p:cNvPr id="348" name="Google Shape;348;p43"/>
          <p:cNvSpPr txBox="1"/>
          <p:nvPr/>
        </p:nvSpPr>
        <p:spPr>
          <a:xfrm>
            <a:off x="2168425" y="2185700"/>
            <a:ext cx="2681100" cy="894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 = 2; d &lt; n; d++)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if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(n % d == 0)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 		</a:t>
            </a:r>
            <a:r>
              <a:rPr b="0" i="0" lang="en" sz="1200" u="none" cap="none" strike="noStrike">
                <a:solidFill>
                  <a:srgbClr val="FFA25E"/>
                </a:solidFill>
                <a:latin typeface="Verdana"/>
                <a:ea typeface="Verdana"/>
                <a:cs typeface="Verdana"/>
                <a:sym typeface="Verdana"/>
              </a:rPr>
              <a:t>break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9" name="Google Shape;349;p43"/>
          <p:cNvSpPr txBox="1"/>
          <p:nvPr/>
        </p:nvSpPr>
        <p:spPr>
          <a:xfrm>
            <a:off x="2168425" y="3798750"/>
            <a:ext cx="4109700" cy="6183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(d = 2; d &lt; n &amp;&amp; n % d != 0; d++)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	</a:t>
            </a:r>
            <a:r>
              <a:rPr b="0" i="0" lang="en" sz="12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 empty loop body */ ;</a:t>
            </a:r>
            <a:endParaRPr b="0" i="0" sz="12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44"/>
          <p:cNvSpPr txBox="1"/>
          <p:nvPr>
            <p:ph idx="1" type="body"/>
          </p:nvPr>
        </p:nvSpPr>
        <p:spPr>
          <a:xfrm>
            <a:off x="5275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Accidentally putting a semicolon after the parentheses in an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if</a:t>
            </a:r>
            <a:r>
              <a:rPr lang="en">
                <a:solidFill>
                  <a:srgbClr val="000000"/>
                </a:solidFill>
              </a:rPr>
              <a:t>,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while</a:t>
            </a:r>
            <a:r>
              <a:rPr lang="en">
                <a:solidFill>
                  <a:srgbClr val="000000"/>
                </a:solidFill>
              </a:rPr>
              <a:t>, or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for </a:t>
            </a:r>
            <a:r>
              <a:rPr lang="en">
                <a:solidFill>
                  <a:srgbClr val="000000"/>
                </a:solidFill>
              </a:rPr>
              <a:t>statement creates a </a:t>
            </a:r>
            <a:r>
              <a:rPr lang="en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>
                <a:solidFill>
                  <a:srgbClr val="000000"/>
                </a:solidFill>
              </a:rPr>
              <a:t>statement.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1: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 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00"/>
                </a:solidFill>
              </a:rPr>
              <a:t>	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  The extra semicolon creates an infinite loop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55" name="Google Shape;355;p4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/>
              <a:t>Statement</a:t>
            </a:r>
            <a:endParaRPr/>
          </a:p>
        </p:txBody>
      </p:sp>
      <p:sp>
        <p:nvSpPr>
          <p:cNvPr id="356" name="Google Shape;356;p44"/>
          <p:cNvSpPr txBox="1"/>
          <p:nvPr/>
        </p:nvSpPr>
        <p:spPr>
          <a:xfrm>
            <a:off x="1311175" y="2841250"/>
            <a:ext cx="4614000" cy="15069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10;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(i &gt; 0);{    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--i;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5"/>
          <p:cNvSpPr txBox="1"/>
          <p:nvPr>
            <p:ph idx="1" type="body"/>
          </p:nvPr>
        </p:nvSpPr>
        <p:spPr>
          <a:xfrm>
            <a:off x="527550" y="1674775"/>
            <a:ext cx="8222100" cy="3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Example 2: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loop body is executed only once; the message printed is:</a:t>
            </a:r>
            <a:endParaRPr>
              <a:solidFill>
                <a:srgbClr val="000000"/>
              </a:solidFill>
            </a:endParaRPr>
          </a:p>
          <a:p>
            <a:pPr indent="457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lang="en" sz="14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 minus 0 and counting</a:t>
            </a:r>
            <a:endParaRPr sz="140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20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8001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7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62" name="Google Shape;362;p4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The </a:t>
            </a:r>
            <a:r>
              <a:rPr lang="en">
                <a:latin typeface="Verdana"/>
                <a:ea typeface="Verdana"/>
                <a:cs typeface="Verdana"/>
                <a:sym typeface="Verdana"/>
              </a:rPr>
              <a:t>Null </a:t>
            </a:r>
            <a:r>
              <a:rPr lang="en"/>
              <a:t>Statement</a:t>
            </a:r>
            <a:endParaRPr/>
          </a:p>
        </p:txBody>
      </p:sp>
      <p:sp>
        <p:nvSpPr>
          <p:cNvPr id="363" name="Google Shape;363;p45"/>
          <p:cNvSpPr txBox="1"/>
          <p:nvPr/>
        </p:nvSpPr>
        <p:spPr>
          <a:xfrm>
            <a:off x="1395225" y="2303350"/>
            <a:ext cx="5135100" cy="12006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= 11;</a:t>
            </a:r>
            <a:endParaRPr b="0" i="0" sz="1400" u="none" cap="none" strike="noStrik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" sz="1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while 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(--i &gt; 0);            	</a:t>
            </a:r>
            <a:r>
              <a:rPr b="0" i="0" lang="en" sz="1400" u="none" cap="none" strike="noStrike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/*** WRONG ***/</a:t>
            </a:r>
            <a:endParaRPr b="0" i="0" sz="1400" u="none" cap="none" strike="noStrike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	</a:t>
            </a:r>
            <a:r>
              <a:rPr b="0" i="0" lang="en" sz="1400" u="none" cap="none" strike="noStrike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printf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b="0" i="0" lang="en" sz="1400" u="none" cap="none" strike="noStrike">
                <a:solidFill>
                  <a:srgbClr val="E69138"/>
                </a:solidFill>
                <a:latin typeface="Verdana"/>
                <a:ea typeface="Verdana"/>
                <a:cs typeface="Verdana"/>
                <a:sym typeface="Verdana"/>
              </a:rPr>
              <a:t>"T minus %d and counting\n"</a:t>
            </a:r>
            <a:r>
              <a:rPr b="0" i="0" lang="en" sz="1400" u="none" cap="none" strike="noStrik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, i);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