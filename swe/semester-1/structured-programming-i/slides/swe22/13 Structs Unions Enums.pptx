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ilmhNGzaNONi6ZkVBur2ElHYQD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customschemas.google.com/relationships/presentationmetadata" Target="meta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4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Structures, Unions, and Enumerations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properties of a </a:t>
            </a:r>
            <a:r>
              <a:rPr b="1"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are different from those of an array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elements of a structure (its </a:t>
            </a:r>
            <a:r>
              <a:rPr b="1" i="1" lang="en" sz="1400">
                <a:solidFill>
                  <a:srgbClr val="000000"/>
                </a:solidFill>
              </a:rPr>
              <a:t>members</a:t>
            </a:r>
            <a:r>
              <a:rPr lang="en" sz="1400">
                <a:solidFill>
                  <a:srgbClr val="000000"/>
                </a:solidFill>
              </a:rPr>
              <a:t>) aren’t required to have the same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members of a structure have names; to select a particular member, we specify its name, not its position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some languages, structures are called </a:t>
            </a:r>
            <a:r>
              <a:rPr b="1" i="1" lang="en">
                <a:solidFill>
                  <a:srgbClr val="000000"/>
                </a:solidFill>
              </a:rPr>
              <a:t>records,</a:t>
            </a:r>
            <a:r>
              <a:rPr lang="en">
                <a:solidFill>
                  <a:srgbClr val="000000"/>
                </a:solidFill>
              </a:rPr>
              <a:t> and members are known as </a:t>
            </a:r>
            <a:r>
              <a:rPr b="1" i="1" lang="en">
                <a:solidFill>
                  <a:srgbClr val="000000"/>
                </a:solidFill>
              </a:rPr>
              <a:t>fields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structure is a </a:t>
            </a:r>
            <a:r>
              <a:rPr lang="en">
                <a:solidFill>
                  <a:srgbClr val="6D9EEB"/>
                </a:solidFill>
              </a:rPr>
              <a:t>logical</a:t>
            </a:r>
            <a:r>
              <a:rPr lang="en">
                <a:solidFill>
                  <a:srgbClr val="000000"/>
                </a:solidFill>
              </a:rPr>
              <a:t> choice for storing a collection of related data items</a:t>
            </a:r>
            <a:endParaRPr b="1" i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declaration of two structure variables that store information about parts in a warehouse: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part1, part2;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53313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a structure are stored in memory in the order in which they’re declared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Appearance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Assumptions: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r>
              <a:rPr lang="en">
                <a:solidFill>
                  <a:srgbClr val="000000"/>
                </a:solidFill>
              </a:rPr>
              <a:t> is located at address 2000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Integers occupy four bytes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NAME_LEN</a:t>
            </a:r>
            <a:r>
              <a:rPr lang="en">
                <a:solidFill>
                  <a:srgbClr val="000000"/>
                </a:solidFill>
              </a:rPr>
              <a:t> has the value 25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There are no gaps between the members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8000" y="1887787"/>
            <a:ext cx="1539000" cy="30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idx="1" type="body"/>
          </p:nvPr>
        </p:nvSpPr>
        <p:spPr>
          <a:xfrm>
            <a:off x="512750" y="1714050"/>
            <a:ext cx="84027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structure represents a new space ⇒ Name space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names declared in that scope won’t conflict with other names in a program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3" name="Google Shape;93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1065175" y="3027725"/>
            <a:ext cx="31080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part1, part2;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179150" y="3027725"/>
            <a:ext cx="31080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gender;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employee1, employee2;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4709900" y="2604425"/>
            <a:ext cx="8400" cy="24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With declaration ⇒ Similar to array initializer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	part1 = {328, “North Hall”, 2},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part2 = {329, “North Hall”, 1};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Structure Variables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 initializers follow rules similar to those for array initializers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used in a structure initializer must be constant. (This restriction is relaxed in C99.)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initializer can have fewer members than the structure it’s initializing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</a:t>
            </a:r>
            <a:r>
              <a:rPr b="1" lang="en">
                <a:solidFill>
                  <a:srgbClr val="000000"/>
                </a:solidFill>
              </a:rPr>
              <a:t>“leftover”</a:t>
            </a:r>
            <a:r>
              <a:rPr lang="en">
                <a:solidFill>
                  <a:srgbClr val="000000"/>
                </a:solidFill>
              </a:rPr>
              <a:t> members are given 0 as their initial value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Structure Variables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Similar to arrays: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.number = 328, .name = ”North Hall”, .on_hand = 2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.member_name ⇒ Designator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Easy to read and check for correctness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in a different order than the original declaration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Don’t have to remember the order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Declaration can be changed without affecting the initialization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a mixed declaration: 	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.number = 328, ”North Hall”, .on_hand = 2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Designated Initializers (C99)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a member within a structure, we write the name of the structure first, then a period, then the name of the member.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Statements that display the values of part1’s members: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"Part number: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part1.number);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"Part name: 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part1.name);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"Quantity on hand: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part1.on_hand);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a structure are </a:t>
            </a:r>
            <a:r>
              <a:rPr i="1" lang="en">
                <a:solidFill>
                  <a:srgbClr val="000000"/>
                </a:solidFill>
              </a:rPr>
              <a:t>lvalues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They can appear on the left side of an assignment or as the operand in an increment or decrement expression: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part1.number = 258;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changes part1's part number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part1.on_hand++;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increments part1's quantity on hand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period used to access a structure member is actually a C operator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 takes precedence over nearly all other operators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 can be used only with structures of </a:t>
            </a:r>
            <a:r>
              <a:rPr b="1" i="1" lang="en">
                <a:solidFill>
                  <a:srgbClr val="000000"/>
                </a:solidFill>
              </a:rPr>
              <a:t>compatible</a:t>
            </a:r>
            <a:r>
              <a:rPr lang="en">
                <a:solidFill>
                  <a:srgbClr val="000000"/>
                </a:solidFill>
              </a:rPr>
              <a:t>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structures declared at the same time (as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part2</a:t>
            </a:r>
            <a:r>
              <a:rPr lang="en">
                <a:solidFill>
                  <a:srgbClr val="000000"/>
                </a:solidFill>
              </a:rPr>
              <a:t> were) are compatible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Structures declared using the same </a:t>
            </a:r>
            <a:r>
              <a:rPr i="1" lang="en">
                <a:solidFill>
                  <a:srgbClr val="000000"/>
                </a:solidFill>
              </a:rPr>
              <a:t>“structure tag”</a:t>
            </a:r>
            <a:r>
              <a:rPr lang="en">
                <a:solidFill>
                  <a:srgbClr val="000000"/>
                </a:solidFill>
              </a:rPr>
              <a:t> or the same type name are also compatible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than assignment, C provides no operations on entire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particular,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!=</a:t>
            </a:r>
            <a:r>
              <a:rPr lang="en">
                <a:solidFill>
                  <a:srgbClr val="000000"/>
                </a:solidFill>
              </a:rPr>
              <a:t> operators can’t be used with structures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" name="Google Shape;132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Arrays can’t be copied using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operator, but an array embedded within a structure is copied when the enclosing structure is copied.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programmers exploit this property by creating </a:t>
            </a:r>
            <a:r>
              <a:rPr i="1" lang="en">
                <a:solidFill>
                  <a:srgbClr val="000000"/>
                </a:solidFill>
              </a:rPr>
              <a:t>“dummy”</a:t>
            </a:r>
            <a:r>
              <a:rPr lang="en">
                <a:solidFill>
                  <a:srgbClr val="000000"/>
                </a:solidFill>
              </a:rPr>
              <a:t> structures to enclose arrays that will be copied later: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a[10]; } a1, a2;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a1 = a2;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legal, since a1 and a2 are structures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 program needs to declare several structure variables with identical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need a name that represents a </a:t>
            </a:r>
            <a:r>
              <a:rPr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of structure, not a particular structure </a:t>
            </a:r>
            <a:r>
              <a:rPr i="1" lang="en">
                <a:solidFill>
                  <a:srgbClr val="000000"/>
                </a:solidFill>
              </a:rPr>
              <a:t>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Ways to name a structure: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Declare a </a:t>
            </a:r>
            <a:r>
              <a:rPr i="1" lang="en" sz="1400">
                <a:solidFill>
                  <a:srgbClr val="000000"/>
                </a:solidFill>
              </a:rPr>
              <a:t>“structure tag”</a:t>
            </a:r>
            <a:endParaRPr i="1"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Use typedef to define a type name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structure tag</a:t>
            </a:r>
            <a:r>
              <a:rPr lang="en">
                <a:solidFill>
                  <a:srgbClr val="000000"/>
                </a:solidFill>
              </a:rPr>
              <a:t> is a name used to identify a particular kind of structure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 of a structure tag named part: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69138"/>
                </a:solidFill>
              </a:rPr>
              <a:t>Note</a:t>
            </a:r>
            <a:r>
              <a:rPr lang="en">
                <a:solidFill>
                  <a:srgbClr val="000000"/>
                </a:solidFill>
              </a:rPr>
              <a:t> that a semicolon must follow the right brace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a Structure Tag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</a:t>
            </a:r>
            <a:r>
              <a:rPr lang="en">
                <a:solidFill>
                  <a:srgbClr val="000000"/>
                </a:solidFill>
              </a:rPr>
              <a:t> tag can be used to declare variables: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part1, part2;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can’t drop the word struct: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part part1, part2;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</a:t>
            </a:r>
            <a:r>
              <a:rPr lang="en">
                <a:solidFill>
                  <a:srgbClr val="000000"/>
                </a:solidFill>
              </a:rPr>
              <a:t> isn’t a </a:t>
            </a:r>
            <a:r>
              <a:rPr i="1" lang="en">
                <a:solidFill>
                  <a:srgbClr val="8E7CC3"/>
                </a:solidFill>
              </a:rPr>
              <a:t>type name</a:t>
            </a:r>
            <a:r>
              <a:rPr lang="en">
                <a:solidFill>
                  <a:srgbClr val="000000"/>
                </a:solidFill>
              </a:rPr>
              <a:t>; without the word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>
                <a:solidFill>
                  <a:srgbClr val="000000"/>
                </a:solidFill>
              </a:rPr>
              <a:t>, it is meaningless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tags aren’t recognized unless preceded by the word struct, they don’t conflict with other names used in a program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a Structure Tag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arguments: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return value: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Structures as Arguments and Return Values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2779750" y="1827825"/>
            <a:ext cx="3669600" cy="1046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p){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"Name: %s\n"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p.name);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779750" y="3040250"/>
            <a:ext cx="5121600" cy="20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 build(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number, 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*name,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 p;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p.number = number;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strcpy(p.name, name);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p.on_hand = on_hand;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 p;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Passing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to a function and returning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from a function both require making a copy of all members in the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avoid this overhead, it’s sometimes advisable to pass a </a:t>
            </a:r>
            <a:r>
              <a:rPr lang="en">
                <a:solidFill>
                  <a:srgbClr val="6D9EEB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to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or return a </a:t>
            </a:r>
            <a:r>
              <a:rPr lang="en">
                <a:solidFill>
                  <a:srgbClr val="6D9EEB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to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build_part</a:t>
            </a:r>
            <a:r>
              <a:rPr lang="en">
                <a:solidFill>
                  <a:srgbClr val="000000"/>
                </a:solidFill>
              </a:rPr>
              <a:t>:		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 = build_part(328, "North Hall", 1);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compound literal can be used to create a structure :	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1"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part) </a:t>
            </a:r>
            <a:r>
              <a:rPr b="1" lang="en" sz="1400">
                <a:solidFill>
                  <a:srgbClr val="8E7CC3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528, "Disk drive", 10</a:t>
            </a:r>
            <a:r>
              <a:rPr b="1"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Structures as Arguments and Return Values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Structures and Arrays can be combined without any restrictions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Nested Structures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108950" y="2422175"/>
            <a:ext cx="3188100" cy="1785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first[FIRST_NAME_LEN+1];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middle_initial;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last[LAST_NAME_LEN+1];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763300" y="2422175"/>
            <a:ext cx="3188100" cy="1785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student{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 name;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id,age;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gender;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student1, student2;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strcpy(student1.name.first,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"Hermione"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Easier to treat name as units of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passed to a function: 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display_name(student1.name)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Copying information requires less assignments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 new_name;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student1.name = new_name;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Nested Structures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create simple databases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inventory[100]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part can be done using array subscripting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print_name(inventory[i])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member combines subscripting and selection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inventory[i].number = 431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single character can be done too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inventory[i].name[0]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'\0'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Arrays of Structures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Initializing an array of structures is done in much the same way as initializing a multidimensional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structure has its own brace-enclosed initializer; the array initializer wraps another set of braces around the structure initializers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reason for initializing an array of structures is that it contains information that won’t change during program execution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dialing_code 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*country;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code;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};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dialing_code country_codes[] ={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"Argentina"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54},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"Bangladesh"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		880},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"Brazil"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 			55},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"Burma (Myanmar)"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95},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"China"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  			86},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"Colombia"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		57},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"Congo, Dem. Rep. of"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	243},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"Egypt"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20},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"Ethiopia"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	251},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"France"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		33},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"Germany"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		49}, 	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"India"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91},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 };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declaration of the inventory array that uses a designated initializer to create a single part: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inventory[100] =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{	[0].number = 528, [0].on_hand = 10,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[0].name[0] = '\0'};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first two items in the initializer use two designators; the last item uses three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illustrates how nested arrays and structures are used in practice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tracks parts stored in a warehouse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Information about the parts is stored in an array of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Contents of each structure: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Part number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Name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Quantity</a:t>
            </a:r>
            <a:endParaRPr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Maintaining a Parts Database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union,</a:t>
            </a:r>
            <a:r>
              <a:rPr lang="en">
                <a:solidFill>
                  <a:srgbClr val="000000"/>
                </a:solidFill>
              </a:rPr>
              <a:t> like a structure, consists of one or more members, possibly of different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compiler allocates only enough space for the largest of the members, which overlay each other within this space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new value to one member alters the values of the other members as well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0" name="Google Shape;22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example of a union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u;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 of a union closely resembles a structure declaration: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6" name="Google Shape;22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512750" y="1714050"/>
            <a:ext cx="4280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structure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">
                <a:solidFill>
                  <a:srgbClr val="000000"/>
                </a:solidFill>
              </a:rPr>
              <a:t> and the union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differ in just one way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">
                <a:solidFill>
                  <a:srgbClr val="000000"/>
                </a:solidFill>
              </a:rPr>
              <a:t> are stored at different addresses in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are stored at the same address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3900" y="1833350"/>
            <a:ext cx="2282225" cy="31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Members of a union are accessed in the same way as members of a structure: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u.i = 82;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u.d = 74.8;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Changing one member of a union alters any value previously stored in any of the other members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Storing a value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u.d</a:t>
            </a:r>
            <a:r>
              <a:rPr lang="en">
                <a:solidFill>
                  <a:srgbClr val="000000"/>
                </a:solidFill>
              </a:rPr>
              <a:t> causes any value previously stored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u.i</a:t>
            </a:r>
            <a:r>
              <a:rPr lang="en">
                <a:solidFill>
                  <a:srgbClr val="000000"/>
                </a:solidFill>
              </a:rPr>
              <a:t> to be lost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Changing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u.i</a:t>
            </a:r>
            <a:r>
              <a:rPr lang="en">
                <a:solidFill>
                  <a:srgbClr val="000000"/>
                </a:solidFill>
              </a:rPr>
              <a:t> corrupts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properties of unions are almost identical to the properties of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declare union tags and union types in the same way we declare structure tags and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Like structures, unions can be copied using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operator, passed to functions, and returned by functions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Only the first member of a union can be given an initial value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Initializing the i member of u to 0: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Designated initializers can also be used with unions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designated initializer allows us to specify which member of a union should be initialized: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4968400" y="1809325"/>
            <a:ext cx="1692600" cy="1154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u = {0};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3239325" y="3735425"/>
            <a:ext cx="2239800" cy="1277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u = {.d = 10.0};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Unions can be used to save space in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we’re designing a structure that will contain information about an item that’s sold through a gift catalog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item has a stock number and a price, as well as other information that depends on the type of the item: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</a:rPr>
              <a:t>  </a:t>
            </a:r>
            <a:r>
              <a:rPr b="1" i="1" lang="en" sz="1400">
                <a:solidFill>
                  <a:srgbClr val="000000"/>
                </a:solidFill>
              </a:rPr>
              <a:t>Books:</a:t>
            </a:r>
            <a:r>
              <a:rPr lang="en" sz="1400">
                <a:solidFill>
                  <a:srgbClr val="000000"/>
                </a:solidFill>
              </a:rPr>
              <a:t> Title, author, number of pages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 Mugs:</a:t>
            </a:r>
            <a:r>
              <a:rPr lang="en" sz="1400">
                <a:solidFill>
                  <a:srgbClr val="000000"/>
                </a:solidFill>
              </a:rPr>
              <a:t> Design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 Shirts:</a:t>
            </a:r>
            <a:r>
              <a:rPr lang="en" sz="1400">
                <a:solidFill>
                  <a:srgbClr val="000000"/>
                </a:solidFill>
              </a:rPr>
              <a:t> Design, colors available, sizes available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9" name="Google Shape;25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first attempt at designing the catalog_item structure: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674EA7"/>
                </a:solidFill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catalog_item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stock_number;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price;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item_type;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title[TITLE_LEN+1];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author[AUTHOR_LEN+1];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num_pages;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colors;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sizes;	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item_type</a:t>
            </a:r>
            <a:r>
              <a:rPr lang="en">
                <a:solidFill>
                  <a:srgbClr val="000000"/>
                </a:solidFill>
              </a:rPr>
              <a:t> member would have one of the values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BOOK, MUG, or SHIRT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colors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sizes</a:t>
            </a:r>
            <a:r>
              <a:rPr lang="en">
                <a:solidFill>
                  <a:srgbClr val="000000"/>
                </a:solidFill>
              </a:rPr>
              <a:t> members would store encoded combinations of colors and sizes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structure wastes space, since only part of the information in the structure is common to all items in the catalog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putting a union inside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catalog_item</a:t>
            </a:r>
            <a:r>
              <a:rPr lang="en">
                <a:solidFill>
                  <a:srgbClr val="000000"/>
                </a:solidFill>
              </a:rPr>
              <a:t> structure, we can reduce the space required by the structure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catalog_item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stock_number;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price;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item_type;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title[TITLE_LEN+1];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author[AUTHOR_LEN+1];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num_pages;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book;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mug;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colors;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sizes;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shirt;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} item;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277" name="Google Shape;27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catalog_item structure can be used to illustrate an interesting aspect of unions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Normally, it’s not a good idea to store a value into one member of a union and then access the data through a different member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a </a:t>
            </a:r>
            <a:r>
              <a:rPr b="1" i="1" lang="en">
                <a:solidFill>
                  <a:srgbClr val="000000"/>
                </a:solidFill>
              </a:rPr>
              <a:t>special case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when: two or more of the members of the union are structures, and the structures begin with one or more matching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one of the structures is currently valid, then the matching members in the other structures will also be valid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283" name="Google Shape;283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union embedded in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catalog_item</a:t>
            </a:r>
            <a:r>
              <a:rPr lang="en">
                <a:solidFill>
                  <a:srgbClr val="000000"/>
                </a:solidFill>
              </a:rPr>
              <a:t> structure contains three structures as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of these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mug and shirt</a:t>
            </a:r>
            <a:r>
              <a:rPr lang="en">
                <a:solidFill>
                  <a:srgbClr val="000000"/>
                </a:solidFill>
              </a:rPr>
              <a:t>) begin with a matching member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Now, suppose that we assign a value to one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 members: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strcpy(c.item.mug.design,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"Cats"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 member in the other structure will be defined and have the same value: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c.item.shirt.design);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"Cats"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9" name="Google Shape;28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Array with mixed data type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Represents the kinds of data stored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union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Number;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Declaration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 number_array[1000];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Storing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number_array[0].i = 5;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number_array[1].d = 8.462;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5" name="Google Shape;295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Build Mixed Data Structures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512750" y="1714050"/>
            <a:ext cx="84609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 easy way to tell which member of union was last changed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Tags/Discriminants ⇒ Used to keep track of member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number_array[0].d = 8.462;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1" name="Google Shape;301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Build Mixed Data Structures</a:t>
            </a:r>
            <a:endParaRPr/>
          </a:p>
        </p:txBody>
      </p:sp>
      <p:sp>
        <p:nvSpPr>
          <p:cNvPr id="302" name="Google Shape;302;p38"/>
          <p:cNvSpPr txBox="1"/>
          <p:nvPr/>
        </p:nvSpPr>
        <p:spPr>
          <a:xfrm>
            <a:off x="1072475" y="2750525"/>
            <a:ext cx="2400300" cy="2290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INT_KIND 0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DOUBLE_KIND 1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kind;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} u;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Number;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4572000" y="2750525"/>
            <a:ext cx="2400300" cy="2290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 n;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n.kind = INT_KIND;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n.u.i = 82;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(n.kind == INT_KIND){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n.u.i);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n.u.d);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4" name="Google Shape;304;p38"/>
          <p:cNvCxnSpPr/>
          <p:nvPr/>
        </p:nvCxnSpPr>
        <p:spPr>
          <a:xfrm>
            <a:off x="3750025" y="3830275"/>
            <a:ext cx="591000" cy="0"/>
          </a:xfrm>
          <a:prstGeom prst="straightConnector1">
            <a:avLst/>
          </a:prstGeom>
          <a:noFill/>
          <a:ln cap="flat" cmpd="sng" w="28575">
            <a:solidFill>
              <a:srgbClr val="B3B3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many programs, we’ll need variables that have meaningful values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that stores the suit of a playing card should have only four potential values: “clubs,” “diamonds,” “hearts,” and “spades.”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“suit” variable can be declared as an integer: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 will store a suit */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s = 2;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2 represents "hearts"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with this technique: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We can’t tell that s has only four possible values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significance of 2 isn’t apparent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macros to define a suit “type” and names for the various suits is a step in the right direction: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SUIT 		int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CLUBS		0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DIAMONDS 	1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HEARTS   	2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SPADES   	3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updated version of the previous example: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SUIT s;</a:t>
            </a:r>
            <a:endParaRPr sz="12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…</a:t>
            </a:r>
            <a:endParaRPr sz="12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s = HEARTS;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with this technique: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There’s no indication to someone reading the program that the macros represent values of the same “type.”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the number of possible values is more than a few, defining a separate macro for each will be tedious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names CLUBS, DIAMONDS, HEARTS, and SPADES will be removed by the preprocessor, so they won’t be available during debugging</a:t>
            </a:r>
            <a:endParaRPr sz="14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Enumerated type ⇒ Values are listed by the programmers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value has a name ⇒ Enumeration constant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declared as a tag or by using typedef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suit {CLUBS, DIAMONDS, HEARTS, SPADES}; // tag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{RED, GREEN, BLUE} Colors;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suit s1, s2;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Colors s1, s2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Similar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lang="en">
                <a:solidFill>
                  <a:srgbClr val="000000"/>
                </a:solidFill>
              </a:rPr>
              <a:t>, but not same ⇒ Has a scope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512750" y="16378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and constants are treated as integers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0, 1, 2, . . . are assigned in declaration order, but can be assigned manually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Even two or more enums can have same value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dept {CSE = 4, EEE = 2, MCE = 1, CEE = 1};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in arithmetic and comparison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declare “Tag Fields”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{INT_KIND, DOUBLE_KIND} kind;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Removes macros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Makes it obvious it has two possible values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Enumerations as Integers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