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embeddedFontLst>
    <p:embeddedFont>
      <p:font typeface="Roboto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jHR+efnmZ16lPUPPpxLtjKIRrD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EAFE98-8A9E-45FF-9F51-1E77CC5C2923}">
  <a:tblStyle styleId="{C9EAFE98-8A9E-45FF-9F51-1E77CC5C292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-regular.fntdata"/><Relationship Id="rId50" Type="http://schemas.openxmlformats.org/officeDocument/2006/relationships/slide" Target="slides/slide44.xml"/><Relationship Id="rId53" Type="http://schemas.openxmlformats.org/officeDocument/2006/relationships/font" Target="fonts/Roboto-italic.fntdata"/><Relationship Id="rId52" Type="http://schemas.openxmlformats.org/officeDocument/2006/relationships/font" Target="fonts/Roboto-bold.fntdata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6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6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46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9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9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49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49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4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0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0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5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1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1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1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51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5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2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5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3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3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53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5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5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4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4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4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5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5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55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5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4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4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Expressions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Operators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460950" y="1822850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Expressions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Formulas that demonstrate how to compute a value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Built from variables, constants, and operators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has a rich collection of operators, including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arithmetic operators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relational operators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logical operators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assignment operators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increment and decrement operators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Arithmetic Operators</a:t>
            </a:r>
            <a:endParaRPr/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460950" y="1711850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There are also two </a:t>
            </a:r>
            <a:r>
              <a:rPr b="1" i="1" lang="en">
                <a:solidFill>
                  <a:srgbClr val="000000"/>
                </a:solidFill>
              </a:rPr>
              <a:t>unary</a:t>
            </a:r>
            <a:r>
              <a:rPr lang="en">
                <a:solidFill>
                  <a:srgbClr val="000000"/>
                </a:solidFill>
              </a:rPr>
              <a:t> (only one operand) arithmetic operators: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>
                <a:solidFill>
                  <a:srgbClr val="000000"/>
                </a:solidFill>
              </a:rPr>
              <a:t>	</a:t>
            </a:r>
            <a:r>
              <a:rPr lang="en" sz="1400">
                <a:solidFill>
                  <a:srgbClr val="000000"/>
                </a:solidFill>
              </a:rPr>
              <a:t>unary plus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>
                <a:solidFill>
                  <a:srgbClr val="000000"/>
                </a:solidFill>
              </a:rPr>
              <a:t>	</a:t>
            </a:r>
            <a:r>
              <a:rPr lang="en" sz="1400">
                <a:solidFill>
                  <a:srgbClr val="000000"/>
                </a:solidFill>
              </a:rPr>
              <a:t>unary minus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C provides five binary (two operands) </a:t>
            </a:r>
            <a:r>
              <a:rPr b="1" i="1" lang="en">
                <a:solidFill>
                  <a:srgbClr val="000000"/>
                </a:solidFill>
              </a:rPr>
              <a:t>arithmetic operators:</a:t>
            </a:r>
            <a:endParaRPr b="1" i="1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+  </a:t>
            </a:r>
            <a:r>
              <a:rPr lang="en" sz="1400">
                <a:solidFill>
                  <a:srgbClr val="000000"/>
                </a:solidFill>
              </a:rPr>
              <a:t>addition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-  </a:t>
            </a:r>
            <a:r>
              <a:rPr lang="en" sz="1400">
                <a:solidFill>
                  <a:srgbClr val="000000"/>
                </a:solidFill>
              </a:rPr>
              <a:t>subtraction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*  </a:t>
            </a:r>
            <a:r>
              <a:rPr lang="en" sz="1400">
                <a:solidFill>
                  <a:srgbClr val="000000"/>
                </a:solidFill>
              </a:rPr>
              <a:t>multiplication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/  </a:t>
            </a:r>
            <a:r>
              <a:rPr lang="en" sz="1400">
                <a:solidFill>
                  <a:srgbClr val="000000"/>
                </a:solidFill>
              </a:rPr>
              <a:t>division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%  </a:t>
            </a:r>
            <a:r>
              <a:rPr lang="en" sz="1400">
                <a:solidFill>
                  <a:srgbClr val="000000"/>
                </a:solidFill>
              </a:rPr>
              <a:t>remainder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Arithmetic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Unary Arithmetic Operations</a:t>
            </a:r>
            <a:endParaRPr/>
          </a:p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460950" y="1800650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Requires only one operand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+1;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 = -2;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unary plus emphasizes that the numeric constant is positive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Arithmetic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Binary Arithmetic Operations</a:t>
            </a:r>
            <a:endParaRPr/>
          </a:p>
        </p:txBody>
      </p:sp>
      <p:sp>
        <p:nvSpPr>
          <p:cNvPr id="92" name="Google Shape;92;p5"/>
          <p:cNvSpPr txBox="1"/>
          <p:nvPr>
            <p:ph idx="1" type="body"/>
          </p:nvPr>
        </p:nvSpPr>
        <p:spPr>
          <a:xfrm>
            <a:off x="460950" y="1800650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value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% j</a:t>
            </a:r>
            <a:r>
              <a:rPr lang="en">
                <a:solidFill>
                  <a:srgbClr val="000000"/>
                </a:solidFill>
              </a:rPr>
              <a:t> is the remainder when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</a:t>
            </a:r>
            <a:r>
              <a:rPr lang="en">
                <a:solidFill>
                  <a:srgbClr val="000000"/>
                </a:solidFill>
              </a:rPr>
              <a:t>is divided by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10 % 3</a:t>
            </a:r>
            <a:r>
              <a:rPr lang="en">
                <a:solidFill>
                  <a:srgbClr val="000000"/>
                </a:solidFill>
              </a:rPr>
              <a:t> has the value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">
                <a:solidFill>
                  <a:srgbClr val="000000"/>
                </a:solidFill>
              </a:rPr>
              <a:t>,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12 % 4</a:t>
            </a:r>
            <a:r>
              <a:rPr lang="en">
                <a:solidFill>
                  <a:srgbClr val="000000"/>
                </a:solidFill>
              </a:rPr>
              <a:t> has the value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Binary arithmetic operators—with the exception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</a:t>
            </a:r>
            <a:r>
              <a:rPr lang="en">
                <a:solidFill>
                  <a:srgbClr val="000000"/>
                </a:solidFill>
              </a:rPr>
              <a:t>—allow either integer or floating-point operands, with mixing allowed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>
                <a:solidFill>
                  <a:srgbClr val="000000"/>
                </a:solidFill>
              </a:rPr>
              <a:t> operands are mixed, the result has type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9 + 2.5f</a:t>
            </a:r>
            <a:r>
              <a:rPr lang="en">
                <a:solidFill>
                  <a:srgbClr val="000000"/>
                </a:solidFill>
              </a:rPr>
              <a:t> has the value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11.5</a:t>
            </a:r>
            <a:r>
              <a:rPr lang="en">
                <a:solidFill>
                  <a:srgbClr val="000000"/>
                </a:solidFill>
              </a:rPr>
              <a:t>,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6.7f / 2</a:t>
            </a:r>
            <a:r>
              <a:rPr lang="en">
                <a:solidFill>
                  <a:srgbClr val="000000"/>
                </a:solidFill>
              </a:rPr>
              <a:t> has the value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3.35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Arithmetic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/ and % Operators</a:t>
            </a:r>
            <a:endParaRPr/>
          </a:p>
        </p:txBody>
      </p:sp>
      <p:sp>
        <p:nvSpPr>
          <p:cNvPr id="98" name="Google Shape;98;p6"/>
          <p:cNvSpPr txBox="1"/>
          <p:nvPr>
            <p:ph idx="1" type="body"/>
          </p:nvPr>
        </p:nvSpPr>
        <p:spPr>
          <a:xfrm>
            <a:off x="460950" y="1734050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/ and % operators require special care: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When both operands are integers,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/</a:t>
            </a:r>
            <a:r>
              <a:rPr lang="en" sz="1400">
                <a:solidFill>
                  <a:srgbClr val="000000"/>
                </a:solidFill>
              </a:rPr>
              <a:t> “</a:t>
            </a:r>
            <a:r>
              <a:rPr b="1" lang="en" sz="1400">
                <a:solidFill>
                  <a:srgbClr val="000000"/>
                </a:solidFill>
              </a:rPr>
              <a:t>truncates</a:t>
            </a:r>
            <a:r>
              <a:rPr lang="en" sz="1400">
                <a:solidFill>
                  <a:srgbClr val="000000"/>
                </a:solidFill>
              </a:rPr>
              <a:t>” the result. The value of 1 / 2 is 0, not 0.5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</a:t>
            </a:r>
            <a:r>
              <a:rPr lang="en" sz="1400">
                <a:solidFill>
                  <a:srgbClr val="000000"/>
                </a:solidFill>
              </a:rPr>
              <a:t> operator requires integer operands; if either operand is not an integer, the program won’t compile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Using zero as the right operand of either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/ </a:t>
            </a:r>
            <a:r>
              <a:rPr lang="en" sz="1400">
                <a:solidFill>
                  <a:srgbClr val="000000"/>
                </a:solidFill>
              </a:rPr>
              <a:t>or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</a:t>
            </a:r>
            <a:r>
              <a:rPr lang="en" sz="1400">
                <a:solidFill>
                  <a:srgbClr val="000000"/>
                </a:solidFill>
              </a:rPr>
              <a:t> causes undefined behavior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behavior when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/</a:t>
            </a:r>
            <a:r>
              <a:rPr lang="en" sz="1400">
                <a:solidFill>
                  <a:srgbClr val="000000"/>
                </a:solidFill>
              </a:rPr>
              <a:t> and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</a:t>
            </a:r>
            <a:r>
              <a:rPr lang="en" sz="1400">
                <a:solidFill>
                  <a:srgbClr val="000000"/>
                </a:solidFill>
              </a:rPr>
              <a:t> are used with negative operands is </a:t>
            </a:r>
            <a:r>
              <a:rPr b="1" i="1" lang="en" sz="1400">
                <a:solidFill>
                  <a:srgbClr val="000000"/>
                </a:solidFill>
              </a:rPr>
              <a:t>implementation-defined</a:t>
            </a:r>
            <a:r>
              <a:rPr lang="en" sz="1400">
                <a:solidFill>
                  <a:srgbClr val="000000"/>
                </a:solidFill>
              </a:rPr>
              <a:t> in C89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In C99, the result of a division is always truncated toward zero and the value of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 % j</a:t>
            </a:r>
            <a:r>
              <a:rPr lang="en" sz="1400">
                <a:solidFill>
                  <a:srgbClr val="000000"/>
                </a:solidFill>
              </a:rPr>
              <a:t> has the same sign as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Arithmetic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Implementation - Defined Behavior</a:t>
            </a:r>
            <a:endParaRPr/>
          </a:p>
        </p:txBody>
      </p:sp>
      <p:sp>
        <p:nvSpPr>
          <p:cNvPr id="104" name="Google Shape;104;p7"/>
          <p:cNvSpPr txBox="1"/>
          <p:nvPr>
            <p:ph idx="1" type="body"/>
          </p:nvPr>
        </p:nvSpPr>
        <p:spPr>
          <a:xfrm>
            <a:off x="460950" y="1734050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 standard deliberately leaves parts of the language unspecified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Leaving parts of the language unspecified reflects C’s emphasis on efficiency, which often means matching the way that hardware behaves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Example: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-9 / 7 = -1  or  -9/7 = -2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It’s best to </a:t>
            </a:r>
            <a:r>
              <a:rPr lang="en">
                <a:solidFill>
                  <a:srgbClr val="E06666"/>
                </a:solidFill>
              </a:rPr>
              <a:t>avoid</a:t>
            </a:r>
            <a:r>
              <a:rPr lang="en">
                <a:solidFill>
                  <a:srgbClr val="000000"/>
                </a:solidFill>
              </a:rPr>
              <a:t> writing programs that depend on implementation-defined behavior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Arithmetic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Operator Precedence</a:t>
            </a:r>
            <a:endParaRPr/>
          </a:p>
        </p:txBody>
      </p:sp>
      <p:sp>
        <p:nvSpPr>
          <p:cNvPr id="110" name="Google Shape;110;p8"/>
          <p:cNvSpPr txBox="1"/>
          <p:nvPr>
            <p:ph idx="1" type="body"/>
          </p:nvPr>
        </p:nvSpPr>
        <p:spPr>
          <a:xfrm>
            <a:off x="460950" y="1734050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Does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 + j * k</a:t>
            </a:r>
            <a:r>
              <a:rPr lang="en">
                <a:solidFill>
                  <a:srgbClr val="000000"/>
                </a:solidFill>
              </a:rPr>
              <a:t> mean “add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</a:t>
            </a:r>
            <a:r>
              <a:rPr lang="en">
                <a:solidFill>
                  <a:srgbClr val="000000"/>
                </a:solidFill>
              </a:rPr>
              <a:t>and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j</a:t>
            </a:r>
            <a:r>
              <a:rPr lang="en">
                <a:solidFill>
                  <a:srgbClr val="000000"/>
                </a:solidFill>
              </a:rPr>
              <a:t>, then multiply the result by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</a:t>
            </a:r>
            <a:r>
              <a:rPr lang="en">
                <a:solidFill>
                  <a:srgbClr val="000000"/>
                </a:solidFill>
              </a:rPr>
              <a:t>” or “multiply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 </a:t>
            </a:r>
            <a:r>
              <a:rPr lang="en">
                <a:solidFill>
                  <a:srgbClr val="000000"/>
                </a:solidFill>
              </a:rPr>
              <a:t>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</a:t>
            </a:r>
            <a:r>
              <a:rPr lang="en">
                <a:solidFill>
                  <a:srgbClr val="000000"/>
                </a:solidFill>
              </a:rPr>
              <a:t>, then add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”?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One solution to this problem is to add parentheses, writing either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+ j) * k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+ (j * k)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parentheses are omitted, C uses </a:t>
            </a:r>
            <a:r>
              <a:rPr b="1" i="1" lang="en">
                <a:solidFill>
                  <a:srgbClr val="000000"/>
                </a:solidFill>
              </a:rPr>
              <a:t>operator precedence</a:t>
            </a:r>
            <a:r>
              <a:rPr lang="en">
                <a:solidFill>
                  <a:srgbClr val="000000"/>
                </a:solidFill>
              </a:rPr>
              <a:t> rules to determine the meaning of the expression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Arithmetic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Operator Precedence</a:t>
            </a:r>
            <a:endParaRPr/>
          </a:p>
        </p:txBody>
      </p:sp>
      <p:sp>
        <p:nvSpPr>
          <p:cNvPr id="116" name="Google Shape;116;p9"/>
          <p:cNvSpPr txBox="1"/>
          <p:nvPr>
            <p:ph idx="1" type="body"/>
          </p:nvPr>
        </p:nvSpPr>
        <p:spPr>
          <a:xfrm>
            <a:off x="460950" y="1734050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arithmetic operators have the following relative precedence: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Highest:  	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+  -</a:t>
            </a:r>
            <a:r>
              <a:rPr lang="en">
                <a:solidFill>
                  <a:srgbClr val="000000"/>
                </a:solidFill>
              </a:rPr>
              <a:t> (unary)</a:t>
            </a:r>
            <a:endParaRPr>
              <a:solidFill>
                <a:srgbClr val="000000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*  /  %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Lowest:  	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+  -</a:t>
            </a:r>
            <a:r>
              <a:rPr lang="en">
                <a:solidFill>
                  <a:srgbClr val="000000"/>
                </a:solidFill>
              </a:rPr>
              <a:t> (binary) 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+ j * k</a:t>
            </a:r>
            <a:r>
              <a:rPr lang="en">
                <a:solidFill>
                  <a:srgbClr val="000000"/>
                </a:solidFill>
              </a:rPr>
              <a:t>     is equivalent to  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+ (j * k)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-i * -j</a:t>
            </a:r>
            <a:r>
              <a:rPr lang="en">
                <a:solidFill>
                  <a:srgbClr val="000000"/>
                </a:solidFill>
              </a:rPr>
              <a:t>       is equivalent to  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(-i) * (-j)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+i + j / k</a:t>
            </a:r>
            <a:r>
              <a:rPr lang="en">
                <a:solidFill>
                  <a:srgbClr val="000000"/>
                </a:solidFill>
              </a:rPr>
              <a:t>   is equivalent to  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(+i) + (j / k)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Arithmetic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Operator Associativity</a:t>
            </a:r>
            <a:endParaRPr/>
          </a:p>
        </p:txBody>
      </p:sp>
      <p:sp>
        <p:nvSpPr>
          <p:cNvPr id="122" name="Google Shape;122;p10"/>
          <p:cNvSpPr txBox="1"/>
          <p:nvPr>
            <p:ph idx="1" type="body"/>
          </p:nvPr>
        </p:nvSpPr>
        <p:spPr>
          <a:xfrm>
            <a:off x="364750" y="1682250"/>
            <a:ext cx="8627100" cy="3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Associativity</a:t>
            </a:r>
            <a:r>
              <a:rPr lang="en">
                <a:solidFill>
                  <a:srgbClr val="000000"/>
                </a:solidFill>
              </a:rPr>
              <a:t> comes into play when an expression contains two or more operators with equal precedence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operator is said to be </a:t>
            </a:r>
            <a:r>
              <a:rPr b="1" i="1" lang="en">
                <a:solidFill>
                  <a:srgbClr val="000000"/>
                </a:solidFill>
              </a:rPr>
              <a:t>left associative </a:t>
            </a:r>
            <a:r>
              <a:rPr lang="en">
                <a:solidFill>
                  <a:srgbClr val="000000"/>
                </a:solidFill>
              </a:rPr>
              <a:t>if it groups from left to right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binary arithmetic operators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(*, /, %, +, </a:t>
            </a:r>
            <a:r>
              <a:rPr lang="en">
                <a:solidFill>
                  <a:srgbClr val="000000"/>
                </a:solidFill>
              </a:rPr>
              <a:t>and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-)</a:t>
            </a:r>
            <a:r>
              <a:rPr lang="en">
                <a:solidFill>
                  <a:srgbClr val="000000"/>
                </a:solidFill>
              </a:rPr>
              <a:t> are all left associative, so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- j – k</a:t>
            </a:r>
            <a:r>
              <a:rPr lang="en">
                <a:solidFill>
                  <a:srgbClr val="000000"/>
                </a:solidFill>
              </a:rPr>
              <a:t> is equivalent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- j) - k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* j / k</a:t>
            </a:r>
            <a:r>
              <a:rPr lang="en">
                <a:solidFill>
                  <a:srgbClr val="000000"/>
                </a:solidFill>
              </a:rPr>
              <a:t> is equivalent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* j) / k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Arithmetic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Operator Associativity</a:t>
            </a:r>
            <a:endParaRPr/>
          </a:p>
        </p:txBody>
      </p:sp>
      <p:sp>
        <p:nvSpPr>
          <p:cNvPr id="128" name="Google Shape;128;p11"/>
          <p:cNvSpPr txBox="1"/>
          <p:nvPr>
            <p:ph idx="1" type="body"/>
          </p:nvPr>
        </p:nvSpPr>
        <p:spPr>
          <a:xfrm>
            <a:off x="401750" y="1704450"/>
            <a:ext cx="8627100" cy="3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An operator is </a:t>
            </a:r>
            <a:r>
              <a:rPr b="1" i="1" lang="en">
                <a:solidFill>
                  <a:srgbClr val="000000"/>
                </a:solidFill>
              </a:rPr>
              <a:t>right associative </a:t>
            </a:r>
            <a:r>
              <a:rPr lang="en">
                <a:solidFill>
                  <a:srgbClr val="000000"/>
                </a:solidFill>
              </a:rPr>
              <a:t>if it groups from right to left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unary arithmetic operators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(+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-)</a:t>
            </a:r>
            <a:r>
              <a:rPr lang="en">
                <a:solidFill>
                  <a:srgbClr val="000000"/>
                </a:solidFill>
              </a:rPr>
              <a:t> are both right associative, so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 + i</a:t>
            </a:r>
            <a:r>
              <a:rPr lang="en">
                <a:solidFill>
                  <a:srgbClr val="000000"/>
                </a:solidFill>
              </a:rPr>
              <a:t> is equivalent to 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-(+i)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8E7CC3"/>
                </a:solidFill>
              </a:rPr>
              <a:t>When in doubt</a:t>
            </a:r>
            <a:r>
              <a:rPr lang="en">
                <a:solidFill>
                  <a:srgbClr val="000000"/>
                </a:solidFill>
              </a:rPr>
              <a:t>, use a table of operators or just use plenty of parentheses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Arithmetic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Operator Associativity</a:t>
            </a:r>
            <a:endParaRPr/>
          </a:p>
        </p:txBody>
      </p:sp>
      <p:sp>
        <p:nvSpPr>
          <p:cNvPr id="134" name="Google Shape;134;p12"/>
          <p:cNvSpPr txBox="1"/>
          <p:nvPr>
            <p:ph idx="1" type="body"/>
          </p:nvPr>
        </p:nvSpPr>
        <p:spPr>
          <a:xfrm>
            <a:off x="394350" y="1593300"/>
            <a:ext cx="8627100" cy="3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Most goods sold in U.S. and Canadian stores are marked with a Universal Product Code (UPC):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Meaning of the digits underneath the bar code: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First digit: Type of item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First group of five digits: Manufacturer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Second group of five digits: Product (including package size)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Final digit: Check digit, used to help identify an error in the preceding digits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35" name="Google Shape;13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4500" y="2296863"/>
            <a:ext cx="1409700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Program: Computing a UPC Check Digit</a:t>
            </a:r>
            <a:endParaRPr/>
          </a:p>
        </p:txBody>
      </p:sp>
      <p:sp>
        <p:nvSpPr>
          <p:cNvPr id="141" name="Google Shape;141;p13"/>
          <p:cNvSpPr txBox="1"/>
          <p:nvPr>
            <p:ph idx="1" type="body"/>
          </p:nvPr>
        </p:nvSpPr>
        <p:spPr>
          <a:xfrm>
            <a:off x="401750" y="1704325"/>
            <a:ext cx="8627100" cy="3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 to compute the check digit: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Add the 1st, 3rd, 5th, 7th, 9th, and 11th digits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Add the 2nd, 4th, 6th, 8th, and 10th digits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Multiply the first sum by 3 and add it to the second sum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Subtract 1 from the total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Compute the remainder when the adjusted total is divided by 10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Subtract the remainder from 9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Program: Computing a UPC Check Digit</a:t>
            </a:r>
            <a:endParaRPr/>
          </a:p>
        </p:txBody>
      </p:sp>
      <p:sp>
        <p:nvSpPr>
          <p:cNvPr id="147" name="Google Shape;147;p14"/>
          <p:cNvSpPr txBox="1"/>
          <p:nvPr>
            <p:ph idx="1" type="body"/>
          </p:nvPr>
        </p:nvSpPr>
        <p:spPr>
          <a:xfrm>
            <a:off x="401750" y="1704325"/>
            <a:ext cx="8627100" cy="3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 for UPC 0 13800 15173 5: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First sum: 0 + 3 + 0 + 1 + 1 + 3 = 8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Second sum: 1 + 8 + 0 + 5 + 7 = 21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Multiplication: 8 x 3 + 21 = 45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Subtraction:  45 - 1 = 44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Remainder upon division: 44 / 10 = 4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Another subtraction: 9 - 4 = 5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Result is 5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Program: Computing a UPC Check Digit</a:t>
            </a:r>
            <a:endParaRPr/>
          </a:p>
        </p:txBody>
      </p:sp>
      <p:sp>
        <p:nvSpPr>
          <p:cNvPr id="153" name="Google Shape;153;p15"/>
          <p:cNvSpPr txBox="1"/>
          <p:nvPr>
            <p:ph idx="1" type="body"/>
          </p:nvPr>
        </p:nvSpPr>
        <p:spPr>
          <a:xfrm>
            <a:off x="394350" y="1637700"/>
            <a:ext cx="8627100" cy="3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asks the user to enter the first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r>
              <a:rPr lang="en">
                <a:solidFill>
                  <a:srgbClr val="000000"/>
                </a:solidFill>
              </a:rPr>
              <a:t> digits of a UPC, then displays the corresponding check digit: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Enter the first (single) digit: 0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Enter first group of five digits: 13800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Enter second group of five digits: 15173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Check digit: 5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reads each digit group as five one-digit numbers.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read single digits, we’ll 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with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%1d</a:t>
            </a:r>
            <a:r>
              <a:rPr lang="en">
                <a:solidFill>
                  <a:srgbClr val="000000"/>
                </a:solidFill>
              </a:rPr>
              <a:t> conversion specification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Assignment Operator</a:t>
            </a:r>
            <a:endParaRPr/>
          </a:p>
        </p:txBody>
      </p:sp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409150" y="1741325"/>
            <a:ext cx="8627100" cy="3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Simple assignment: </a:t>
            </a:r>
            <a:r>
              <a:rPr lang="en">
                <a:solidFill>
                  <a:srgbClr val="000000"/>
                </a:solidFill>
              </a:rPr>
              <a:t>used for storing a value into a variable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Compound assignment: </a:t>
            </a:r>
            <a:r>
              <a:rPr lang="en">
                <a:solidFill>
                  <a:srgbClr val="000000"/>
                </a:solidFill>
              </a:rPr>
              <a:t>used for updating a value already stored in a variable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Assignment Operator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Simple Assignment</a:t>
            </a:r>
            <a:endParaRPr/>
          </a:p>
        </p:txBody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409150" y="1741325"/>
            <a:ext cx="8627100" cy="3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effect of the assignment </a:t>
            </a:r>
            <a:r>
              <a:rPr b="1" i="1" lang="en">
                <a:solidFill>
                  <a:srgbClr val="000000"/>
                </a:solidFill>
              </a:rPr>
              <a:t>v</a:t>
            </a:r>
            <a:r>
              <a:rPr b="1" lang="en">
                <a:solidFill>
                  <a:srgbClr val="000000"/>
                </a:solidFill>
              </a:rPr>
              <a:t> = </a:t>
            </a:r>
            <a:r>
              <a:rPr b="1" i="1" lang="en">
                <a:solidFill>
                  <a:srgbClr val="000000"/>
                </a:solidFill>
              </a:rPr>
              <a:t>e</a:t>
            </a:r>
            <a:r>
              <a:rPr lang="en">
                <a:solidFill>
                  <a:srgbClr val="000000"/>
                </a:solidFill>
              </a:rPr>
              <a:t> is to evaluate the expression </a:t>
            </a:r>
            <a:r>
              <a:rPr b="1" i="1" lang="en">
                <a:solidFill>
                  <a:srgbClr val="000000"/>
                </a:solidFill>
              </a:rPr>
              <a:t>e</a:t>
            </a:r>
            <a:r>
              <a:rPr b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and copy its value into </a:t>
            </a:r>
            <a:r>
              <a:rPr b="1" i="1" lang="en">
                <a:solidFill>
                  <a:srgbClr val="000000"/>
                </a:solidFill>
              </a:rPr>
              <a:t>v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e</a:t>
            </a:r>
            <a:r>
              <a:rPr lang="en">
                <a:solidFill>
                  <a:srgbClr val="000000"/>
                </a:solidFill>
              </a:rPr>
              <a:t> can be a constant, a variable, or a more complicated expression: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5;        		</a:t>
            </a:r>
            <a:r>
              <a:rPr lang="en" sz="14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/* i is now 5  */</a:t>
            </a:r>
            <a:endParaRPr sz="14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 = i;        		</a:t>
            </a:r>
            <a:r>
              <a:rPr lang="en" sz="14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/* j is now 5  */</a:t>
            </a:r>
            <a:endParaRPr sz="14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 = 10 * i + j;   	</a:t>
            </a:r>
            <a:r>
              <a:rPr lang="en" sz="14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/* k is now 55 */</a:t>
            </a:r>
            <a:endParaRPr b="1" i="1" sz="14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Assignment Operator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Simple Assignment</a:t>
            </a:r>
            <a:endParaRPr/>
          </a:p>
        </p:txBody>
      </p:sp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409150" y="1741325"/>
            <a:ext cx="8627100" cy="3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b="1" i="1" lang="en">
                <a:solidFill>
                  <a:srgbClr val="000000"/>
                </a:solidFill>
              </a:rPr>
              <a:t>v</a:t>
            </a:r>
            <a:r>
              <a:rPr b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and </a:t>
            </a:r>
            <a:r>
              <a:rPr b="1" i="1" lang="en">
                <a:solidFill>
                  <a:srgbClr val="000000"/>
                </a:solidFill>
              </a:rPr>
              <a:t>e</a:t>
            </a:r>
            <a:r>
              <a:rPr b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don’t have the same type, then the value of </a:t>
            </a:r>
            <a:r>
              <a:rPr b="1" i="1" lang="en">
                <a:solidFill>
                  <a:srgbClr val="000000"/>
                </a:solidFill>
              </a:rPr>
              <a:t>e</a:t>
            </a:r>
            <a:r>
              <a:rPr b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is converted to the type of </a:t>
            </a:r>
            <a:r>
              <a:rPr b="1" i="1" lang="en">
                <a:solidFill>
                  <a:srgbClr val="000000"/>
                </a:solidFill>
              </a:rPr>
              <a:t>v</a:t>
            </a:r>
            <a:r>
              <a:rPr b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as the assignment takes place: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i = 72.99f;   </a:t>
            </a:r>
            <a:r>
              <a:rPr lang="en" sz="14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/* i is now 72 */</a:t>
            </a:r>
            <a:endParaRPr sz="14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f = 136;      </a:t>
            </a:r>
            <a:r>
              <a:rPr lang="en" sz="14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/* f is now 136.0 */</a:t>
            </a:r>
            <a:endParaRPr b="1"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Assignment Operator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Simple Assignment</a:t>
            </a:r>
            <a:endParaRPr/>
          </a:p>
        </p:txBody>
      </p:sp>
      <p:sp>
        <p:nvSpPr>
          <p:cNvPr id="177" name="Google Shape;177;p19"/>
          <p:cNvSpPr txBox="1"/>
          <p:nvPr>
            <p:ph idx="1" type="body"/>
          </p:nvPr>
        </p:nvSpPr>
        <p:spPr>
          <a:xfrm>
            <a:off x="409150" y="1741325"/>
            <a:ext cx="8627100" cy="3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many programming languages, assignment is a statement; in C, however, assignment is an operator, just like </a:t>
            </a:r>
            <a:r>
              <a:rPr b="1" lang="en">
                <a:solidFill>
                  <a:srgbClr val="000000"/>
                </a:solidFill>
              </a:rPr>
              <a:t>+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value of an assignment </a:t>
            </a:r>
            <a:r>
              <a:rPr b="1" i="1" lang="en">
                <a:solidFill>
                  <a:srgbClr val="000000"/>
                </a:solidFill>
              </a:rPr>
              <a:t>v</a:t>
            </a:r>
            <a:r>
              <a:rPr b="1" lang="en">
                <a:solidFill>
                  <a:srgbClr val="000000"/>
                </a:solidFill>
              </a:rPr>
              <a:t> = </a:t>
            </a:r>
            <a:r>
              <a:rPr b="1" i="1" lang="en">
                <a:solidFill>
                  <a:srgbClr val="000000"/>
                </a:solidFill>
              </a:rPr>
              <a:t>e</a:t>
            </a:r>
            <a:r>
              <a:rPr lang="en">
                <a:solidFill>
                  <a:srgbClr val="000000"/>
                </a:solidFill>
              </a:rPr>
              <a:t> is the value of </a:t>
            </a:r>
            <a:r>
              <a:rPr b="1" i="1" lang="en">
                <a:solidFill>
                  <a:srgbClr val="000000"/>
                </a:solidFill>
              </a:rPr>
              <a:t>v</a:t>
            </a:r>
            <a:r>
              <a:rPr lang="en">
                <a:solidFill>
                  <a:srgbClr val="000000"/>
                </a:solidFill>
              </a:rPr>
              <a:t> after the assignment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The value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72.99f</a:t>
            </a:r>
            <a:r>
              <a:rPr lang="en">
                <a:solidFill>
                  <a:srgbClr val="000000"/>
                </a:solidFill>
              </a:rPr>
              <a:t> is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72 (not 72.99)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Assignment Operator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Side Effects</a:t>
            </a:r>
            <a:endParaRPr/>
          </a:p>
        </p:txBody>
      </p:sp>
      <p:sp>
        <p:nvSpPr>
          <p:cNvPr id="183" name="Google Shape;183;p20"/>
          <p:cNvSpPr txBox="1"/>
          <p:nvPr>
            <p:ph idx="1" type="body"/>
          </p:nvPr>
        </p:nvSpPr>
        <p:spPr>
          <a:xfrm>
            <a:off x="401750" y="1622925"/>
            <a:ext cx="8627100" cy="3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An operators that modifies one of its operands is said to have a </a:t>
            </a:r>
            <a:r>
              <a:rPr b="1" i="1" lang="en">
                <a:solidFill>
                  <a:srgbClr val="000000"/>
                </a:solidFill>
              </a:rPr>
              <a:t>side effect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simple assignment operator has a side effect: it modifies its left operand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Evaluating the expression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0</a:t>
            </a:r>
            <a:r>
              <a:rPr lang="en">
                <a:solidFill>
                  <a:srgbClr val="000000"/>
                </a:solidFill>
              </a:rPr>
              <a:t> produces the result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>
                <a:solidFill>
                  <a:srgbClr val="000000"/>
                </a:solidFill>
              </a:rPr>
              <a:t> and—as a side effect—assigns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 </a:t>
            </a:r>
            <a:r>
              <a:rPr lang="en">
                <a:solidFill>
                  <a:srgbClr val="000000"/>
                </a:solidFill>
              </a:rPr>
              <a:t>to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Since assignment is an operator, several assignments can be chained together: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j = k = 0;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= operator is right associative, so this assignment is equivalent to 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(j = (k = 0));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Assignment Operator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Side Effects</a:t>
            </a:r>
            <a:endParaRPr/>
          </a:p>
        </p:txBody>
      </p:sp>
      <p:sp>
        <p:nvSpPr>
          <p:cNvPr id="189" name="Google Shape;189;p21"/>
          <p:cNvSpPr txBox="1"/>
          <p:nvPr>
            <p:ph idx="1" type="body"/>
          </p:nvPr>
        </p:nvSpPr>
        <p:spPr>
          <a:xfrm>
            <a:off x="401750" y="1696950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Watch out for unexpected results in chained assignments as a result of type conversion: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f = i = 33.3f;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</a:t>
            </a:r>
            <a:r>
              <a:rPr lang="en">
                <a:solidFill>
                  <a:srgbClr val="000000"/>
                </a:solidFill>
              </a:rPr>
              <a:t>is assigned the value 33, then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 </a:t>
            </a:r>
            <a:r>
              <a:rPr lang="en">
                <a:solidFill>
                  <a:srgbClr val="000000"/>
                </a:solidFill>
              </a:rPr>
              <a:t>is assigned 33.0 (not 33.3)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Assignment Operator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Side Effects</a:t>
            </a:r>
            <a:endParaRPr/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386950" y="1585925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assignment of the form </a:t>
            </a:r>
            <a:r>
              <a:rPr b="1" i="1" lang="en">
                <a:solidFill>
                  <a:srgbClr val="000000"/>
                </a:solidFill>
              </a:rPr>
              <a:t>v</a:t>
            </a:r>
            <a:r>
              <a:rPr b="1" lang="en">
                <a:solidFill>
                  <a:srgbClr val="000000"/>
                </a:solidFill>
              </a:rPr>
              <a:t> = </a:t>
            </a:r>
            <a:r>
              <a:rPr b="1" i="1" lang="en">
                <a:solidFill>
                  <a:srgbClr val="000000"/>
                </a:solidFill>
              </a:rPr>
              <a:t>e</a:t>
            </a:r>
            <a:r>
              <a:rPr lang="en">
                <a:solidFill>
                  <a:srgbClr val="000000"/>
                </a:solidFill>
              </a:rPr>
              <a:t> is allowed wherever a value of type </a:t>
            </a:r>
            <a:r>
              <a:rPr b="1" i="1" lang="en">
                <a:solidFill>
                  <a:srgbClr val="000000"/>
                </a:solidFill>
              </a:rPr>
              <a:t>v</a:t>
            </a:r>
            <a:r>
              <a:rPr b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would be permitted: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 = 1 + (j = i);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printf("%d %d %d\n", i, j, k);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/* prints "1 1 2" */</a:t>
            </a:r>
            <a:endParaRPr sz="14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“</a:t>
            </a:r>
            <a:r>
              <a:rPr i="1" lang="en">
                <a:solidFill>
                  <a:srgbClr val="000000"/>
                </a:solidFill>
              </a:rPr>
              <a:t>Embedded assignments</a:t>
            </a:r>
            <a:r>
              <a:rPr lang="en">
                <a:solidFill>
                  <a:srgbClr val="000000"/>
                </a:solidFill>
              </a:rPr>
              <a:t>” can make programs hard to read.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They can also be a source of </a:t>
            </a:r>
            <a:r>
              <a:rPr lang="en">
                <a:solidFill>
                  <a:srgbClr val="8E7CC3"/>
                </a:solidFill>
              </a:rPr>
              <a:t>subtle bugs</a:t>
            </a:r>
            <a:endParaRPr>
              <a:solidFill>
                <a:srgbClr val="8E7CC3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Assignment Operator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lvalue</a:t>
            </a:r>
            <a:endParaRPr/>
          </a:p>
        </p:txBody>
      </p:sp>
      <p:sp>
        <p:nvSpPr>
          <p:cNvPr id="201" name="Google Shape;201;p23"/>
          <p:cNvSpPr txBox="1"/>
          <p:nvPr>
            <p:ph idx="1" type="body"/>
          </p:nvPr>
        </p:nvSpPr>
        <p:spPr>
          <a:xfrm>
            <a:off x="386950" y="1645125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Represents an object stored in computer memory, not a constant or the result of a computation</a:t>
            </a:r>
            <a:endParaRPr sz="14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Left operand of assignment -&gt; lvalue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Variables are lvalue; expressions are not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12 = i;   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+ j = 0;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-i = j;   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compiler will produce an error message such as </a:t>
            </a:r>
            <a:r>
              <a:rPr i="1" lang="en">
                <a:solidFill>
                  <a:srgbClr val="000000"/>
                </a:solidFill>
              </a:rPr>
              <a:t>“invalid lvalue in assignment”</a:t>
            </a:r>
            <a:endParaRPr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Assignment Operator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Compound Assignment</a:t>
            </a:r>
            <a:endParaRPr/>
          </a:p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394350" y="1726550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Assignments that use the old value of a variable to compute its new value are common</a:t>
            </a:r>
            <a:endParaRPr>
              <a:solidFill>
                <a:srgbClr val="93C47D"/>
              </a:solidFill>
            </a:endParaRPr>
          </a:p>
          <a:p>
            <a:pPr indent="4572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+= 2;   /* same as i = i + 2; */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There are nine other compound assignment operators, including the following: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-=  *=  /=  %=</a:t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Assignment Operator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Compound Assignment</a:t>
            </a:r>
            <a:endParaRPr/>
          </a:p>
        </p:txBody>
      </p:sp>
      <p:sp>
        <p:nvSpPr>
          <p:cNvPr id="213" name="Google Shape;213;p25"/>
          <p:cNvSpPr txBox="1"/>
          <p:nvPr>
            <p:ph idx="1" type="body"/>
          </p:nvPr>
        </p:nvSpPr>
        <p:spPr>
          <a:xfrm>
            <a:off x="394350" y="1726550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All compound assignment operators work in much the same way: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 += e</a:t>
            </a:r>
            <a:r>
              <a:rPr lang="en">
                <a:solidFill>
                  <a:srgbClr val="000000"/>
                </a:solidFill>
              </a:rPr>
              <a:t> adds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 </a:t>
            </a:r>
            <a:r>
              <a:rPr lang="en">
                <a:solidFill>
                  <a:srgbClr val="000000"/>
                </a:solidFill>
              </a:rPr>
              <a:t>to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r>
              <a:rPr lang="en">
                <a:solidFill>
                  <a:srgbClr val="000000"/>
                </a:solidFill>
              </a:rPr>
              <a:t>, storing the result in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</a:t>
            </a:r>
            <a:endParaRPr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-=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r>
              <a:rPr lang="en">
                <a:solidFill>
                  <a:srgbClr val="000000"/>
                </a:solidFill>
              </a:rPr>
              <a:t> subtracts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from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</a:t>
            </a:r>
            <a:r>
              <a:rPr lang="en">
                <a:solidFill>
                  <a:srgbClr val="000000"/>
                </a:solidFill>
              </a:rPr>
              <a:t>, storing the result in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</a:t>
            </a:r>
            <a:endParaRPr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*=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r>
              <a:rPr lang="en">
                <a:solidFill>
                  <a:srgbClr val="000000"/>
                </a:solidFill>
              </a:rPr>
              <a:t> multiplies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by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r>
              <a:rPr lang="en">
                <a:solidFill>
                  <a:srgbClr val="000000"/>
                </a:solidFill>
              </a:rPr>
              <a:t>, storing the result in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</a:t>
            </a:r>
            <a:endParaRPr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/=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r>
              <a:rPr lang="en">
                <a:solidFill>
                  <a:srgbClr val="000000"/>
                </a:solidFill>
              </a:rPr>
              <a:t> divides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by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r>
              <a:rPr lang="en">
                <a:solidFill>
                  <a:srgbClr val="000000"/>
                </a:solidFill>
              </a:rPr>
              <a:t>, storing the result in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</a:t>
            </a:r>
            <a:endParaRPr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%=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r>
              <a:rPr lang="en">
                <a:solidFill>
                  <a:srgbClr val="000000"/>
                </a:solidFill>
              </a:rPr>
              <a:t> computes the remainder when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is divided by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r>
              <a:rPr lang="en">
                <a:solidFill>
                  <a:srgbClr val="000000"/>
                </a:solidFill>
              </a:rPr>
              <a:t>, storing the result in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Assignment Operator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Compound Assignment</a:t>
            </a:r>
            <a:endParaRPr/>
          </a:p>
        </p:txBody>
      </p:sp>
      <p:sp>
        <p:nvSpPr>
          <p:cNvPr id="219" name="Google Shape;219;p26"/>
          <p:cNvSpPr txBox="1"/>
          <p:nvPr>
            <p:ph idx="1" type="body"/>
          </p:nvPr>
        </p:nvSpPr>
        <p:spPr>
          <a:xfrm>
            <a:off x="394350" y="1726550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 += e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8E7CC3"/>
                </a:solidFill>
              </a:rPr>
              <a:t>isn’t “equivalent”</a:t>
            </a:r>
            <a:r>
              <a:rPr lang="en">
                <a:solidFill>
                  <a:srgbClr val="000000"/>
                </a:solidFill>
              </a:rPr>
              <a:t> to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 = v + e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One problem is operator precedence: 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*= j + k</a:t>
            </a:r>
            <a:r>
              <a:rPr lang="en">
                <a:solidFill>
                  <a:srgbClr val="000000"/>
                </a:solidFill>
              </a:rPr>
              <a:t> isn’t the same as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i * j + k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There are also rare cases in which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 += e</a:t>
            </a:r>
            <a:r>
              <a:rPr lang="en">
                <a:solidFill>
                  <a:srgbClr val="000000"/>
                </a:solidFill>
              </a:rPr>
              <a:t> differs from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 = v + e</a:t>
            </a:r>
            <a:r>
              <a:rPr lang="en">
                <a:solidFill>
                  <a:srgbClr val="000000"/>
                </a:solidFill>
              </a:rPr>
              <a:t> because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</a:t>
            </a:r>
            <a:r>
              <a:rPr lang="en">
                <a:solidFill>
                  <a:srgbClr val="000000"/>
                </a:solidFill>
              </a:rPr>
              <a:t> itself has a side effect.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Similar remarks apply to the other compound assignment operators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Assignment Operator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Compound Assignment</a:t>
            </a:r>
            <a:endParaRPr/>
          </a:p>
        </p:txBody>
      </p:sp>
      <p:sp>
        <p:nvSpPr>
          <p:cNvPr id="225" name="Google Shape;225;p27"/>
          <p:cNvSpPr txBox="1"/>
          <p:nvPr>
            <p:ph idx="1" type="body"/>
          </p:nvPr>
        </p:nvSpPr>
        <p:spPr>
          <a:xfrm>
            <a:off x="394350" y="1726550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using the compound assignment operators, be careful not to switch the two characters that make up the operator.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Although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=+ j</a:t>
            </a:r>
            <a:r>
              <a:rPr lang="en">
                <a:solidFill>
                  <a:srgbClr val="000000"/>
                </a:solidFill>
              </a:rPr>
              <a:t> will compile, it is equivalent to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(+j)</a:t>
            </a:r>
            <a:r>
              <a:rPr lang="en">
                <a:solidFill>
                  <a:srgbClr val="000000"/>
                </a:solidFill>
              </a:rPr>
              <a:t>, which merely copies the value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</a:t>
            </a:r>
            <a:r>
              <a:rPr lang="en">
                <a:solidFill>
                  <a:srgbClr val="000000"/>
                </a:solidFill>
              </a:rPr>
              <a:t> into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endParaRPr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Increment and Decrement Operators</a:t>
            </a:r>
            <a:endParaRPr/>
          </a:p>
        </p:txBody>
      </p:sp>
      <p:sp>
        <p:nvSpPr>
          <p:cNvPr id="231" name="Google Shape;231;p28"/>
          <p:cNvSpPr txBox="1"/>
          <p:nvPr>
            <p:ph idx="1" type="body"/>
          </p:nvPr>
        </p:nvSpPr>
        <p:spPr>
          <a:xfrm>
            <a:off x="394350" y="1726550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Two of the most common operations on a variable are “incrementing” (adding 1) and “decrementing” (subtracting 1):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i + 1;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 = j - 1;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Incrementing and decrementing can be done using the compound assignment operators: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+= 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 -= 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Increment and Decrement Operators</a:t>
            </a:r>
            <a:endParaRPr/>
          </a:p>
        </p:txBody>
      </p:sp>
      <p:sp>
        <p:nvSpPr>
          <p:cNvPr id="237" name="Google Shape;237;p29"/>
          <p:cNvSpPr txBox="1"/>
          <p:nvPr>
            <p:ph idx="1" type="body"/>
          </p:nvPr>
        </p:nvSpPr>
        <p:spPr>
          <a:xfrm>
            <a:off x="394350" y="1726550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provides special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++</a:t>
            </a:r>
            <a:r>
              <a:rPr lang="en">
                <a:solidFill>
                  <a:srgbClr val="000000"/>
                </a:solidFill>
              </a:rPr>
              <a:t> (</a:t>
            </a:r>
            <a:r>
              <a:rPr b="1" i="1" lang="en">
                <a:solidFill>
                  <a:srgbClr val="000000"/>
                </a:solidFill>
              </a:rPr>
              <a:t>increment</a:t>
            </a:r>
            <a:r>
              <a:rPr lang="en">
                <a:solidFill>
                  <a:srgbClr val="000000"/>
                </a:solidFill>
              </a:rPr>
              <a:t>)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--</a:t>
            </a:r>
            <a:r>
              <a:rPr lang="en">
                <a:solidFill>
                  <a:srgbClr val="000000"/>
                </a:solidFill>
              </a:rPr>
              <a:t> (</a:t>
            </a:r>
            <a:r>
              <a:rPr b="1" i="1" lang="en">
                <a:solidFill>
                  <a:srgbClr val="000000"/>
                </a:solidFill>
              </a:rPr>
              <a:t>decrement</a:t>
            </a:r>
            <a:r>
              <a:rPr lang="en">
                <a:solidFill>
                  <a:srgbClr val="000000"/>
                </a:solidFill>
              </a:rPr>
              <a:t>) operators.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++</a:t>
            </a:r>
            <a:r>
              <a:rPr lang="en">
                <a:solidFill>
                  <a:srgbClr val="000000"/>
                </a:solidFill>
              </a:rPr>
              <a:t> operator adds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">
                <a:solidFill>
                  <a:srgbClr val="000000"/>
                </a:solidFill>
              </a:rPr>
              <a:t> to its operand.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--</a:t>
            </a:r>
            <a:r>
              <a:rPr lang="en">
                <a:solidFill>
                  <a:srgbClr val="000000"/>
                </a:solidFill>
              </a:rPr>
              <a:t> operator subtracts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1</a:t>
            </a:r>
            <a:r>
              <a:rPr lang="en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increment and decrement operators are tricky to use: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They can be used as </a:t>
            </a:r>
            <a:r>
              <a:rPr b="1" i="1" lang="en">
                <a:solidFill>
                  <a:srgbClr val="000000"/>
                </a:solidFill>
              </a:rPr>
              <a:t>prefix</a:t>
            </a:r>
            <a:r>
              <a:rPr lang="en">
                <a:solidFill>
                  <a:srgbClr val="000000"/>
                </a:solidFill>
              </a:rPr>
              <a:t> operators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(++i </a:t>
            </a:r>
            <a:r>
              <a:rPr lang="en">
                <a:solidFill>
                  <a:srgbClr val="000000"/>
                </a:solidFill>
              </a:rPr>
              <a:t>and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--i)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b="1" i="1" lang="en">
                <a:solidFill>
                  <a:srgbClr val="000000"/>
                </a:solidFill>
              </a:rPr>
              <a:t>postfix</a:t>
            </a:r>
            <a:r>
              <a:rPr lang="en">
                <a:solidFill>
                  <a:srgbClr val="000000"/>
                </a:solidFill>
              </a:rPr>
              <a:t> operators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(i++ </a:t>
            </a:r>
            <a:r>
              <a:rPr lang="en">
                <a:solidFill>
                  <a:srgbClr val="000000"/>
                </a:solidFill>
              </a:rPr>
              <a:t>and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i--)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They have side effects: they modify the values of their operands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Increment and Decrement Operators</a:t>
            </a:r>
            <a:endParaRPr/>
          </a:p>
        </p:txBody>
      </p:sp>
      <p:sp>
        <p:nvSpPr>
          <p:cNvPr id="243" name="Google Shape;243;p30"/>
          <p:cNvSpPr txBox="1"/>
          <p:nvPr>
            <p:ph idx="1" type="body"/>
          </p:nvPr>
        </p:nvSpPr>
        <p:spPr>
          <a:xfrm>
            <a:off x="379525" y="1593350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Evaluating the expression ++i  (a “pre-increment”) yields i + 1 and—as a side effect—increments i: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printf("i is %d\n", ++i);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"i is 2"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printf("i is %d\n", i);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"i is 2"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Evaluating the expression i++ (a “post-increment”) produces the result i, but causes i to be incremented afterwards: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i = 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printf("i is %d\n", i++);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"i is 1"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printf("i is %d\n", i);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"i is 2"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Increment and Decrement Operators</a:t>
            </a:r>
            <a:endParaRPr/>
          </a:p>
        </p:txBody>
      </p:sp>
      <p:sp>
        <p:nvSpPr>
          <p:cNvPr id="249" name="Google Shape;249;p31"/>
          <p:cNvSpPr txBox="1"/>
          <p:nvPr>
            <p:ph idx="1" type="body"/>
          </p:nvPr>
        </p:nvSpPr>
        <p:spPr>
          <a:xfrm>
            <a:off x="394350" y="1726550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++i</a:t>
            </a:r>
            <a:r>
              <a:rPr lang="en">
                <a:solidFill>
                  <a:srgbClr val="000000"/>
                </a:solidFill>
              </a:rPr>
              <a:t> means “increment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 immediately,” while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i++</a:t>
            </a:r>
            <a:r>
              <a:rPr lang="en">
                <a:solidFill>
                  <a:srgbClr val="000000"/>
                </a:solidFill>
              </a:rPr>
              <a:t> means “use the old value of i for now, but increment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 later.”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 much later? The C standard doesn’t specify a precise time, but it’s safe to assume that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 will be incremented before the next statement is executed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Increment and Decrement Operators</a:t>
            </a:r>
            <a:endParaRPr/>
          </a:p>
        </p:txBody>
      </p:sp>
      <p:sp>
        <p:nvSpPr>
          <p:cNvPr id="255" name="Google Shape;255;p32"/>
          <p:cNvSpPr txBox="1"/>
          <p:nvPr>
            <p:ph idx="1" type="body"/>
          </p:nvPr>
        </p:nvSpPr>
        <p:spPr>
          <a:xfrm>
            <a:off x="394350" y="1726550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--</a:t>
            </a:r>
            <a:r>
              <a:rPr lang="en">
                <a:solidFill>
                  <a:srgbClr val="000000"/>
                </a:solidFill>
              </a:rPr>
              <a:t> operator has similar properties: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printf("i is %d\n", --i);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"i is 0"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printf("i is %d\n", i);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"i is 0"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printf("i is %d\n", i--);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"i is 1"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printf("i is %d\n", i);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prints "i is 0" */</a:t>
            </a:r>
            <a:endParaRPr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Increment and Decrement Operators</a:t>
            </a:r>
            <a:endParaRPr/>
          </a:p>
        </p:txBody>
      </p:sp>
      <p:sp>
        <p:nvSpPr>
          <p:cNvPr id="261" name="Google Shape;261;p33"/>
          <p:cNvSpPr txBox="1"/>
          <p:nvPr>
            <p:ph idx="1" type="body"/>
          </p:nvPr>
        </p:nvSpPr>
        <p:spPr>
          <a:xfrm>
            <a:off x="386950" y="1622925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++ </a:t>
            </a:r>
            <a:r>
              <a:rPr lang="en">
                <a:solidFill>
                  <a:srgbClr val="000000"/>
                </a:solidFill>
              </a:rPr>
              <a:t>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-- </a:t>
            </a:r>
            <a:r>
              <a:rPr lang="en">
                <a:solidFill>
                  <a:srgbClr val="000000"/>
                </a:solidFill>
              </a:rPr>
              <a:t>is used more than once in the same expression, the result can often be hard to understand.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 = 2;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k = ++i + j++;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The last statement is equivalent to,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 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i + 1;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k = i + j;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j = j + 1;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The final values of i, j, and k are 2, 3, and 4, respectively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Increment and Decrement Operators</a:t>
            </a:r>
            <a:endParaRPr/>
          </a:p>
        </p:txBody>
      </p:sp>
      <p:sp>
        <p:nvSpPr>
          <p:cNvPr id="267" name="Google Shape;267;p34"/>
          <p:cNvSpPr txBox="1"/>
          <p:nvPr>
            <p:ph idx="1" type="body"/>
          </p:nvPr>
        </p:nvSpPr>
        <p:spPr>
          <a:xfrm>
            <a:off x="386950" y="1622925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contrast, executing the statements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i = 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j = 2;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k = i++ + j++;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will give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i, j, </a:t>
            </a:r>
            <a:r>
              <a:rPr lang="en">
                <a:solidFill>
                  <a:srgbClr val="000000"/>
                </a:solidFill>
              </a:rPr>
              <a:t>and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k </a:t>
            </a:r>
            <a:r>
              <a:rPr lang="en">
                <a:solidFill>
                  <a:srgbClr val="000000"/>
                </a:solidFill>
              </a:rPr>
              <a:t>the values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2, 3, </a:t>
            </a:r>
            <a:r>
              <a:rPr lang="en">
                <a:solidFill>
                  <a:srgbClr val="000000"/>
                </a:solidFill>
              </a:rPr>
              <a:t>and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3, </a:t>
            </a:r>
            <a:r>
              <a:rPr lang="en">
                <a:solidFill>
                  <a:srgbClr val="000000"/>
                </a:solidFill>
              </a:rPr>
              <a:t>respectively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Expression Evaluation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Updated Precedence Table</a:t>
            </a:r>
            <a:endParaRPr/>
          </a:p>
        </p:txBody>
      </p:sp>
      <p:sp>
        <p:nvSpPr>
          <p:cNvPr id="273" name="Google Shape;273;p35"/>
          <p:cNvSpPr txBox="1"/>
          <p:nvPr>
            <p:ph idx="1" type="body"/>
          </p:nvPr>
        </p:nvSpPr>
        <p:spPr>
          <a:xfrm>
            <a:off x="224150" y="1717700"/>
            <a:ext cx="19074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Table of operators discussed so far: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1 -&gt; Highest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	Precedence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5 -&gt; Lowest Precedence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aphicFrame>
        <p:nvGraphicFramePr>
          <p:cNvPr id="274" name="Google Shape;274;p35"/>
          <p:cNvGraphicFramePr/>
          <p:nvPr/>
        </p:nvGraphicFramePr>
        <p:xfrm>
          <a:off x="2284625" y="1717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{C9EAFE98-8A9E-45FF-9F51-1E77CC5C2923}</a:tableStyleId>
              </a:tblPr>
              <a:tblGrid>
                <a:gridCol w="1332400"/>
                <a:gridCol w="1802800"/>
                <a:gridCol w="1913525"/>
                <a:gridCol w="1583450"/>
              </a:tblGrid>
              <a:tr h="26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1"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Precedence 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114300" lvl="0" marL="3429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1"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Name 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3429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1"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Symbol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1"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Associativity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increment (postfix) 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++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left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decrement (postfix)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--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2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increment (prefix)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++ 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right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25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decrement (prefix)  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--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unary plus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+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unary minus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multiplicative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*  / %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left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additive 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210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Roboto"/>
                        <a:buChar char="+"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left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3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assignment 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= *= /= %= += -=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right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/>
          <p:nvPr>
            <p:ph idx="1" type="body"/>
          </p:nvPr>
        </p:nvSpPr>
        <p:spPr>
          <a:xfrm>
            <a:off x="364725" y="1682150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table can be used to add parentheses to an expression that lacks them.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Starting with the operator with highest precedence, put parentheses around the operator and its operands.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a = b += c++ - d + --e / -f					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Precedence level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a = b += (c++) - d + --e / -f            				1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a = b += (c++) - d + (--e) / (-f)        				2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a = b += (c++) - d + ((--e) / (-f))      				3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a = b += (((c++) - d) + ((--e) / (-f)))  				4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(a = (b += (((c++) - d) + ((--e) / (-f))))) 			5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0" name="Google Shape;280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Expression Evaluation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Example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/>
          <p:nvPr>
            <p:ph idx="1" type="body"/>
          </p:nvPr>
        </p:nvSpPr>
        <p:spPr>
          <a:xfrm>
            <a:off x="364725" y="1682150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value of an expression may depend on the order in which its subexpressions are evaluated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8E7CC3"/>
                </a:solidFill>
              </a:rPr>
              <a:t>C doesn’t define</a:t>
            </a:r>
            <a:r>
              <a:rPr lang="en">
                <a:solidFill>
                  <a:srgbClr val="000000"/>
                </a:solidFill>
              </a:rPr>
              <a:t> the order in which subexpressions are evaluated (with the exception of subexpressions involving the logical and, logical or, conditional, and comma operators)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the expression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 + b) * (c - d)</a:t>
            </a:r>
            <a:r>
              <a:rPr lang="en">
                <a:solidFill>
                  <a:srgbClr val="000000"/>
                </a:solidFill>
              </a:rPr>
              <a:t> we don’t know whether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(a + b)</a:t>
            </a:r>
            <a:r>
              <a:rPr lang="en">
                <a:solidFill>
                  <a:srgbClr val="000000"/>
                </a:solidFill>
              </a:rPr>
              <a:t> will be evaluated before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(c - d)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6" name="Google Shape;286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Expression Evaluation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Order of Subexpression Evaluation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"/>
          <p:cNvSpPr txBox="1"/>
          <p:nvPr>
            <p:ph idx="1" type="body"/>
          </p:nvPr>
        </p:nvSpPr>
        <p:spPr>
          <a:xfrm>
            <a:off x="364725" y="1682150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Most expressions have the same value regardless of the order in which their subexpressions are evaluated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However, this may not be true when a subexpression modifies one of its operands: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= 5;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 = (b = a + 2) - (a = 1);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Undefined behavior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effect of executing the second statement is undefined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2" name="Google Shape;292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Expression Evaluation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Order of Subexpression Evaluation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/>
          <p:nvPr>
            <p:ph idx="1" type="body"/>
          </p:nvPr>
        </p:nvSpPr>
        <p:spPr>
          <a:xfrm>
            <a:off x="364725" y="1585925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Avoid writing expressions that access the value of a variable and also modify the variable elsewhere in the expression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Some compilers may produce a warning message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8E7CC3"/>
                </a:solidFill>
              </a:rPr>
              <a:t>It’s a good idea</a:t>
            </a:r>
            <a:r>
              <a:rPr lang="en">
                <a:solidFill>
                  <a:srgbClr val="000000"/>
                </a:solidFill>
              </a:rPr>
              <a:t> to </a:t>
            </a:r>
            <a:r>
              <a:rPr lang="en">
                <a:solidFill>
                  <a:srgbClr val="E06666"/>
                </a:solidFill>
              </a:rPr>
              <a:t>avoid</a:t>
            </a:r>
            <a:r>
              <a:rPr lang="en">
                <a:solidFill>
                  <a:srgbClr val="000000"/>
                </a:solidFill>
              </a:rPr>
              <a:t> using the assignment operators in subexpressions.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Use a series of separate assignments: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= 5;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 = a + 2;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= 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 = b - a;  // The value of c will always be 6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8" name="Google Shape;298;p39"/>
          <p:cNvSpPr txBox="1"/>
          <p:nvPr>
            <p:ph type="title"/>
          </p:nvPr>
        </p:nvSpPr>
        <p:spPr>
          <a:xfrm>
            <a:off x="460950" y="7313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Expression Evaluation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Order of Subexpression Evaluation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0"/>
          <p:cNvSpPr txBox="1"/>
          <p:nvPr>
            <p:ph idx="1" type="body"/>
          </p:nvPr>
        </p:nvSpPr>
        <p:spPr>
          <a:xfrm>
            <a:off x="372125" y="1674725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Besides the assignment operators, the only operators that modify their operands are increment and decrement.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using these operators, </a:t>
            </a:r>
            <a:r>
              <a:rPr lang="en">
                <a:solidFill>
                  <a:srgbClr val="8E7CC3"/>
                </a:solidFill>
              </a:rPr>
              <a:t>be careful</a:t>
            </a:r>
            <a:r>
              <a:rPr lang="en">
                <a:solidFill>
                  <a:srgbClr val="000000"/>
                </a:solidFill>
              </a:rPr>
              <a:t> that an expression doesn’t depend on a particular order of evaluation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4" name="Google Shape;304;p40"/>
          <p:cNvSpPr txBox="1"/>
          <p:nvPr>
            <p:ph type="title"/>
          </p:nvPr>
        </p:nvSpPr>
        <p:spPr>
          <a:xfrm>
            <a:off x="460950" y="7313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Expression Evaluation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Order of Subexpression Evaluation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/>
          <p:nvPr>
            <p:ph idx="1" type="body"/>
          </p:nvPr>
        </p:nvSpPr>
        <p:spPr>
          <a:xfrm>
            <a:off x="372125" y="1674725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2;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 = i * i++;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It’s natural to assume that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</a:t>
            </a:r>
            <a:r>
              <a:rPr lang="en">
                <a:solidFill>
                  <a:srgbClr val="000000"/>
                </a:solidFill>
              </a:rPr>
              <a:t> is assigned 4. However,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</a:t>
            </a:r>
            <a:r>
              <a:rPr lang="en">
                <a:solidFill>
                  <a:srgbClr val="000000"/>
                </a:solidFill>
              </a:rPr>
              <a:t> could just as well be assigned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">
                <a:solidFill>
                  <a:srgbClr val="000000"/>
                </a:solidFill>
              </a:rPr>
              <a:t> instead: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The second operand (the original value of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) is fetched, then i is incremented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The first operand (the new value of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) is fetched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The new and old values of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</a:rPr>
              <a:t> are multiplied, yielding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0" name="Google Shape;310;p41"/>
          <p:cNvSpPr txBox="1"/>
          <p:nvPr>
            <p:ph type="title"/>
          </p:nvPr>
        </p:nvSpPr>
        <p:spPr>
          <a:xfrm>
            <a:off x="460950" y="7313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Expression Evaluation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Order of Subexpression Evaluation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idx="1" type="body"/>
          </p:nvPr>
        </p:nvSpPr>
        <p:spPr>
          <a:xfrm>
            <a:off x="372125" y="1674725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Statements such as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 = (b = a + 2) - (a = 1);</a:t>
            </a:r>
            <a:r>
              <a:rPr lang="en">
                <a:solidFill>
                  <a:srgbClr val="000000"/>
                </a:solidFill>
              </a:rPr>
              <a:t> and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j = i * i++;</a:t>
            </a:r>
            <a:r>
              <a:rPr lang="en">
                <a:solidFill>
                  <a:srgbClr val="000000"/>
                </a:solidFill>
              </a:rPr>
              <a:t> cause </a:t>
            </a:r>
            <a:r>
              <a:rPr b="1" i="1" lang="en">
                <a:solidFill>
                  <a:srgbClr val="000000"/>
                </a:solidFill>
              </a:rPr>
              <a:t>undefined behavior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Possible effects of undefined behavior: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program may behave differently when compiled with different compilers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program may not compile in the first place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If it compiles it may not run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If it does run, the program may crash, behave erratically, or produce meaningless results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Undefined behavior should be </a:t>
            </a:r>
            <a:r>
              <a:rPr lang="en">
                <a:solidFill>
                  <a:srgbClr val="E06666"/>
                </a:solidFill>
              </a:rPr>
              <a:t>avoided</a:t>
            </a:r>
            <a:endParaRPr>
              <a:solidFill>
                <a:srgbClr val="E06666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6" name="Google Shape;316;p42"/>
          <p:cNvSpPr txBox="1"/>
          <p:nvPr>
            <p:ph type="title"/>
          </p:nvPr>
        </p:nvSpPr>
        <p:spPr>
          <a:xfrm>
            <a:off x="460950" y="7313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Expression Evaluation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Undefined Behavior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3"/>
          <p:cNvSpPr txBox="1"/>
          <p:nvPr>
            <p:ph idx="1" type="body"/>
          </p:nvPr>
        </p:nvSpPr>
        <p:spPr>
          <a:xfrm>
            <a:off x="372125" y="1674725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Expressions can be discarded. So there’s little point in using an expression as a statement unless the expression has a side effect: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1;  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useful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i--;    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useful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* j - 1;  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not useful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Expressions can be used as a statement by appending ‘</a:t>
            </a:r>
            <a:r>
              <a:rPr lang="en">
                <a:solidFill>
                  <a:srgbClr val="674EA7"/>
                </a:solidFill>
              </a:rPr>
              <a:t>;</a:t>
            </a:r>
            <a:r>
              <a:rPr lang="en">
                <a:solidFill>
                  <a:srgbClr val="000000"/>
                </a:solidFill>
              </a:rPr>
              <a:t>’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2" name="Google Shape;322;p43"/>
          <p:cNvSpPr txBox="1"/>
          <p:nvPr>
            <p:ph type="title"/>
          </p:nvPr>
        </p:nvSpPr>
        <p:spPr>
          <a:xfrm>
            <a:off x="460950" y="7313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Expression Statements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4"/>
          <p:cNvSpPr txBox="1"/>
          <p:nvPr>
            <p:ph idx="1" type="body"/>
          </p:nvPr>
        </p:nvSpPr>
        <p:spPr>
          <a:xfrm>
            <a:off x="379525" y="1667300"/>
            <a:ext cx="8627100" cy="3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slip of the finger can easily create a “</a:t>
            </a:r>
            <a:r>
              <a:rPr lang="en">
                <a:solidFill>
                  <a:srgbClr val="8E7CC3"/>
                </a:solidFill>
              </a:rPr>
              <a:t>do-nothing</a:t>
            </a:r>
            <a:r>
              <a:rPr lang="en">
                <a:solidFill>
                  <a:srgbClr val="000000"/>
                </a:solidFill>
              </a:rPr>
              <a:t>” expression statement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example, instead of entering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j;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we might accidentally type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+ j;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Some compilers can detect meaningless expression statements; you’ll get a warning such as </a:t>
            </a:r>
            <a:r>
              <a:rPr i="1" lang="en">
                <a:solidFill>
                  <a:srgbClr val="000000"/>
                </a:solidFill>
              </a:rPr>
              <a:t>“statement with no effect.”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8" name="Google Shape;328;p44"/>
          <p:cNvSpPr txBox="1"/>
          <p:nvPr>
            <p:ph type="title"/>
          </p:nvPr>
        </p:nvSpPr>
        <p:spPr>
          <a:xfrm>
            <a:off x="460950" y="7313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Expression Statements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