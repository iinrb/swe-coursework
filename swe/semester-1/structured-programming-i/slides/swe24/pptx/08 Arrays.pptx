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hL0HZI4310GTOsTyikYv3rNDmZ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7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3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9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40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1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1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1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2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2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Arrays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</a:t>
            </a:r>
            <a:r>
              <a:rPr b="1" i="1" lang="en">
                <a:solidFill>
                  <a:srgbClr val="000000"/>
                </a:solidFill>
              </a:rPr>
              <a:t>array</a:t>
            </a:r>
            <a:r>
              <a:rPr lang="en">
                <a:solidFill>
                  <a:srgbClr val="000000"/>
                </a:solidFill>
              </a:rPr>
              <a:t> is a data structure containing a number of data values of same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values (</a:t>
            </a:r>
            <a:r>
              <a:rPr b="1" i="1" lang="en">
                <a:solidFill>
                  <a:srgbClr val="000000"/>
                </a:solidFill>
              </a:rPr>
              <a:t>elements</a:t>
            </a:r>
            <a:r>
              <a:rPr lang="en">
                <a:solidFill>
                  <a:srgbClr val="000000"/>
                </a:solidFill>
              </a:rPr>
              <a:t>) can be individually selected by their positions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Arranged one after another in a single row</a:t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Declaration:	specify the </a:t>
            </a:r>
            <a:r>
              <a:rPr i="1" lang="en">
                <a:solidFill>
                  <a:srgbClr val="000000"/>
                </a:solidFill>
              </a:rPr>
              <a:t>type</a:t>
            </a:r>
            <a:r>
              <a:rPr lang="en">
                <a:solidFill>
                  <a:srgbClr val="000000"/>
                </a:solidFill>
              </a:rPr>
              <a:t> and number of items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a[6];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</p:txBody>
      </p:sp>
      <p:pic>
        <p:nvPicPr>
          <p:cNvPr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5175" y="3149700"/>
            <a:ext cx="3666351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i="1" lang="en">
                <a:solidFill>
                  <a:srgbClr val="000000"/>
                </a:solidFill>
              </a:rPr>
              <a:t>elements</a:t>
            </a:r>
            <a:r>
              <a:rPr lang="en">
                <a:solidFill>
                  <a:srgbClr val="000000"/>
                </a:solidFill>
              </a:rPr>
              <a:t> may be of any type; the </a:t>
            </a:r>
            <a:r>
              <a:rPr b="1" i="1" lang="en">
                <a:solidFill>
                  <a:srgbClr val="000000"/>
                </a:solidFill>
              </a:rPr>
              <a:t>length</a:t>
            </a:r>
            <a:r>
              <a:rPr lang="en">
                <a:solidFill>
                  <a:srgbClr val="000000"/>
                </a:solidFill>
              </a:rPr>
              <a:t> of the array can be any (integer) constant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 macro to define the length of an array is an excellent practice: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1" name="Google Shape;81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1554150" y="3248925"/>
            <a:ext cx="2316300" cy="1293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 10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a[N];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 an array element, write the array name followed by an integer value in square brackets.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This is referred to as </a:t>
            </a:r>
            <a:r>
              <a:rPr b="1" i="1" lang="en">
                <a:solidFill>
                  <a:srgbClr val="000000"/>
                </a:solidFill>
              </a:rPr>
              <a:t>subscripting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b="1" i="1" lang="en">
                <a:solidFill>
                  <a:srgbClr val="000000"/>
                </a:solidFill>
              </a:rPr>
              <a:t>indexing</a:t>
            </a:r>
            <a:r>
              <a:rPr lang="en">
                <a:solidFill>
                  <a:srgbClr val="000000"/>
                </a:solidFill>
              </a:rPr>
              <a:t> the array.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elements of an array of length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are indexed from 0 to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– 1.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is an array of length 10, its elements are designated by a[0], a[1], …, a[9]: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8925" y="4127050"/>
            <a:ext cx="4168875" cy="6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Expressions of the form a[i] are lvalues, so they can be used in the same way as ordinary variables: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general, if an array contains elements of type </a:t>
            </a:r>
            <a:r>
              <a:rPr i="1" lang="en">
                <a:solidFill>
                  <a:srgbClr val="000000"/>
                </a:solidFill>
              </a:rPr>
              <a:t>T</a:t>
            </a:r>
            <a:r>
              <a:rPr lang="en">
                <a:solidFill>
                  <a:srgbClr val="000000"/>
                </a:solidFill>
              </a:rPr>
              <a:t>, then each element of the array is treated as if it were a variable of type </a:t>
            </a:r>
            <a:r>
              <a:rPr i="1" lang="en">
                <a:solidFill>
                  <a:srgbClr val="000000"/>
                </a:solidFill>
              </a:rPr>
              <a:t>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5" name="Google Shape;95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1613350" y="2738275"/>
            <a:ext cx="2348400" cy="120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a[0] = 1;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a[5]);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++a[0];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programs contain for loops whose job is to perform some operation on every element in an array.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Examples of typical operations on an array a of length N: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2" name="Google Shape;102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1539325" y="2893675"/>
            <a:ext cx="5216400" cy="204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a[i] = 0;         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clears a */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&amp;a[i]);  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reads data into a */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sum += a[i];      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sums the elements of a */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</a:t>
            </a:r>
            <a:r>
              <a:rPr lang="en">
                <a:solidFill>
                  <a:srgbClr val="E06666"/>
                </a:solidFill>
              </a:rPr>
              <a:t>doesn’t require</a:t>
            </a:r>
            <a:r>
              <a:rPr lang="en">
                <a:solidFill>
                  <a:srgbClr val="000000"/>
                </a:solidFill>
              </a:rPr>
              <a:t> that subscript bounds be checked; if a subscript goes out of range, the program’s behavior is </a:t>
            </a:r>
            <a:r>
              <a:rPr lang="en">
                <a:solidFill>
                  <a:srgbClr val="E06666"/>
                </a:solidFill>
              </a:rPr>
              <a:t>undefined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common </a:t>
            </a:r>
            <a:r>
              <a:rPr lang="en">
                <a:solidFill>
                  <a:srgbClr val="E06666"/>
                </a:solidFill>
              </a:rPr>
              <a:t>mistake</a:t>
            </a:r>
            <a:r>
              <a:rPr lang="en">
                <a:solidFill>
                  <a:srgbClr val="000000"/>
                </a:solidFill>
              </a:rPr>
              <a:t>: forgetting that an array with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elements is indexed from 0 to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– 1, not 1 to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With some compilers, this innocent-looking for statement causes an infinite loop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9" name="Google Shape;109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3737350" y="3012100"/>
            <a:ext cx="2834400" cy="120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a[10], i;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1; i &lt;= 10; i++)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a[i] = 0;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subscript may be any integer expression: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a[i+j*10] =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 can even have </a:t>
            </a:r>
            <a:r>
              <a:rPr lang="en">
                <a:solidFill>
                  <a:srgbClr val="6D9EEB"/>
                </a:solidFill>
              </a:rPr>
              <a:t>side effects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1457950" y="3485750"/>
            <a:ext cx="2849400" cy="1277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N){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a[i++] = 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 careful when an array subscript has a side effect: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 = b[i++]</a:t>
            </a:r>
            <a:r>
              <a:rPr lang="en">
                <a:solidFill>
                  <a:srgbClr val="000000"/>
                </a:solidFill>
              </a:rPr>
              <a:t> accesses the value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and also modifies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, causing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problem can be avoided by removing the increment from the subscript: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3" name="Google Shape;123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2575475" y="2175850"/>
            <a:ext cx="2375700" cy="948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N)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 = b[i++];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2360825" y="4359025"/>
            <a:ext cx="2694000" cy="658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a[i] = b[i];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prompts the user to enter a series of numbers, then writes the numbers in reverse order: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10 numbers: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34 82 49 102 7 94 23 11 50 31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In reverse order: 31 50 11 23 94 7 102 49 82 34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stores the numbers in an array as they’re read, then goes through the array backwards, printing the elements one by one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Reverse a Series of Numbers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given initial value at the time of declaration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common </a:t>
            </a:r>
            <a:r>
              <a:rPr b="1" i="1" lang="en">
                <a:solidFill>
                  <a:srgbClr val="000000"/>
                </a:solidFill>
              </a:rPr>
              <a:t>array initializer</a:t>
            </a:r>
            <a:r>
              <a:rPr lang="en">
                <a:solidFill>
                  <a:srgbClr val="000000"/>
                </a:solidFill>
              </a:rPr>
              <a:t> -&gt; List of constants enclosed in braces, separated by comma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a[7] = {2, 4, 4, 1, 1, 3, 9}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Initialization can be shorter than array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a[7] = {2, 4, 4}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rest of the uninitialized values are initialized with 0s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Initialize array with all zeros: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a[7] = {0}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a: {0, 0, 0, 0, 0, 0, 0}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7" name="Google Shape;137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Initialization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There’s a single 0 inside the braces because it’s illegal for an initializer to be completely empty.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also illegal for an initializer to be longer than the array it initializes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an initializer is present, the length of the array may be omitted: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 = {1, 2, 3, 4, 5, 6, 7, 8, 9, 10};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compiler uses the </a:t>
            </a:r>
            <a:r>
              <a:rPr i="1" lang="en">
                <a:solidFill>
                  <a:srgbClr val="000000"/>
                </a:solidFill>
              </a:rPr>
              <a:t>length</a:t>
            </a:r>
            <a:r>
              <a:rPr lang="en">
                <a:solidFill>
                  <a:srgbClr val="000000"/>
                </a:solidFill>
              </a:rPr>
              <a:t> of initializer to determine how long the array is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Initialization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Used to initialize few specific elements of array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arr[10] = {[6] = 48, [8] = 7, [2] = 29};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rest are set to 0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Order in which elements are listed does not matter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number in bracket -&gt; </a:t>
            </a:r>
            <a:r>
              <a:rPr lang="en">
                <a:solidFill>
                  <a:srgbClr val="6D9EEB"/>
                </a:solidFill>
              </a:rPr>
              <a:t>Designator</a:t>
            </a:r>
            <a:endParaRPr>
              <a:solidFill>
                <a:srgbClr val="6D9EEB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Must be a constant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length is omitted, compiler deduces array length from the largest designator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b[] = {[5] = 10, [23] = 13, [11] = 36};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an array with 24 elements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Designated Initializers (C99)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checks whether any of the digits in a number appear more than once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After the user enters a number, the program prints either Repeated digit or No repeated digit: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a number: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28212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Repeated digit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number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28212</a:t>
            </a:r>
            <a:r>
              <a:rPr lang="en">
                <a:solidFill>
                  <a:srgbClr val="000000"/>
                </a:solidFill>
              </a:rPr>
              <a:t> has a repeated digit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(2)</a:t>
            </a:r>
            <a:r>
              <a:rPr lang="en">
                <a:solidFill>
                  <a:srgbClr val="000000"/>
                </a:solidFill>
              </a:rPr>
              <a:t>; a number like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9357</a:t>
            </a:r>
            <a:r>
              <a:rPr lang="en">
                <a:solidFill>
                  <a:srgbClr val="000000"/>
                </a:solidFill>
              </a:rPr>
              <a:t> doesn’t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5" name="Google Shape;155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Checking a Number for Repeated Digits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uses an array of 10 Boolean values to keep track of which digits appear in a number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Initially, every element of the </a:t>
            </a:r>
            <a:r>
              <a:rPr i="1" lang="en">
                <a:solidFill>
                  <a:srgbClr val="000000"/>
                </a:solidFill>
              </a:rPr>
              <a:t>digit_seen</a:t>
            </a:r>
            <a:r>
              <a:rPr lang="en">
                <a:solidFill>
                  <a:srgbClr val="000000"/>
                </a:solidFill>
              </a:rPr>
              <a:t> array is </a:t>
            </a:r>
            <a:r>
              <a:rPr b="1" i="1" lang="en">
                <a:solidFill>
                  <a:srgbClr val="000000"/>
                </a:solidFill>
              </a:rPr>
              <a:t>false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given a number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, the program examines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’s digits one at a time, storing the current digit in a variable named digit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digit_seen[digit] </a:t>
            </a:r>
            <a:r>
              <a:rPr lang="en" sz="1400">
                <a:solidFill>
                  <a:srgbClr val="000000"/>
                </a:solidFill>
              </a:rPr>
              <a:t>is </a:t>
            </a:r>
            <a:r>
              <a:rPr b="1" i="1" lang="en" sz="1400">
                <a:solidFill>
                  <a:srgbClr val="000000"/>
                </a:solidFill>
              </a:rPr>
              <a:t>true</a:t>
            </a:r>
            <a:r>
              <a:rPr lang="en" sz="1400">
                <a:solidFill>
                  <a:srgbClr val="000000"/>
                </a:solidFill>
              </a:rPr>
              <a:t>, then digit appears at least twice in </a:t>
            </a:r>
            <a:r>
              <a:rPr b="1" i="1" lang="en" sz="1400">
                <a:solidFill>
                  <a:srgbClr val="000000"/>
                </a:solidFill>
              </a:rPr>
              <a:t>n</a:t>
            </a:r>
            <a:endParaRPr b="1" i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digit_seen[digit] </a:t>
            </a:r>
            <a:r>
              <a:rPr lang="en" sz="1400">
                <a:solidFill>
                  <a:srgbClr val="000000"/>
                </a:solidFill>
              </a:rPr>
              <a:t>is </a:t>
            </a:r>
            <a:r>
              <a:rPr b="1" i="1" lang="en" sz="1400">
                <a:solidFill>
                  <a:srgbClr val="000000"/>
                </a:solidFill>
              </a:rPr>
              <a:t>false</a:t>
            </a:r>
            <a:r>
              <a:rPr lang="en" sz="1400">
                <a:solidFill>
                  <a:srgbClr val="000000"/>
                </a:solidFill>
              </a:rPr>
              <a:t>, then digit has not been seen before, so the program sets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digit_seen[digit]</a:t>
            </a:r>
            <a:r>
              <a:rPr lang="en" sz="1400">
                <a:solidFill>
                  <a:srgbClr val="000000"/>
                </a:solidFill>
              </a:rPr>
              <a:t> to true and keeps going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Checking a Number for Repeated Digits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 to determine the size of array in bytes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Find length of array by dividing by the size of single element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Easier to modify if size of array changes later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Better to typecast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for comparison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7" name="Google Shape;16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i="1" lang="en" sz="2000"/>
              <a:t> Operator with Arrays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383925" y="2136952"/>
            <a:ext cx="6712500" cy="800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arr[10];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(arr));  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Prints "40" assuming int requires 4 bytes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2013000" y="4107400"/>
            <a:ext cx="426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383925" y="3411105"/>
            <a:ext cx="4485000" cy="400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(arr)/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(arr[0]));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may have any number of dimensions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following declaration creates a </a:t>
            </a:r>
            <a:r>
              <a:rPr i="1" lang="en">
                <a:solidFill>
                  <a:srgbClr val="000000"/>
                </a:solidFill>
              </a:rPr>
              <a:t>two-dimensional</a:t>
            </a:r>
            <a:r>
              <a:rPr lang="en">
                <a:solidFill>
                  <a:srgbClr val="000000"/>
                </a:solidFill>
              </a:rPr>
              <a:t> array (a </a:t>
            </a:r>
            <a:r>
              <a:rPr i="1" lang="en">
                <a:solidFill>
                  <a:srgbClr val="000000"/>
                </a:solidFill>
              </a:rPr>
              <a:t>matrix,</a:t>
            </a:r>
            <a:r>
              <a:rPr lang="en">
                <a:solidFill>
                  <a:srgbClr val="000000"/>
                </a:solidFill>
              </a:rPr>
              <a:t> in mathematical terminology):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m[5][9];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m</a:t>
            </a:r>
            <a:r>
              <a:rPr lang="en">
                <a:solidFill>
                  <a:srgbClr val="000000"/>
                </a:solidFill>
              </a:rPr>
              <a:t> has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lang="en">
                <a:solidFill>
                  <a:srgbClr val="000000"/>
                </a:solidFill>
              </a:rPr>
              <a:t> rows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 </a:t>
            </a:r>
            <a:r>
              <a:rPr lang="en">
                <a:solidFill>
                  <a:srgbClr val="000000"/>
                </a:solidFill>
              </a:rPr>
              <a:t>columns. Both rows and columns are indexed from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1275" y="3617350"/>
            <a:ext cx="2338000" cy="13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 the element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i="1" lang="en">
                <a:solidFill>
                  <a:srgbClr val="000000"/>
                </a:solidFill>
              </a:rPr>
              <a:t>row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column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>
                <a:solidFill>
                  <a:srgbClr val="000000"/>
                </a:solidFill>
              </a:rPr>
              <a:t>, we must write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m[i][j]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m[i]</a:t>
            </a:r>
            <a:r>
              <a:rPr lang="en">
                <a:solidFill>
                  <a:srgbClr val="000000"/>
                </a:solidFill>
              </a:rPr>
              <a:t> designates </a:t>
            </a:r>
            <a:r>
              <a:rPr i="1" lang="en">
                <a:solidFill>
                  <a:srgbClr val="000000"/>
                </a:solidFill>
              </a:rPr>
              <a:t>row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>
                <a:solidFill>
                  <a:srgbClr val="000000"/>
                </a:solidFill>
              </a:rPr>
              <a:t>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m[i][j]</a:t>
            </a:r>
            <a:r>
              <a:rPr lang="en">
                <a:solidFill>
                  <a:srgbClr val="000000"/>
                </a:solidFill>
              </a:rPr>
              <a:t> then selects element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>
                <a:solidFill>
                  <a:srgbClr val="000000"/>
                </a:solidFill>
              </a:rPr>
              <a:t> in this </a:t>
            </a:r>
            <a:r>
              <a:rPr i="1" lang="en">
                <a:solidFill>
                  <a:srgbClr val="000000"/>
                </a:solidFill>
              </a:rPr>
              <a:t>row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Resist</a:t>
            </a:r>
            <a:r>
              <a:rPr lang="en">
                <a:solidFill>
                  <a:srgbClr val="000000"/>
                </a:solidFill>
              </a:rPr>
              <a:t> the </a:t>
            </a:r>
            <a:r>
              <a:rPr lang="en">
                <a:solidFill>
                  <a:srgbClr val="E06666"/>
                </a:solidFill>
              </a:rPr>
              <a:t>temptation</a:t>
            </a:r>
            <a:r>
              <a:rPr lang="en">
                <a:solidFill>
                  <a:srgbClr val="000000"/>
                </a:solidFill>
              </a:rPr>
              <a:t> to write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m[i,j]</a:t>
            </a:r>
            <a:r>
              <a:rPr lang="en">
                <a:solidFill>
                  <a:srgbClr val="000000"/>
                </a:solidFill>
              </a:rPr>
              <a:t> 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m[i][j]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treats the </a:t>
            </a:r>
            <a:r>
              <a:rPr b="1" i="1" lang="en">
                <a:solidFill>
                  <a:srgbClr val="000000"/>
                </a:solidFill>
              </a:rPr>
              <a:t>comma</a:t>
            </a:r>
            <a:r>
              <a:rPr lang="en">
                <a:solidFill>
                  <a:srgbClr val="000000"/>
                </a:solidFill>
              </a:rPr>
              <a:t> as an operator in this context, so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m[i,j]</a:t>
            </a:r>
            <a:r>
              <a:rPr lang="en">
                <a:solidFill>
                  <a:srgbClr val="000000"/>
                </a:solidFill>
              </a:rPr>
              <a:t> is the same 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m[j]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Although we visualize </a:t>
            </a:r>
            <a:r>
              <a:rPr i="1" lang="en">
                <a:solidFill>
                  <a:srgbClr val="000000"/>
                </a:solidFill>
              </a:rPr>
              <a:t>two-dimensional</a:t>
            </a:r>
            <a:r>
              <a:rPr lang="en">
                <a:solidFill>
                  <a:srgbClr val="000000"/>
                </a:solidFill>
              </a:rPr>
              <a:t> arrays as tables, that’s not the way they’re actually stored in computer memory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stores arrays in </a:t>
            </a:r>
            <a:r>
              <a:rPr b="1" i="1" lang="en">
                <a:solidFill>
                  <a:srgbClr val="000000"/>
                </a:solidFill>
              </a:rPr>
              <a:t>row-major order,</a:t>
            </a:r>
            <a:r>
              <a:rPr lang="en">
                <a:solidFill>
                  <a:srgbClr val="000000"/>
                </a:solidFill>
              </a:rPr>
              <a:t> with </a:t>
            </a:r>
            <a:r>
              <a:rPr i="1" lang="en">
                <a:solidFill>
                  <a:srgbClr val="000000"/>
                </a:solidFill>
              </a:rPr>
              <a:t>row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 first, then </a:t>
            </a:r>
            <a:r>
              <a:rPr i="1" lang="en">
                <a:solidFill>
                  <a:srgbClr val="000000"/>
                </a:solidFill>
              </a:rPr>
              <a:t>row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">
                <a:solidFill>
                  <a:srgbClr val="000000"/>
                </a:solidFill>
              </a:rPr>
              <a:t>, and so forth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">
                <a:solidFill>
                  <a:srgbClr val="000000"/>
                </a:solidFill>
              </a:rPr>
              <a:t> array is stored: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8525" y="3635225"/>
            <a:ext cx="4477100" cy="10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Nested for loops are ideal for processing multidimensional arrays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Identity matrix creation: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2144400" y="2464475"/>
            <a:ext cx="3990900" cy="2536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N 10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ident[N][N];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row, col;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(row = 0; row &lt; N; row++)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(col = 0; col &lt; N; col++)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(row == col)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	ident[row][col] = 1.0;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b="0" i="0" sz="1200" u="none" cap="none" strike="noStrike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	ident[row][col] = 0.0;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create an initializer for a </a:t>
            </a:r>
            <a:r>
              <a:rPr i="1" lang="en">
                <a:solidFill>
                  <a:srgbClr val="000000"/>
                </a:solidFill>
              </a:rPr>
              <a:t>two-dimensional</a:t>
            </a:r>
            <a:r>
              <a:rPr lang="en">
                <a:solidFill>
                  <a:srgbClr val="000000"/>
                </a:solidFill>
              </a:rPr>
              <a:t> array by nesting one-dimensional initializers: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m[5][9] = {{1, 1, 1, 1, 1, 0, 1, 1, 1},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{0, 1, 0, 1, 0, 1, 0, 1, 0},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{0, 1, 0, 1, 1, 0, 0, 1, 0},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{1, 1, 0, 1, 0, 0, 0, 1, 0},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{1, 1, 0, 1, 0, 0, 1, 1, 1}};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Initializers for </a:t>
            </a:r>
            <a:r>
              <a:rPr i="1" lang="en">
                <a:solidFill>
                  <a:srgbClr val="000000"/>
                </a:solidFill>
              </a:rPr>
              <a:t>higher-dimensional</a:t>
            </a:r>
            <a:r>
              <a:rPr lang="en">
                <a:solidFill>
                  <a:srgbClr val="000000"/>
                </a:solidFill>
              </a:rPr>
              <a:t> arrays are constructed in a similar fashion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provides a variety of ways to abbreviate initializers for multidimensional arrays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3" name="Google Shape;203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Initialization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even omit the inner braces: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m[5][9] = {1, 1, 1, 1, 1, 0, 1, 1, 1,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  0, 1, 0, 1, 0, 1, 0, 1, 0,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  0, 1, 0, 1, 1, 0, 0, 1, 0,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  1, 1, 0, 1, 0, 0, 0, 1, 0,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  1, 1, 0, 1, 0, 0, 1, 1, 1};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Once compiler has seen enough values to fill one row, it begins filling the next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Omitting the inner braces can be </a:t>
            </a:r>
            <a:r>
              <a:rPr lang="en">
                <a:solidFill>
                  <a:srgbClr val="E06666"/>
                </a:solidFill>
              </a:rPr>
              <a:t>risky</a:t>
            </a:r>
            <a:r>
              <a:rPr lang="en">
                <a:solidFill>
                  <a:srgbClr val="000000"/>
                </a:solidFill>
              </a:rPr>
              <a:t>, since an extra element (or even worse, a missing element) will affect the rest of the initializer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9" name="Google Shape;20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C99’s designated initializers work with multidimensional arrays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 to create 2 × 2 identity matrix: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ident[2][2] = {[0][0] = 1.0, [1][1] = 1.0};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 As usual, all elements for which no value is specified will default to zero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5" name="Google Shape;21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can be made </a:t>
            </a:r>
            <a:r>
              <a:rPr i="1" lang="en">
                <a:solidFill>
                  <a:srgbClr val="000000"/>
                </a:solidFill>
              </a:rPr>
              <a:t>“constant”</a:t>
            </a:r>
            <a:r>
              <a:rPr lang="en">
                <a:solidFill>
                  <a:srgbClr val="000000"/>
                </a:solidFill>
              </a:rPr>
              <a:t> by starting its declaration with the word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hex_chars[] = {'0', '1', '2', '3', '4', '5', '6', '7', '8', '9',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				      		    	   'A', 'B', 'C', 'D', 'E', 'F'};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that’s been declared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>
                <a:solidFill>
                  <a:srgbClr val="000000"/>
                </a:solidFill>
              </a:rPr>
              <a:t> should not be modified by the program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Advantages of declaring an array to be const: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Documents that the program won’t change the array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Helps the compiler catch errors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const isn’t limited to arrays, but it’s particularly useful in array declarations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1" name="Google Shape;221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Constant Arrays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512750" y="17140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illustrates both two-dimensional arrays and constant arrays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deals a random hand from a standard deck of playing cards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card in a standard deck has a </a:t>
            </a:r>
            <a:r>
              <a:rPr b="1" i="1" lang="en">
                <a:solidFill>
                  <a:srgbClr val="000000"/>
                </a:solidFill>
              </a:rPr>
              <a:t>suit</a:t>
            </a:r>
            <a:r>
              <a:rPr lang="en">
                <a:solidFill>
                  <a:srgbClr val="000000"/>
                </a:solidFill>
              </a:rPr>
              <a:t> (clubs, diamonds, hearts, or spades) and a </a:t>
            </a:r>
            <a:r>
              <a:rPr i="1" lang="en">
                <a:solidFill>
                  <a:srgbClr val="000000"/>
                </a:solidFill>
              </a:rPr>
              <a:t>rank</a:t>
            </a:r>
            <a:r>
              <a:rPr lang="en">
                <a:solidFill>
                  <a:srgbClr val="000000"/>
                </a:solidFill>
              </a:rPr>
              <a:t> (two, three, four, five, six, seven, eight, nine, ten, jack, queen, king, or ace)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7" name="Google Shape;227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Dealing a Hands of Cards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512750" y="17140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user will specify how many cards should be in the hand: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number of cards in hand: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Your hand: 7c 2s 5d as 2h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Problems to be solved: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How do we pick cards randomly from the deck?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How do we avoid picking the same card twice?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3" name="Google Shape;233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Dealing a Hands of Cards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Length of array is computed during program execution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calculate exactly how many elements are needed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9" name="Google Shape;239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Variable-Length Arrays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1628150" y="2427425"/>
            <a:ext cx="3115800" cy="12261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m, n;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 %d"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&amp;m, &amp;n);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arr[m][n];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Advantage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Reduces wastage of memory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Avoids program failure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Restrictions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Can’t have static storage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Can’t have initializers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6" name="Google Shape;246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Variable-Length Arrays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Ask user how many numbers s/he wants to reverse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How many numbers do you want to reverse?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5 numbers: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5 2 1 5 3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 reverse order: 3 5 1 2 5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2" name="Google Shape;252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Reverse a Series of Numbers (Revisited)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