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embeddedFontLst>
    <p:embeddedFont>
      <p:font typeface="Roboto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2" roundtripDataSignature="AMtx7mhlvq55r06142Wefc58WdRX7p8i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regular.fntdata"/><Relationship Id="rId47" Type="http://schemas.openxmlformats.org/officeDocument/2006/relationships/slide" Target="slides/slide42.xml"/><Relationship Id="rId49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-boldItalic.fntdata"/><Relationship Id="rId50" Type="http://schemas.openxmlformats.org/officeDocument/2006/relationships/font" Target="fonts/Roboto-italic.fntdata"/><Relationship Id="rId52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4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4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4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44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4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" name="Google Shape;23;p4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7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47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47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4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8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8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4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9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9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9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49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4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0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5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1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1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51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5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5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2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2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2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5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3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53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5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4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4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483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Lesson: Selection Statements</a:t>
            </a:r>
            <a:endParaRPr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24"/>
            <a:ext cx="8222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CSE 4107 : Structured Programming I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Shahriar Ivan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Statements</a:t>
            </a:r>
            <a:endParaRPr/>
          </a:p>
        </p:txBody>
      </p:sp>
      <p:sp>
        <p:nvSpPr>
          <p:cNvPr id="74" name="Google Shape;74;p2"/>
          <p:cNvSpPr txBox="1"/>
          <p:nvPr>
            <p:ph idx="1" type="body"/>
          </p:nvPr>
        </p:nvSpPr>
        <p:spPr>
          <a:xfrm>
            <a:off x="512750" y="1697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So far, we’ve used return statements and expression statements.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Most of C’s remaining statements fall into three categories: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b="1" i="1" lang="en" sz="1400">
                <a:solidFill>
                  <a:srgbClr val="000000"/>
                </a:solidFill>
              </a:rPr>
              <a:t>Selection statements:</a:t>
            </a:r>
            <a:r>
              <a:rPr lang="en" sz="1400">
                <a:solidFill>
                  <a:srgbClr val="000000"/>
                </a:solidFill>
              </a:rPr>
              <a:t> </a:t>
            </a:r>
            <a:r>
              <a:rPr i="1" lang="en" sz="1400">
                <a:solidFill>
                  <a:srgbClr val="000000"/>
                </a:solidFill>
              </a:rPr>
              <a:t>if</a:t>
            </a:r>
            <a:r>
              <a:rPr lang="en" sz="1400">
                <a:solidFill>
                  <a:srgbClr val="000000"/>
                </a:solidFill>
              </a:rPr>
              <a:t> and </a:t>
            </a:r>
            <a:r>
              <a:rPr i="1" lang="en" sz="1400">
                <a:solidFill>
                  <a:srgbClr val="000000"/>
                </a:solidFill>
              </a:rPr>
              <a:t>switch</a:t>
            </a:r>
            <a:endParaRPr i="1"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b="1" i="1" lang="en" sz="1400">
                <a:solidFill>
                  <a:srgbClr val="000000"/>
                </a:solidFill>
              </a:rPr>
              <a:t>Iteration statements: </a:t>
            </a:r>
            <a:r>
              <a:rPr i="1" lang="en" sz="1400">
                <a:solidFill>
                  <a:srgbClr val="000000"/>
                </a:solidFill>
              </a:rPr>
              <a:t>while, do, </a:t>
            </a:r>
            <a:r>
              <a:rPr lang="en" sz="1400">
                <a:solidFill>
                  <a:srgbClr val="000000"/>
                </a:solidFill>
              </a:rPr>
              <a:t>and</a:t>
            </a:r>
            <a:r>
              <a:rPr i="1" lang="en" sz="1400">
                <a:solidFill>
                  <a:srgbClr val="000000"/>
                </a:solidFill>
              </a:rPr>
              <a:t> for</a:t>
            </a:r>
            <a:endParaRPr i="1"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b="1" i="1" lang="en" sz="1400">
                <a:solidFill>
                  <a:srgbClr val="000000"/>
                </a:solidFill>
              </a:rPr>
              <a:t>Jump statements: </a:t>
            </a:r>
            <a:r>
              <a:rPr i="1" lang="en" sz="1400">
                <a:solidFill>
                  <a:srgbClr val="000000"/>
                </a:solidFill>
              </a:rPr>
              <a:t>break, continue, </a:t>
            </a:r>
            <a:r>
              <a:rPr lang="en" sz="1400">
                <a:solidFill>
                  <a:srgbClr val="000000"/>
                </a:solidFill>
              </a:rPr>
              <a:t>and</a:t>
            </a:r>
            <a:r>
              <a:rPr i="1" lang="en" sz="1400">
                <a:solidFill>
                  <a:srgbClr val="000000"/>
                </a:solidFill>
              </a:rPr>
              <a:t> goto</a:t>
            </a:r>
            <a:r>
              <a:rPr lang="en" sz="1400">
                <a:solidFill>
                  <a:srgbClr val="000000"/>
                </a:solidFill>
              </a:rPr>
              <a:t>. (</a:t>
            </a:r>
            <a:r>
              <a:rPr i="1" lang="en" sz="1400">
                <a:solidFill>
                  <a:srgbClr val="000000"/>
                </a:solidFill>
              </a:rPr>
              <a:t>return</a:t>
            </a:r>
            <a:r>
              <a:rPr lang="en" sz="1400">
                <a:solidFill>
                  <a:srgbClr val="000000"/>
                </a:solidFill>
              </a:rPr>
              <a:t> also belongs in this category.)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Other C statements: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Compound statement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Null statement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idx="1" type="body"/>
          </p:nvPr>
        </p:nvSpPr>
        <p:spPr>
          <a:xfrm>
            <a:off x="512750" y="1697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Test the value of an expression to see if it “true” or “false”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 sz="1400">
                <a:solidFill>
                  <a:srgbClr val="000000"/>
                </a:solidFill>
              </a:rPr>
              <a:t> statement -&gt;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&lt; j?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A true value would indicate that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</a:t>
            </a:r>
            <a:r>
              <a:rPr lang="en" sz="1400">
                <a:solidFill>
                  <a:srgbClr val="000000"/>
                </a:solidFill>
              </a:rPr>
              <a:t>is less than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Other programming languages an expression such as </a:t>
            </a:r>
            <a:r>
              <a:rPr lang="en" sz="1400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&lt; j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would have a special “Boolean” or “Logical” type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But in C, such comparison statements yields an integer: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0" name="Google Shape;80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Logical Statements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Purpose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idx="1" type="body"/>
          </p:nvPr>
        </p:nvSpPr>
        <p:spPr>
          <a:xfrm>
            <a:off x="512750" y="1697075"/>
            <a:ext cx="82221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C’s </a:t>
            </a:r>
            <a:r>
              <a:rPr b="1" i="1" lang="en">
                <a:solidFill>
                  <a:srgbClr val="000000"/>
                </a:solidFill>
              </a:rPr>
              <a:t>relational operators:</a:t>
            </a:r>
            <a:endParaRPr b="1" i="1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	less than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&gt;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greater than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&lt;=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less than or equal to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&gt;=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greater than or equal to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These operators produce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 (false) </a:t>
            </a:r>
            <a:r>
              <a:rPr lang="en">
                <a:solidFill>
                  <a:srgbClr val="000000"/>
                </a:solidFill>
              </a:rPr>
              <a:t>or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1 (true)</a:t>
            </a:r>
            <a:r>
              <a:rPr lang="en">
                <a:solidFill>
                  <a:srgbClr val="000000"/>
                </a:solidFill>
              </a:rPr>
              <a:t> when used in expressions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relational operators can be used to compare integers and floating-point numbers, with operands of mixed types allowed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6" name="Google Shape;86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Logical Statements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Relational Operators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>
            <p:ph idx="1" type="body"/>
          </p:nvPr>
        </p:nvSpPr>
        <p:spPr>
          <a:xfrm>
            <a:off x="512750" y="1697075"/>
            <a:ext cx="82221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precedence of the relational operators is lower than that of the arithmetic operators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">
                <a:solidFill>
                  <a:srgbClr val="000000"/>
                </a:solidFill>
              </a:rPr>
              <a:t>For example,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+ j &lt; k - 1</a:t>
            </a:r>
            <a:r>
              <a:rPr lang="en">
                <a:solidFill>
                  <a:srgbClr val="000000"/>
                </a:solidFill>
              </a:rPr>
              <a:t> means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+ j) &lt; (k - 1)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relational operators are left associative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2" name="Google Shape;92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Logical Statements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Relational Operators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idx="1" type="body"/>
          </p:nvPr>
        </p:nvSpPr>
        <p:spPr>
          <a:xfrm>
            <a:off x="512750" y="1697075"/>
            <a:ext cx="82221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expression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&lt; j &lt; k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is legal, but </a:t>
            </a:r>
            <a:r>
              <a:rPr lang="en">
                <a:solidFill>
                  <a:srgbClr val="E06666"/>
                </a:solidFill>
              </a:rPr>
              <a:t>does not test</a:t>
            </a:r>
            <a:r>
              <a:rPr lang="en">
                <a:solidFill>
                  <a:srgbClr val="000000"/>
                </a:solidFill>
              </a:rPr>
              <a:t> whether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</a:t>
            </a:r>
            <a:r>
              <a:rPr lang="en">
                <a:solidFill>
                  <a:srgbClr val="000000"/>
                </a:solidFill>
              </a:rPr>
              <a:t> lies between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</a:t>
            </a:r>
            <a:r>
              <a:rPr lang="en">
                <a:solidFill>
                  <a:srgbClr val="000000"/>
                </a:solidFill>
              </a:rPr>
              <a:t>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k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Since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 </a:t>
            </a:r>
            <a:r>
              <a:rPr lang="en">
                <a:solidFill>
                  <a:srgbClr val="000000"/>
                </a:solidFill>
              </a:rPr>
              <a:t>operator is left associative, this expression is equivalent to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&lt; j) &lt; k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 </a:t>
            </a:r>
            <a:r>
              <a:rPr lang="en">
                <a:solidFill>
                  <a:srgbClr val="000000"/>
                </a:solidFill>
              </a:rPr>
              <a:t>produced by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&lt; j</a:t>
            </a:r>
            <a:r>
              <a:rPr lang="en">
                <a:solidFill>
                  <a:srgbClr val="000000"/>
                </a:solidFill>
              </a:rPr>
              <a:t> is then compared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k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correct expression is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&lt; j &amp;&amp; j &lt; k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8" name="Google Shape;98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Logical Statements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Relational Operators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/>
          <p:nvPr>
            <p:ph idx="1" type="body"/>
          </p:nvPr>
        </p:nvSpPr>
        <p:spPr>
          <a:xfrm>
            <a:off x="520150" y="1667475"/>
            <a:ext cx="82221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provides two </a:t>
            </a:r>
            <a:r>
              <a:rPr b="1" i="1" lang="en">
                <a:solidFill>
                  <a:srgbClr val="000000"/>
                </a:solidFill>
              </a:rPr>
              <a:t>equality operators:</a:t>
            </a:r>
            <a:endParaRPr b="1" i="1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==   equal to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!=  	not equal to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equality operators are left associative and produce either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 (false)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 (true)</a:t>
            </a:r>
            <a:r>
              <a:rPr lang="en">
                <a:solidFill>
                  <a:srgbClr val="000000"/>
                </a:solidFill>
              </a:rPr>
              <a:t> as their result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equality operators have lower precedence than the relational operators, so the expression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&lt; j == j &lt; k	</a:t>
            </a:r>
            <a:r>
              <a:rPr lang="en">
                <a:solidFill>
                  <a:srgbClr val="000000"/>
                </a:solidFill>
              </a:rPr>
              <a:t>is equivalent to,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&lt; j) == (j &lt; k)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4" name="Google Shape;104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Logical Statements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Equality Operators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 txBox="1"/>
          <p:nvPr>
            <p:ph idx="1" type="body"/>
          </p:nvPr>
        </p:nvSpPr>
        <p:spPr>
          <a:xfrm>
            <a:off x="520150" y="1608275"/>
            <a:ext cx="82221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More complicated logical expressions can be built from simpler ones by using the </a:t>
            </a:r>
            <a:r>
              <a:rPr b="1" i="1" lang="en">
                <a:solidFill>
                  <a:srgbClr val="000000"/>
                </a:solidFill>
              </a:rPr>
              <a:t>logical operators:</a:t>
            </a:r>
            <a:endParaRPr b="1" i="1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!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logical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negation</a:t>
            </a:r>
            <a:endParaRPr i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&amp;&amp;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logical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endParaRPr i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||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logical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or</a:t>
            </a:r>
            <a:endParaRPr i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b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!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operator is unary, while</a:t>
            </a:r>
            <a:r>
              <a:rPr b="1"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&amp;&amp;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and</a:t>
            </a:r>
            <a:r>
              <a:rPr b="1"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||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are binary.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logical operators produce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 </a:t>
            </a:r>
            <a:r>
              <a:rPr lang="en">
                <a:solidFill>
                  <a:srgbClr val="000000"/>
                </a:solidFill>
              </a:rPr>
              <a:t>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 </a:t>
            </a:r>
            <a:r>
              <a:rPr lang="en">
                <a:solidFill>
                  <a:srgbClr val="000000"/>
                </a:solidFill>
              </a:rPr>
              <a:t>as their result.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logical operators treat any nonzero operand as a true value and any zero operand as a false value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0" name="Google Shape;110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Logical Statements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Logical Operators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 txBox="1"/>
          <p:nvPr>
            <p:ph idx="1" type="body"/>
          </p:nvPr>
        </p:nvSpPr>
        <p:spPr>
          <a:xfrm>
            <a:off x="520150" y="1682300"/>
            <a:ext cx="82221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Behavior of the logical operators: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sz="1400">
                <a:solidFill>
                  <a:srgbClr val="000000"/>
                </a:solidFill>
              </a:rPr>
              <a:t>!</a:t>
            </a:r>
            <a:r>
              <a:rPr i="1" lang="en" sz="1400">
                <a:solidFill>
                  <a:srgbClr val="000000"/>
                </a:solidFill>
              </a:rPr>
              <a:t>expr</a:t>
            </a:r>
            <a:r>
              <a:rPr lang="en" sz="1400">
                <a:solidFill>
                  <a:srgbClr val="000000"/>
                </a:solidFill>
              </a:rPr>
              <a:t> has the value 1 if </a:t>
            </a:r>
            <a:r>
              <a:rPr i="1" lang="en" sz="1400">
                <a:solidFill>
                  <a:srgbClr val="000000"/>
                </a:solidFill>
              </a:rPr>
              <a:t>expr</a:t>
            </a:r>
            <a:r>
              <a:rPr lang="en" sz="1400">
                <a:solidFill>
                  <a:srgbClr val="000000"/>
                </a:solidFill>
              </a:rPr>
              <a:t> has the value 0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i="1" lang="en" sz="1400">
                <a:solidFill>
                  <a:srgbClr val="000000"/>
                </a:solidFill>
              </a:rPr>
              <a:t>expr1</a:t>
            </a:r>
            <a:r>
              <a:rPr lang="en" sz="1400">
                <a:solidFill>
                  <a:srgbClr val="000000"/>
                </a:solidFill>
              </a:rPr>
              <a:t> &amp;&amp; </a:t>
            </a:r>
            <a:r>
              <a:rPr i="1" lang="en" sz="1400">
                <a:solidFill>
                  <a:srgbClr val="000000"/>
                </a:solidFill>
              </a:rPr>
              <a:t>expr2</a:t>
            </a:r>
            <a:r>
              <a:rPr lang="en" sz="1400">
                <a:solidFill>
                  <a:srgbClr val="000000"/>
                </a:solidFill>
              </a:rPr>
              <a:t> has the value 1 if the values of </a:t>
            </a:r>
            <a:r>
              <a:rPr i="1" lang="en" sz="1400">
                <a:solidFill>
                  <a:srgbClr val="000000"/>
                </a:solidFill>
              </a:rPr>
              <a:t>expr1</a:t>
            </a:r>
            <a:r>
              <a:rPr lang="en" sz="1400">
                <a:solidFill>
                  <a:srgbClr val="000000"/>
                </a:solidFill>
              </a:rPr>
              <a:t> and </a:t>
            </a:r>
            <a:r>
              <a:rPr i="1" lang="en" sz="1400">
                <a:solidFill>
                  <a:srgbClr val="000000"/>
                </a:solidFill>
              </a:rPr>
              <a:t>expr2</a:t>
            </a:r>
            <a:r>
              <a:rPr lang="en" sz="1400">
                <a:solidFill>
                  <a:srgbClr val="000000"/>
                </a:solidFill>
              </a:rPr>
              <a:t> are both nonzero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i="1" lang="en" sz="1400">
                <a:solidFill>
                  <a:srgbClr val="000000"/>
                </a:solidFill>
              </a:rPr>
              <a:t>expr1</a:t>
            </a:r>
            <a:r>
              <a:rPr lang="en" sz="1400">
                <a:solidFill>
                  <a:srgbClr val="000000"/>
                </a:solidFill>
              </a:rPr>
              <a:t> || </a:t>
            </a:r>
            <a:r>
              <a:rPr i="1" lang="en" sz="1400">
                <a:solidFill>
                  <a:srgbClr val="000000"/>
                </a:solidFill>
              </a:rPr>
              <a:t>expr2</a:t>
            </a:r>
            <a:r>
              <a:rPr lang="en" sz="1400">
                <a:solidFill>
                  <a:srgbClr val="000000"/>
                </a:solidFill>
              </a:rPr>
              <a:t> has the value 1 if either </a:t>
            </a:r>
            <a:r>
              <a:rPr i="1" lang="en" sz="1400">
                <a:solidFill>
                  <a:srgbClr val="000000"/>
                </a:solidFill>
              </a:rPr>
              <a:t>expr1</a:t>
            </a:r>
            <a:r>
              <a:rPr lang="en" sz="1400">
                <a:solidFill>
                  <a:srgbClr val="000000"/>
                </a:solidFill>
              </a:rPr>
              <a:t> or </a:t>
            </a:r>
            <a:r>
              <a:rPr i="1" lang="en" sz="1400">
                <a:solidFill>
                  <a:srgbClr val="000000"/>
                </a:solidFill>
              </a:rPr>
              <a:t>expr2</a:t>
            </a:r>
            <a:r>
              <a:rPr lang="en" sz="1400">
                <a:solidFill>
                  <a:srgbClr val="000000"/>
                </a:solidFill>
              </a:rPr>
              <a:t> (or both) has a nonzero value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all other cases, these operators produce the value 0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6" name="Google Shape;116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Logical Statements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Logical Operators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 txBox="1"/>
          <p:nvPr>
            <p:ph idx="1" type="body"/>
          </p:nvPr>
        </p:nvSpPr>
        <p:spPr>
          <a:xfrm>
            <a:off x="512750" y="1623100"/>
            <a:ext cx="82221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Both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&amp;&amp; </a:t>
            </a:r>
            <a:r>
              <a:rPr lang="en">
                <a:solidFill>
                  <a:srgbClr val="000000"/>
                </a:solidFill>
              </a:rPr>
              <a:t>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|| </a:t>
            </a:r>
            <a:r>
              <a:rPr lang="en">
                <a:solidFill>
                  <a:srgbClr val="000000"/>
                </a:solidFill>
              </a:rPr>
              <a:t>perform “</a:t>
            </a:r>
            <a:r>
              <a:rPr i="1" lang="en">
                <a:solidFill>
                  <a:srgbClr val="000000"/>
                </a:solidFill>
              </a:rPr>
              <a:t>short-circuit</a:t>
            </a:r>
            <a:r>
              <a:rPr lang="en">
                <a:solidFill>
                  <a:srgbClr val="000000"/>
                </a:solidFill>
              </a:rPr>
              <a:t>” evaluation: they first evaluate the left operand, then the right one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the value of the expression can be deduced from the left operand alone, the right operand isn’t evaluated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!= 0) &amp;&amp; (j / i &gt; 0)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!= 0)</a:t>
            </a:r>
            <a:r>
              <a:rPr lang="en" sz="1400">
                <a:solidFill>
                  <a:srgbClr val="000000"/>
                </a:solidFill>
              </a:rPr>
              <a:t> is evaluated first. If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</a:t>
            </a:r>
            <a:r>
              <a:rPr lang="en" sz="1400">
                <a:solidFill>
                  <a:srgbClr val="000000"/>
                </a:solidFill>
              </a:rPr>
              <a:t>isn’t equal to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lang="en" sz="1400">
                <a:solidFill>
                  <a:srgbClr val="000000"/>
                </a:solidFill>
              </a:rPr>
              <a:t>, then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(j / i &gt; 0) </a:t>
            </a:r>
            <a:r>
              <a:rPr lang="en" sz="1400">
                <a:solidFill>
                  <a:srgbClr val="000000"/>
                </a:solidFill>
              </a:rPr>
              <a:t>is evaluated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</a:t>
            </a:r>
            <a:r>
              <a:rPr lang="en">
                <a:solidFill>
                  <a:srgbClr val="000000"/>
                </a:solidFill>
              </a:rPr>
              <a:t>is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lang="en">
                <a:solidFill>
                  <a:srgbClr val="000000"/>
                </a:solidFill>
              </a:rPr>
              <a:t>, the entire expression must be false, so there’s no need to evaluate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(j / i &gt; 0)</a:t>
            </a:r>
            <a:r>
              <a:rPr lang="en">
                <a:solidFill>
                  <a:srgbClr val="000000"/>
                </a:solidFill>
              </a:rPr>
              <a:t>. Without short-circuit evaluation, division by zero would have occurred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2" name="Google Shape;122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Logical Statements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Logical Operators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/>
          <p:nvPr>
            <p:ph idx="1" type="body"/>
          </p:nvPr>
        </p:nvSpPr>
        <p:spPr>
          <a:xfrm>
            <a:off x="512750" y="1682300"/>
            <a:ext cx="82221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Side effects in logical expressions may not always occur because of the </a:t>
            </a:r>
            <a:r>
              <a:rPr i="1" lang="en">
                <a:solidFill>
                  <a:srgbClr val="000000"/>
                </a:solidFill>
              </a:rPr>
              <a:t>short-circuit</a:t>
            </a:r>
            <a:r>
              <a:rPr lang="en">
                <a:solidFill>
                  <a:srgbClr val="000000"/>
                </a:solidFill>
              </a:rPr>
              <a:t> nature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&gt; 0 &amp;&amp; ++j &gt; 0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&gt; 0</a:t>
            </a:r>
            <a:r>
              <a:rPr lang="en">
                <a:solidFill>
                  <a:srgbClr val="000000"/>
                </a:solidFill>
              </a:rPr>
              <a:t> is false, then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++j &gt; 0</a:t>
            </a:r>
            <a:r>
              <a:rPr lang="en">
                <a:solidFill>
                  <a:srgbClr val="000000"/>
                </a:solidFill>
              </a:rPr>
              <a:t> is not evaluated, so j isn’t incremented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problem can be fixed by changing the condition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++j &gt; 0 &amp;&amp; i &gt; 0</a:t>
            </a:r>
            <a:r>
              <a:rPr lang="en">
                <a:solidFill>
                  <a:srgbClr val="000000"/>
                </a:solidFill>
              </a:rPr>
              <a:t> or, even better, by incrementing j separately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8" name="Google Shape;128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Logical Statements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Logical Operators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"/>
          <p:cNvSpPr txBox="1"/>
          <p:nvPr>
            <p:ph idx="1" type="body"/>
          </p:nvPr>
        </p:nvSpPr>
        <p:spPr>
          <a:xfrm>
            <a:off x="512750" y="1682300"/>
            <a:ext cx="82221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! operator has the same precedence as the unary plus and minus operators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precedence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&amp;&amp;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||</a:t>
            </a:r>
            <a:r>
              <a:rPr lang="en">
                <a:solidFill>
                  <a:srgbClr val="000000"/>
                </a:solidFill>
              </a:rPr>
              <a:t> is lower than that of the relational and equality operators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For example,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&lt; j &amp;&amp; k == m</a:t>
            </a:r>
            <a:r>
              <a:rPr lang="en">
                <a:solidFill>
                  <a:srgbClr val="000000"/>
                </a:solidFill>
              </a:rPr>
              <a:t> means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&lt; j) &amp;&amp; (k == m)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! </a:t>
            </a:r>
            <a:r>
              <a:rPr lang="en">
                <a:solidFill>
                  <a:srgbClr val="000000"/>
                </a:solidFill>
              </a:rPr>
              <a:t>operator is right associative;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&amp;&amp; </a:t>
            </a:r>
            <a:r>
              <a:rPr lang="en">
                <a:solidFill>
                  <a:srgbClr val="000000"/>
                </a:solidFill>
              </a:rPr>
              <a:t>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||</a:t>
            </a:r>
            <a:r>
              <a:rPr lang="en">
                <a:solidFill>
                  <a:srgbClr val="000000"/>
                </a:solidFill>
              </a:rPr>
              <a:t> are left associative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4" name="Google Shape;134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Logical Statements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Logical Operators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 txBox="1"/>
          <p:nvPr>
            <p:ph idx="1" type="body"/>
          </p:nvPr>
        </p:nvSpPr>
        <p:spPr>
          <a:xfrm>
            <a:off x="512750" y="1637875"/>
            <a:ext cx="82221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>
                <a:solidFill>
                  <a:srgbClr val="000000"/>
                </a:solidFill>
              </a:rPr>
              <a:t> statement allows a program to choose between two alternatives by testing an expression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its simplest form,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>
                <a:solidFill>
                  <a:srgbClr val="000000"/>
                </a:solidFill>
              </a:rPr>
              <a:t> statement has the form: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expression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	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statement</a:t>
            </a:r>
            <a:endParaRPr i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an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>
                <a:solidFill>
                  <a:srgbClr val="000000"/>
                </a:solidFill>
              </a:rPr>
              <a:t> statement is executed, </a:t>
            </a:r>
            <a:r>
              <a:rPr b="1" i="1" lang="en">
                <a:solidFill>
                  <a:srgbClr val="000000"/>
                </a:solidFill>
              </a:rPr>
              <a:t>expression</a:t>
            </a:r>
            <a:r>
              <a:rPr lang="en">
                <a:solidFill>
                  <a:srgbClr val="000000"/>
                </a:solidFill>
              </a:rPr>
              <a:t> is evaluated; If its value is nonzero, </a:t>
            </a:r>
            <a:r>
              <a:rPr b="1" i="1" lang="en">
                <a:solidFill>
                  <a:srgbClr val="000000"/>
                </a:solidFill>
              </a:rPr>
              <a:t>statement</a:t>
            </a:r>
            <a:r>
              <a:rPr lang="en">
                <a:solidFill>
                  <a:srgbClr val="000000"/>
                </a:solidFill>
              </a:rPr>
              <a:t> is executed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(line_num == MAX_LINES)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line_num = 0;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0" name="Google Shape;140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/>
              <a:t>Statement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/>
          <p:nvPr>
            <p:ph idx="1" type="body"/>
          </p:nvPr>
        </p:nvSpPr>
        <p:spPr>
          <a:xfrm>
            <a:off x="512750" y="1637875"/>
            <a:ext cx="82221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E06666"/>
                </a:solidFill>
              </a:rPr>
              <a:t>Confusing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==</a:t>
            </a:r>
            <a:r>
              <a:rPr lang="en">
                <a:solidFill>
                  <a:srgbClr val="000000"/>
                </a:solidFill>
              </a:rPr>
              <a:t> (equality) with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">
                <a:solidFill>
                  <a:srgbClr val="000000"/>
                </a:solidFill>
              </a:rPr>
              <a:t> (assignment) is perhaps the most common C programming error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statement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== 0) …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tests whether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 is equal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statement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		</a:t>
            </a: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= 0) …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assigns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lang="en">
                <a:solidFill>
                  <a:srgbClr val="000000"/>
                </a:solidFill>
              </a:rPr>
              <a:t>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, then tests whether the result is nonzero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6" name="Google Shape;146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/>
              <a:t>Statement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idx="1" type="body"/>
          </p:nvPr>
        </p:nvSpPr>
        <p:spPr>
          <a:xfrm>
            <a:off x="512750" y="1637875"/>
            <a:ext cx="82221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make an if statement control two or more statements, use a </a:t>
            </a:r>
            <a:r>
              <a:rPr b="1" i="1" lang="en">
                <a:solidFill>
                  <a:srgbClr val="000000"/>
                </a:solidFill>
              </a:rPr>
              <a:t>compound statement</a:t>
            </a:r>
            <a:endParaRPr b="1"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compound statement has the form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</a:rPr>
              <a:t>{ </a:t>
            </a:r>
            <a:r>
              <a:rPr i="1" lang="en" sz="1400">
                <a:solidFill>
                  <a:srgbClr val="000000"/>
                </a:solidFill>
              </a:rPr>
              <a:t>statements</a:t>
            </a:r>
            <a:r>
              <a:rPr lang="en" sz="1400">
                <a:solidFill>
                  <a:srgbClr val="000000"/>
                </a:solidFill>
              </a:rPr>
              <a:t> }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{ 	</a:t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line_num = 0; </a:t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page_num++;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 }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2" name="Google Shape;152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/>
              <a:t>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Compound Statements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idx="1" type="body"/>
          </p:nvPr>
        </p:nvSpPr>
        <p:spPr>
          <a:xfrm>
            <a:off x="512750" y="1689700"/>
            <a:ext cx="82221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compound statement is usually put on multiple lines, with one statement per line: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{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 	line_num = 0;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	page_num++;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}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Each inner statement still ends with a semicolon, but the compound statement itself does not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8" name="Google Shape;158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/>
              <a:t>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Compound Statements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512750" y="1689700"/>
            <a:ext cx="82221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if statement may have an else clause: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expression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) 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statement 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else 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statement</a:t>
            </a:r>
            <a:endParaRPr i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statement that follows the word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else </a:t>
            </a:r>
            <a:r>
              <a:rPr lang="en">
                <a:solidFill>
                  <a:srgbClr val="000000"/>
                </a:solidFill>
              </a:rPr>
              <a:t>is executed if the expression has the value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&gt; j)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max = 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max = j;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4" name="Google Shape;164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/>
              <a:t>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else</a:t>
            </a:r>
            <a:r>
              <a:rPr i="1" lang="en" sz="2000"/>
              <a:t> Clause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4572000" y="3796575"/>
            <a:ext cx="2471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&gt; j)	max = i;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max= j;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6" name="Google Shape;166;p17"/>
          <p:cNvCxnSpPr/>
          <p:nvPr/>
        </p:nvCxnSpPr>
        <p:spPr>
          <a:xfrm>
            <a:off x="4077800" y="3796575"/>
            <a:ext cx="0" cy="122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idx="1" type="body"/>
          </p:nvPr>
        </p:nvSpPr>
        <p:spPr>
          <a:xfrm>
            <a:off x="527550" y="1506425"/>
            <a:ext cx="3713100" cy="3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Indentation makes it much more readable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&gt; j)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&gt; k)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max = 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max = k;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3429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(j &gt; k)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max = j;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max = k;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2" name="Google Shape;172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/>
              <a:t>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Nested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i="1" lang="en" sz="2000"/>
              <a:t> Statement</a:t>
            </a:r>
            <a:endParaRPr/>
          </a:p>
        </p:txBody>
      </p:sp>
      <p:sp>
        <p:nvSpPr>
          <p:cNvPr id="173" name="Google Shape;173;p18"/>
          <p:cNvSpPr txBox="1"/>
          <p:nvPr>
            <p:ph idx="1" type="body"/>
          </p:nvPr>
        </p:nvSpPr>
        <p:spPr>
          <a:xfrm>
            <a:off x="4816950" y="1506425"/>
            <a:ext cx="3713100" cy="3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Can use braces too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&gt; j)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&gt; k)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max = 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max = k;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(j &gt; k)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max = j;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max = k;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cxnSp>
        <p:nvCxnSpPr>
          <p:cNvPr id="174" name="Google Shape;174;p18"/>
          <p:cNvCxnSpPr/>
          <p:nvPr/>
        </p:nvCxnSpPr>
        <p:spPr>
          <a:xfrm flipH="1">
            <a:off x="4240650" y="1795125"/>
            <a:ext cx="7500" cy="3241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>
            <p:ph idx="1" type="body"/>
          </p:nvPr>
        </p:nvSpPr>
        <p:spPr>
          <a:xfrm>
            <a:off x="512750" y="1689700"/>
            <a:ext cx="82221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“cascaded”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>
                <a:solidFill>
                  <a:srgbClr val="000000"/>
                </a:solidFill>
              </a:rPr>
              <a:t>statement is often the best way to test a series of conditions, stopping as soon as one of them is true.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(n &lt; 0)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("n is less than 0\n");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(n == 0)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("n is equal to 0\n");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("n is greater than 0\n");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0" name="Google Shape;180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/>
              <a:t>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Cascaded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i="1" lang="en" sz="2000"/>
              <a:t> Statement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>
            <p:ph idx="1" type="body"/>
          </p:nvPr>
        </p:nvSpPr>
        <p:spPr>
          <a:xfrm>
            <a:off x="512750" y="1689700"/>
            <a:ext cx="82221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Although the second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>
                <a:solidFill>
                  <a:srgbClr val="000000"/>
                </a:solidFill>
              </a:rPr>
              <a:t>statement is nested inside the first, C programmers don’t usually indent it.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Instead, they align each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else </a:t>
            </a:r>
            <a:r>
              <a:rPr lang="en">
                <a:solidFill>
                  <a:srgbClr val="000000"/>
                </a:solidFill>
              </a:rPr>
              <a:t>with the original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(n &lt; 0)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("n is less than 0\n");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 if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(n == 0)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("n is equal to 0\n");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("n is greater than 0\n");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6" name="Google Shape;186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/>
              <a:t>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Cascaded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i="1" lang="en" sz="2000"/>
              <a:t> Statement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>
            <p:ph idx="1" type="body"/>
          </p:nvPr>
        </p:nvSpPr>
        <p:spPr>
          <a:xfrm>
            <a:off x="520150" y="1615675"/>
            <a:ext cx="8222100" cy="3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stocks are sold or purchased through a broker, the broker’s commission often depends upon the value of the stocks traded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Suppose that a broker charges the amounts shown in the following table: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i="1" lang="en">
                <a:solidFill>
                  <a:srgbClr val="000000"/>
                </a:solidFill>
              </a:rPr>
              <a:t>Transaction size  			Commission rate</a:t>
            </a:r>
            <a:endParaRPr i="1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Under $2,500  				$30 + 1.7%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$2,500–$6,250  			$56 + 0.66%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$6,250–$20,000  			$76 + 0.34%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$20,000–$50,000  			$100 + 0.22%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$50,000–$500,000  		$155 + 0.11%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Over $500,000  			$255 + 0.09%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minimum charge is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$39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2" name="Google Shape;192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Calculating a Broker’s Commission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520150" y="1704600"/>
            <a:ext cx="8222100" cy="3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asks the user to enter the amount of the trade, then displays the amount of the commission: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Enter value of trade: </a:t>
            </a:r>
            <a:r>
              <a:rPr lang="en" sz="1400" u="sng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30000</a:t>
            </a:r>
            <a:endParaRPr sz="1400" u="sng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Commission: $166.00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heart of the program is a cascaded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>
                <a:solidFill>
                  <a:srgbClr val="000000"/>
                </a:solidFill>
              </a:rPr>
              <a:t>statement that determines which range the trade falls into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8" name="Google Shape;198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Calculating a Broker’s Commission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/>
          <p:nvPr>
            <p:ph idx="1" type="body"/>
          </p:nvPr>
        </p:nvSpPr>
        <p:spPr>
          <a:xfrm>
            <a:off x="512750" y="1689700"/>
            <a:ext cx="82221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>
                <a:solidFill>
                  <a:srgbClr val="000000"/>
                </a:solidFill>
              </a:rPr>
              <a:t>statements are nested, the “dangling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r>
              <a:rPr lang="en">
                <a:solidFill>
                  <a:srgbClr val="000000"/>
                </a:solidFill>
              </a:rPr>
              <a:t>” problem may occur: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(y != 0)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(x != 0)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		result = x / y;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("Error: y is equal to 0\n");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indentation suggests that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else </a:t>
            </a:r>
            <a:r>
              <a:rPr lang="en">
                <a:solidFill>
                  <a:srgbClr val="000000"/>
                </a:solidFill>
              </a:rPr>
              <a:t>clause belongs to the outer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>
                <a:solidFill>
                  <a:srgbClr val="000000"/>
                </a:solidFill>
              </a:rPr>
              <a:t>statement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However, C follows the rule that an </a:t>
            </a:r>
            <a:r>
              <a:rPr lang="en">
                <a:solidFill>
                  <a:srgbClr val="E06666"/>
                </a:solidFill>
                <a:latin typeface="Verdana"/>
                <a:ea typeface="Verdana"/>
                <a:cs typeface="Verdana"/>
                <a:sym typeface="Verdana"/>
              </a:rPr>
              <a:t>else </a:t>
            </a:r>
            <a:r>
              <a:rPr lang="en">
                <a:solidFill>
                  <a:srgbClr val="E06666"/>
                </a:solidFill>
              </a:rPr>
              <a:t>clause belongs to the nearest </a:t>
            </a:r>
            <a:r>
              <a:rPr lang="en">
                <a:solidFill>
                  <a:srgbClr val="E06666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>
                <a:solidFill>
                  <a:srgbClr val="E06666"/>
                </a:solidFill>
              </a:rPr>
              <a:t>statement</a:t>
            </a:r>
            <a:r>
              <a:rPr lang="en">
                <a:solidFill>
                  <a:srgbClr val="000000"/>
                </a:solidFill>
              </a:rPr>
              <a:t> that hasn’t already been paired with an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4" name="Google Shape;204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/>
              <a:t>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“Dangling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else</a:t>
            </a:r>
            <a:r>
              <a:rPr i="1" lang="en" sz="2000"/>
              <a:t>” Problem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/>
          <p:nvPr>
            <p:ph idx="1" type="body"/>
          </p:nvPr>
        </p:nvSpPr>
        <p:spPr>
          <a:xfrm>
            <a:off x="512750" y="1689700"/>
            <a:ext cx="82221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correctly indented version would look like this: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(y != 0)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(x != 0)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13716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result = x / y;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13716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("Error: y is equal to 0\n");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0" name="Google Shape;210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/>
              <a:t>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“Dangling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else</a:t>
            </a:r>
            <a:r>
              <a:rPr i="1" lang="en" sz="2000"/>
              <a:t>” Problem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 txBox="1"/>
          <p:nvPr>
            <p:ph idx="1" type="body"/>
          </p:nvPr>
        </p:nvSpPr>
        <p:spPr>
          <a:xfrm>
            <a:off x="512750" y="1689700"/>
            <a:ext cx="82221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correctly indented version would look like this: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(y != 0)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(x != 0)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result = x / y;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("Error: y is equal to 0\n");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6" name="Google Shape;216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/>
              <a:t>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“Dangling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else</a:t>
            </a:r>
            <a:r>
              <a:rPr i="1" lang="en" sz="2000"/>
              <a:t>” Problem</a:t>
            </a:r>
            <a:endParaRPr/>
          </a:p>
        </p:txBody>
      </p:sp>
      <p:cxnSp>
        <p:nvCxnSpPr>
          <p:cNvPr id="217" name="Google Shape;217;p25"/>
          <p:cNvCxnSpPr/>
          <p:nvPr/>
        </p:nvCxnSpPr>
        <p:spPr>
          <a:xfrm>
            <a:off x="4862275" y="2227625"/>
            <a:ext cx="0" cy="2109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25"/>
          <p:cNvSpPr txBox="1"/>
          <p:nvPr/>
        </p:nvSpPr>
        <p:spPr>
          <a:xfrm>
            <a:off x="5014400" y="2124000"/>
            <a:ext cx="4070400" cy="27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(y != 0)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(x != 0)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result = x / y;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("Error: x is equal to 0\n");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 b="0" i="0" sz="1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("Error: y is equal to 0\n");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 txBox="1"/>
          <p:nvPr>
            <p:ph idx="1" type="body"/>
          </p:nvPr>
        </p:nvSpPr>
        <p:spPr>
          <a:xfrm>
            <a:off x="512750" y="1689700"/>
            <a:ext cx="82221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C’s </a:t>
            </a:r>
            <a:r>
              <a:rPr b="1" i="1" lang="en">
                <a:solidFill>
                  <a:srgbClr val="000000"/>
                </a:solidFill>
              </a:rPr>
              <a:t>conditional operator </a:t>
            </a:r>
            <a:r>
              <a:rPr lang="en">
                <a:solidFill>
                  <a:srgbClr val="000000"/>
                </a:solidFill>
              </a:rPr>
              <a:t>allows an expression to produce one of two values depending on the value of a condition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conditional operator</a:t>
            </a:r>
            <a:r>
              <a:rPr b="1" i="1"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consists of two symbols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(?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:)</a:t>
            </a:r>
            <a:r>
              <a:rPr lang="en">
                <a:solidFill>
                  <a:srgbClr val="000000"/>
                </a:solidFill>
              </a:rPr>
              <a:t>, which must be used together: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expr1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?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expr2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: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expr3</a:t>
            </a:r>
            <a:endParaRPr i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operands can be of any type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The resulting expression is said to be a </a:t>
            </a:r>
            <a:r>
              <a:rPr b="1" i="1" lang="en">
                <a:solidFill>
                  <a:srgbClr val="000000"/>
                </a:solidFill>
              </a:rPr>
              <a:t>conditional expression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4" name="Google Shape;224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Conditional Expressions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"/>
          <p:cNvSpPr txBox="1"/>
          <p:nvPr>
            <p:ph idx="1" type="body"/>
          </p:nvPr>
        </p:nvSpPr>
        <p:spPr>
          <a:xfrm>
            <a:off x="512750" y="1689700"/>
            <a:ext cx="82221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The conditional operator requires three operands, so it is often referred to as a </a:t>
            </a:r>
            <a:r>
              <a:rPr b="1" i="1" lang="en">
                <a:solidFill>
                  <a:srgbClr val="000000"/>
                </a:solidFill>
              </a:rPr>
              <a:t>ternary </a:t>
            </a:r>
            <a:r>
              <a:rPr lang="en">
                <a:solidFill>
                  <a:srgbClr val="000000"/>
                </a:solidFill>
              </a:rPr>
              <a:t>operator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The conditional expression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expr1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?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expr2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: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expr3</a:t>
            </a:r>
            <a:r>
              <a:rPr lang="en">
                <a:solidFill>
                  <a:srgbClr val="000000"/>
                </a:solidFill>
              </a:rPr>
              <a:t> should be read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“if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expr1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then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expr2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else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expr3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.”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expression is evaluated in stages: </a:t>
            </a:r>
            <a:r>
              <a:rPr i="1" lang="en" sz="1400">
                <a:solidFill>
                  <a:srgbClr val="000000"/>
                </a:solidFill>
              </a:rPr>
              <a:t>expr1</a:t>
            </a:r>
            <a:r>
              <a:rPr lang="en">
                <a:solidFill>
                  <a:srgbClr val="000000"/>
                </a:solidFill>
              </a:rPr>
              <a:t> is evaluated first; if its value isn’t zero, then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expr2</a:t>
            </a:r>
            <a:r>
              <a:rPr lang="en">
                <a:solidFill>
                  <a:srgbClr val="000000"/>
                </a:solidFill>
              </a:rPr>
              <a:t> is evaluated, and its value is the value of the entire conditional expression.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the value of </a:t>
            </a:r>
            <a:r>
              <a:rPr i="1" lang="en" sz="1400">
                <a:solidFill>
                  <a:srgbClr val="000000"/>
                </a:solidFill>
              </a:rPr>
              <a:t>expr1</a:t>
            </a:r>
            <a:r>
              <a:rPr lang="en">
                <a:solidFill>
                  <a:srgbClr val="000000"/>
                </a:solidFill>
              </a:rPr>
              <a:t> is zero, then the value of </a:t>
            </a:r>
            <a:r>
              <a:rPr i="1" lang="en" sz="1400">
                <a:solidFill>
                  <a:srgbClr val="000000"/>
                </a:solidFill>
              </a:rPr>
              <a:t>expr3</a:t>
            </a:r>
            <a:r>
              <a:rPr lang="en">
                <a:solidFill>
                  <a:srgbClr val="000000"/>
                </a:solidFill>
              </a:rPr>
              <a:t> is the value of the conditional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0" name="Google Shape;230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Conditional Expressions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 txBox="1"/>
          <p:nvPr>
            <p:ph idx="1" type="body"/>
          </p:nvPr>
        </p:nvSpPr>
        <p:spPr>
          <a:xfrm>
            <a:off x="512750" y="1689700"/>
            <a:ext cx="82221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i, j, k;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1;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 = 2;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k = i &gt; j ? i : j;     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k is now 2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k = (i &gt;= 0 ? i : 0) + j;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k is now 3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8E7CC3"/>
                </a:solidFill>
              </a:rPr>
              <a:t>parentheses are necessary</a:t>
            </a:r>
            <a:r>
              <a:rPr lang="en">
                <a:solidFill>
                  <a:srgbClr val="000000"/>
                </a:solidFill>
              </a:rPr>
              <a:t>, because the precedence of the conditional operator is less than that of the other operators discussed so far, with the exception of the assignment operators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6" name="Google Shape;236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Conditional Expressions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/>
          <p:nvPr>
            <p:ph idx="1" type="body"/>
          </p:nvPr>
        </p:nvSpPr>
        <p:spPr>
          <a:xfrm>
            <a:off x="512750" y="1689700"/>
            <a:ext cx="84642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Makes program shorter, but </a:t>
            </a:r>
            <a:r>
              <a:rPr lang="en">
                <a:solidFill>
                  <a:srgbClr val="E06666"/>
                </a:solidFill>
              </a:rPr>
              <a:t>harder to understand</a:t>
            </a:r>
            <a:endParaRPr>
              <a:solidFill>
                <a:srgbClr val="E06666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Conditional expressions are often used in return statements: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400">
                <a:solidFill>
                  <a:srgbClr val="8E7CC3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&gt; j ? i : j;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2" name="Google Shape;242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Conditional Expressions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"/>
          <p:cNvSpPr txBox="1"/>
          <p:nvPr>
            <p:ph idx="1" type="body"/>
          </p:nvPr>
        </p:nvSpPr>
        <p:spPr>
          <a:xfrm>
            <a:off x="512750" y="1689700"/>
            <a:ext cx="84642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Calls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 </a:t>
            </a:r>
            <a:r>
              <a:rPr lang="en">
                <a:solidFill>
                  <a:srgbClr val="000000"/>
                </a:solidFill>
              </a:rPr>
              <a:t>can sometimes benefit from condition expressions. Instead of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&gt; j)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</a:t>
            </a:r>
            <a:r>
              <a:rPr lang="en" sz="1400">
                <a:solidFill>
                  <a:srgbClr val="FF9900"/>
                </a:solidFill>
                <a:latin typeface="Verdana"/>
                <a:ea typeface="Verdana"/>
                <a:cs typeface="Verdana"/>
                <a:sym typeface="Verdana"/>
              </a:rPr>
              <a:t>%d\n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", i);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</a:t>
            </a:r>
            <a:r>
              <a:rPr lang="en" sz="1400">
                <a:solidFill>
                  <a:srgbClr val="FF9900"/>
                </a:solidFill>
                <a:latin typeface="Verdana"/>
                <a:ea typeface="Verdana"/>
                <a:cs typeface="Verdana"/>
                <a:sym typeface="Verdana"/>
              </a:rPr>
              <a:t>%d\n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", j);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we could simply write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</a:t>
            </a:r>
            <a:r>
              <a:rPr lang="en" sz="1400">
                <a:solidFill>
                  <a:srgbClr val="FF9900"/>
                </a:solidFill>
                <a:latin typeface="Verdana"/>
                <a:ea typeface="Verdana"/>
                <a:cs typeface="Verdana"/>
                <a:sym typeface="Verdana"/>
              </a:rPr>
              <a:t>%d\n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", i &gt; j ? i : j);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Conditional expressions are also common in certain kinds of macro definitions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8" name="Google Shape;248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Conditional Expressions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 txBox="1"/>
          <p:nvPr>
            <p:ph idx="1" type="body"/>
          </p:nvPr>
        </p:nvSpPr>
        <p:spPr>
          <a:xfrm>
            <a:off x="505350" y="1600875"/>
            <a:ext cx="84642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cascaded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>
                <a:solidFill>
                  <a:srgbClr val="000000"/>
                </a:solidFill>
              </a:rPr>
              <a:t>statement can be used to compare an expression against a series of values: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(grade == 3)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("Excellent");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 if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(grade == 2)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("Average");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 if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(grade == 1)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("Poor");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 if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(grade == 0)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("Failing");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("Illegal grade"); 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4" name="Google Shape;254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/>
              <a:t>Statement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 txBox="1"/>
          <p:nvPr>
            <p:ph idx="1" type="body"/>
          </p:nvPr>
        </p:nvSpPr>
        <p:spPr>
          <a:xfrm>
            <a:off x="505350" y="1697100"/>
            <a:ext cx="84642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>
                <a:solidFill>
                  <a:srgbClr val="000000"/>
                </a:solidFill>
              </a:rPr>
              <a:t>statement is an alternative: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(grade) {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3: </a:t>
            </a: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 printf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("Excellent");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break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2:  </a:t>
            </a: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("Average");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break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1:  </a:t>
            </a: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("Poor");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break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0:  </a:t>
            </a: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("Failing");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break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default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("Illegal grade");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break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0" name="Google Shape;260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/>
              <a:t>Statement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 txBox="1"/>
          <p:nvPr>
            <p:ph idx="1" type="body"/>
          </p:nvPr>
        </p:nvSpPr>
        <p:spPr>
          <a:xfrm>
            <a:off x="505350" y="1637875"/>
            <a:ext cx="84642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>
                <a:solidFill>
                  <a:srgbClr val="000000"/>
                </a:solidFill>
              </a:rPr>
              <a:t>statement may be easier to read than a cascaded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>
                <a:solidFill>
                  <a:srgbClr val="000000"/>
                </a:solidFill>
              </a:rPr>
              <a:t>statement.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>
                <a:solidFill>
                  <a:srgbClr val="000000"/>
                </a:solidFill>
              </a:rPr>
              <a:t>statements are often faster than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>
                <a:solidFill>
                  <a:srgbClr val="000000"/>
                </a:solidFill>
              </a:rPr>
              <a:t>statements.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Most common form of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>
                <a:solidFill>
                  <a:srgbClr val="000000"/>
                </a:solidFill>
              </a:rPr>
              <a:t>statement: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switch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expression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)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case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constant-expression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: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statements</a:t>
            </a:r>
            <a:endParaRPr i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case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constant-expression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: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statements</a:t>
            </a:r>
            <a:endParaRPr i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default :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statements</a:t>
            </a:r>
            <a:endParaRPr i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6" name="Google Shape;266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/>
              <a:t>Statement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 txBox="1"/>
          <p:nvPr>
            <p:ph idx="1" type="body"/>
          </p:nvPr>
        </p:nvSpPr>
        <p:spPr>
          <a:xfrm>
            <a:off x="505350" y="1704500"/>
            <a:ext cx="84642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word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>
                <a:solidFill>
                  <a:srgbClr val="000000"/>
                </a:solidFill>
              </a:rPr>
              <a:t>must be followed by an integer expression—the </a:t>
            </a:r>
            <a:r>
              <a:rPr b="1" i="1" lang="en">
                <a:solidFill>
                  <a:srgbClr val="000000"/>
                </a:solidFill>
              </a:rPr>
              <a:t>controlling expression</a:t>
            </a:r>
            <a:r>
              <a:rPr lang="en">
                <a:solidFill>
                  <a:srgbClr val="000000"/>
                </a:solidFill>
              </a:rPr>
              <a:t>—in parentheses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Characters are treated as integers in C and thus can be tested in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>
                <a:solidFill>
                  <a:srgbClr val="000000"/>
                </a:solidFill>
              </a:rPr>
              <a:t>statements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However, floating-point numbers and strings don’t qualify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2" name="Google Shape;272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/>
              <a:t>Statement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5"/>
          <p:cNvSpPr txBox="1"/>
          <p:nvPr>
            <p:ph idx="1" type="body"/>
          </p:nvPr>
        </p:nvSpPr>
        <p:spPr>
          <a:xfrm>
            <a:off x="377425" y="1704500"/>
            <a:ext cx="87666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Each case begins with a label of the form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constant-expression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: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b="1" i="1" lang="en">
                <a:solidFill>
                  <a:srgbClr val="000000"/>
                </a:solidFill>
              </a:rPr>
              <a:t>constant expression </a:t>
            </a:r>
            <a:r>
              <a:rPr lang="en">
                <a:solidFill>
                  <a:srgbClr val="000000"/>
                </a:solidFill>
              </a:rPr>
              <a:t>is much like an ordinary expression except that it can’t contain variables or function calls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r>
              <a:rPr lang="en" sz="1400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is a constant expression, and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 + 10</a:t>
            </a:r>
            <a:r>
              <a:rPr lang="en">
                <a:solidFill>
                  <a:srgbClr val="000000"/>
                </a:solidFill>
              </a:rPr>
              <a:t> is a constant expression, but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 + 10</a:t>
            </a:r>
            <a:r>
              <a:rPr lang="en">
                <a:solidFill>
                  <a:srgbClr val="000000"/>
                </a:solidFill>
              </a:rPr>
              <a:t> isn’t a constant expression (unless n is a macro that represents a constant)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constant expression in a case label must evaluate to an integer (characters are acceptable)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8" name="Google Shape;278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/>
              <a:t>Statement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6"/>
          <p:cNvSpPr txBox="1"/>
          <p:nvPr>
            <p:ph idx="1" type="body"/>
          </p:nvPr>
        </p:nvSpPr>
        <p:spPr>
          <a:xfrm>
            <a:off x="377425" y="1704500"/>
            <a:ext cx="8766600" cy="25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After each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lang="en">
                <a:solidFill>
                  <a:srgbClr val="000000"/>
                </a:solidFill>
              </a:rPr>
              <a:t>label comes any number of statements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No braces are required around the statements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last statement in each group is normally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break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4" name="Google Shape;284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/>
              <a:t>Statement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 txBox="1"/>
          <p:nvPr>
            <p:ph idx="1" type="body"/>
          </p:nvPr>
        </p:nvSpPr>
        <p:spPr>
          <a:xfrm>
            <a:off x="377400" y="1571275"/>
            <a:ext cx="8766600" cy="3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Duplicate case labels aren’t allowed and the order of cases doesn’t matter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Default case doesn’t need to come last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Several case labels may precede a group of statements: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(grade)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3: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2: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1: 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("Passing");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13716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break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0: 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("Failing");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13716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break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default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("Illegal grade");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13716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break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0" name="Google Shape;290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/>
              <a:t>Statement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idx="1" type="body"/>
          </p:nvPr>
        </p:nvSpPr>
        <p:spPr>
          <a:xfrm>
            <a:off x="377400" y="1578675"/>
            <a:ext cx="8766600" cy="3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save space, several case labels can be put on the same line: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(grade)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3716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3: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2: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1: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18288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("Passing");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18288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break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3716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0: 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("Failing");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18288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break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3716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default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("Illegal grade");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18288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break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default </a:t>
            </a:r>
            <a:r>
              <a:rPr lang="en">
                <a:solidFill>
                  <a:srgbClr val="000000"/>
                </a:solidFill>
              </a:rPr>
              <a:t>case is missing and the controlling expression is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false</a:t>
            </a:r>
            <a:r>
              <a:rPr lang="en">
                <a:solidFill>
                  <a:srgbClr val="000000"/>
                </a:solidFill>
              </a:rPr>
              <a:t>, control passes to the next statement after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switch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6" name="Google Shape;296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/>
              <a:t>Statement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idx="1" type="body"/>
          </p:nvPr>
        </p:nvSpPr>
        <p:spPr>
          <a:xfrm>
            <a:off x="377400" y="1711900"/>
            <a:ext cx="8766600" cy="3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Executing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break </a:t>
            </a:r>
            <a:r>
              <a:rPr lang="en">
                <a:solidFill>
                  <a:srgbClr val="000000"/>
                </a:solidFill>
              </a:rPr>
              <a:t>statement causes the program to “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break</a:t>
            </a:r>
            <a:r>
              <a:rPr lang="en">
                <a:solidFill>
                  <a:srgbClr val="000000"/>
                </a:solidFill>
              </a:rPr>
              <a:t>” out of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>
                <a:solidFill>
                  <a:srgbClr val="000000"/>
                </a:solidFill>
              </a:rPr>
              <a:t>statement; execution continues at the next statement after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switch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>
                <a:solidFill>
                  <a:srgbClr val="000000"/>
                </a:solidFill>
              </a:rPr>
              <a:t>statement is really a form of “</a:t>
            </a:r>
            <a:r>
              <a:rPr i="1" lang="en">
                <a:solidFill>
                  <a:srgbClr val="000000"/>
                </a:solidFill>
              </a:rPr>
              <a:t>computed jump</a:t>
            </a:r>
            <a:r>
              <a:rPr lang="en">
                <a:solidFill>
                  <a:srgbClr val="000000"/>
                </a:solidFill>
              </a:rPr>
              <a:t>”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the controlling expression is evaluated, control jumps to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lang="en">
                <a:solidFill>
                  <a:srgbClr val="000000"/>
                </a:solidFill>
              </a:rPr>
              <a:t>label matching the value of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>
                <a:solidFill>
                  <a:srgbClr val="000000"/>
                </a:solidFill>
              </a:rPr>
              <a:t>expression.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lang="en">
                <a:solidFill>
                  <a:srgbClr val="000000"/>
                </a:solidFill>
              </a:rPr>
              <a:t>label is nothing more than a marker indicating a position within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switch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2" name="Google Shape;302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Role of 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break </a:t>
            </a:r>
            <a:r>
              <a:rPr lang="en"/>
              <a:t>Statement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0"/>
          <p:cNvSpPr txBox="1"/>
          <p:nvPr>
            <p:ph idx="1" type="body"/>
          </p:nvPr>
        </p:nvSpPr>
        <p:spPr>
          <a:xfrm>
            <a:off x="310800" y="1615800"/>
            <a:ext cx="8833200" cy="3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Without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break </a:t>
            </a:r>
            <a:r>
              <a:rPr lang="en">
                <a:solidFill>
                  <a:srgbClr val="000000"/>
                </a:solidFill>
              </a:rPr>
              <a:t>(or some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jump </a:t>
            </a:r>
            <a:r>
              <a:rPr lang="en">
                <a:solidFill>
                  <a:srgbClr val="000000"/>
                </a:solidFill>
              </a:rPr>
              <a:t>statement), control will flow into the next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case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(grade)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3: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("Excellent");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2: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("Average");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1: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printf(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"Poor");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0: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("Failing");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default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("Illegal grade");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the value of grade is 3, the message printed is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“ExcellentAveragePoorFailingIllegal grade”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8" name="Google Shape;308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Role of 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break </a:t>
            </a:r>
            <a:r>
              <a:rPr lang="en"/>
              <a:t>Statement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10800" y="1615800"/>
            <a:ext cx="8833200" cy="3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Omitting break is sometimes done intentionally, but it’s usually just an oversight.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It’s a good idea to point out deliberate omissions of break: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(grade)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4: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3: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2: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1: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num_passing++;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FALL THROUGH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0: total_grades++;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break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14" name="Google Shape;314;p4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Role of 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break </a:t>
            </a:r>
            <a:r>
              <a:rPr lang="en"/>
              <a:t>Statement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2"/>
          <p:cNvSpPr txBox="1"/>
          <p:nvPr>
            <p:ph idx="1" type="body"/>
          </p:nvPr>
        </p:nvSpPr>
        <p:spPr>
          <a:xfrm>
            <a:off x="310800" y="1682425"/>
            <a:ext cx="8833200" cy="3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Contracts and other legal documents are often dated in the following way: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Dated this __________ day of __________ , 20__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will display a date in this form after the user enters the date in month/day/year form: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Enter date (mm/dd/yy): </a:t>
            </a:r>
            <a:r>
              <a:rPr lang="en" sz="1400" u="sng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7/19/14</a:t>
            </a:r>
            <a:endParaRPr sz="1400" u="sng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Dated this 19th day of July, 2014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uses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>
                <a:solidFill>
                  <a:srgbClr val="000000"/>
                </a:solidFill>
              </a:rPr>
              <a:t>statements to add “th” (or “st” or “nd” or “rd”) to the day, and to print the month as a word instead of a number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0" name="Google Shape;320;p4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Printing a Date in Legal Form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