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5143500" cx="9144000"/>
  <p:notesSz cx="6858000" cy="9144000"/>
  <p:embeddedFontLst>
    <p:embeddedFont>
      <p:font typeface="Robot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3" roundtripDataSignature="AMtx7mhGfjSC1TpwJkzSoSY/JSanBuFf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49F775-2370-4274-84DC-6CF94CD2A362}">
  <a:tblStyle styleId="{A749F775-2370-4274-84DC-6CF94CD2A3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-boldItalic.fntdata"/><Relationship Id="rId61" Type="http://schemas.openxmlformats.org/officeDocument/2006/relationships/font" Target="fonts/Roboto-italic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**Provided that all values of the types can be presented in “int”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5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5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5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5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5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9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6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6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62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6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6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6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4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64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Basic Types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6378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Whole numbers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types: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Signed Integer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Leftmost bit -&gt; </a:t>
            </a:r>
            <a:r>
              <a:rPr b="1" i="1" lang="en">
                <a:solidFill>
                  <a:srgbClr val="000000"/>
                </a:solidFill>
              </a:rPr>
              <a:t>Sign Bit</a:t>
            </a:r>
            <a:endParaRPr b="1" i="1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Sign bit is 0 if the number is positive or zero, 1 if it’s negative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32 bits -&gt;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Unsigned Integer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No sign bit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32 bits -&gt;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Signed and Unsigned Integers</a:t>
            </a:r>
            <a:endParaRPr/>
          </a:p>
        </p:txBody>
      </p:sp>
      <p:pic>
        <p:nvPicPr>
          <p:cNvPr descr="&lt;math xmlns=&quot;http://www.w3.org/1998/Math/MathML&quot;&gt;&lt;mfenced open=&quot;[&quot; close=&quot;]&quot;&gt;&lt;mrow&gt;&lt;mo&gt;-&lt;/mo&gt;&lt;msup&gt;&lt;mn&gt;2&lt;/mn&gt;&lt;mn&gt;31&lt;/mn&gt;&lt;/msup&gt;&lt;mo&gt;,&lt;/mo&gt;&lt;msup&gt;&lt;mn&gt;2&lt;/mn&gt;&lt;mn&gt;31&lt;/mn&gt;&lt;/msup&gt;&lt;mo&gt;-&lt;/mo&gt;&lt;mn&gt;1&lt;/mn&gt;&lt;/mrow&gt;&lt;/mfenced&gt;&lt;/math&gt;" id="75" name="Google Shape;75;p2" title="open square brackets negative 2 to the power of 31 comma 2 to the power of 31 minus 1 close square brackets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8125" y="3586075"/>
            <a:ext cx="1193075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32&lt;/mn&gt;&lt;/msup&gt;&lt;mo&gt;-&lt;/mo&gt;&lt;mn&gt;1&lt;/mn&gt;&lt;/mrow&gt;&lt;/mfenced&gt;&lt;/math&gt;" id="76" name="Google Shape;76;p2" title="open square brackets 0 comma 2 to the power of 32 minus 1 close square brackets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8125" y="4553725"/>
            <a:ext cx="867475" cy="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idx="1" type="body"/>
          </p:nvPr>
        </p:nvSpPr>
        <p:spPr>
          <a:xfrm>
            <a:off x="505350" y="1674800"/>
            <a:ext cx="8294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default, integer variables are signed in C—the leftmost bit is reserved for the sign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tell the compiler that a variable has no </a:t>
            </a:r>
            <a:r>
              <a:rPr b="1" i="1" lang="en">
                <a:solidFill>
                  <a:srgbClr val="000000"/>
                </a:solidFill>
              </a:rPr>
              <a:t>sign</a:t>
            </a:r>
            <a:r>
              <a:rPr lang="en">
                <a:solidFill>
                  <a:srgbClr val="000000"/>
                </a:solidFill>
              </a:rPr>
              <a:t> bit, declare it to be unsigned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Unsigned numbers are primarily useful for systems programming and low-level, machine-dependent applications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%o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%x</a:t>
            </a:r>
            <a:r>
              <a:rPr lang="en">
                <a:solidFill>
                  <a:srgbClr val="000000"/>
                </a:solidFill>
              </a:rPr>
              <a:t> with prefix for </a:t>
            </a:r>
            <a:r>
              <a:rPr lang="en">
                <a:solidFill>
                  <a:srgbClr val="E06666"/>
                </a:solidFill>
              </a:rPr>
              <a:t>unsigned</a:t>
            </a:r>
            <a:r>
              <a:rPr lang="en">
                <a:solidFill>
                  <a:srgbClr val="FF8B8B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octal and hexadecimal, respectively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2" name="Google Shape;82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Signed and Unsigned Integers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Integers in 32 bit computers</a:t>
            </a:r>
            <a:endParaRPr/>
          </a:p>
        </p:txBody>
      </p:sp>
      <p:graphicFrame>
        <p:nvGraphicFramePr>
          <p:cNvPr id="88" name="Google Shape;88;p4"/>
          <p:cNvGraphicFramePr/>
          <p:nvPr/>
        </p:nvGraphicFramePr>
        <p:xfrm>
          <a:off x="1242800" y="1784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{A749F775-2370-4274-84DC-6CF94CD2A362}</a:tableStyleId>
              </a:tblPr>
              <a:tblGrid>
                <a:gridCol w="1758900"/>
                <a:gridCol w="1581250"/>
                <a:gridCol w="1670075"/>
                <a:gridCol w="1670075"/>
              </a:tblGrid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Type</a:t>
                      </a:r>
                      <a:endParaRPr b="1" i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Memory (Bytes)</a:t>
                      </a:r>
                      <a:endParaRPr b="1" i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Range</a:t>
                      </a:r>
                      <a:endParaRPr b="1" i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1"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Format Specifier</a:t>
                      </a:r>
                      <a:endParaRPr b="1" i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%hd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unsigned short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%hu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%d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unsigned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%u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long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%ld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unsigned long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%lu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long long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%lld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unsigned long long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%llu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16&lt;/mn&gt;&lt;/msup&gt;&lt;mo&gt;-&lt;/mo&gt;&lt;mn&gt;1&lt;/mn&gt;&lt;/mrow&gt;&lt;/mfenced&gt;&lt;/math&gt;" id="89" name="Google Shape;89;p4" title="open square brackets 0 comma 2 to the power of 16 minus 1 close square brackets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7375" y="2571750"/>
            <a:ext cx="867415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o&gt;-&lt;/mo&gt;&lt;msup&gt;&lt;mn&gt;2&lt;/mn&gt;&lt;mn&gt;15&lt;/mn&gt;&lt;/msup&gt;&lt;mo&gt;,&lt;/mo&gt;&lt;msup&gt;&lt;mn&gt;2&lt;/mn&gt;&lt;mn&gt;15&lt;/mn&gt;&lt;/msup&gt;&lt;mo&gt;-&lt;/mo&gt;&lt;mn&gt;1&lt;/mn&gt;&lt;/mrow&gt;&lt;/mfenced&gt;&lt;/math&gt;" id="90" name="Google Shape;90;p4" title="open square brackets negative 2 to the power of 15 comma 2 to the power of 15 minus 1 close square brackets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3525" y="2213725"/>
            <a:ext cx="1192961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o&gt;-&lt;/mo&gt;&lt;msup&gt;&lt;mn&gt;2&lt;/mn&gt;&lt;mn&gt;31&lt;/mn&gt;&lt;/msup&gt;&lt;mo&gt;,&lt;/mo&gt;&lt;msup&gt;&lt;mn&gt;2&lt;/mn&gt;&lt;mn&gt;31&lt;/mn&gt;&lt;/msup&gt;&lt;mo&gt;-&lt;/mo&gt;&lt;mn&gt;1&lt;/mn&gt;&lt;/mrow&gt;&lt;/mfenced&gt;&lt;/math&gt;" id="91" name="Google Shape;91;p4" title="open square brackets negative 2 to the power of 31 comma 2 to the power of 31 minus 1 close square brackets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3538" y="2929775"/>
            <a:ext cx="1192936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32&lt;/mn&gt;&lt;/msup&gt;&lt;mo&gt;-&lt;/mo&gt;&lt;mn&gt;1&lt;/mn&gt;&lt;/mrow&gt;&lt;/mfenced&gt;&lt;/math&gt;" id="92" name="Google Shape;92;p4" title="open square brackets 0 comma 2 to the power of 32 minus 1 close square brackets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7350" y="3309988"/>
            <a:ext cx="867475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o&gt;-&lt;/mo&gt;&lt;msup&gt;&lt;mn&gt;2&lt;/mn&gt;&lt;mn&gt;63&lt;/mn&gt;&lt;/msup&gt;&lt;mo&gt;,&lt;/mo&gt;&lt;msup&gt;&lt;mn&gt;2&lt;/mn&gt;&lt;mn&gt;63&lt;/mn&gt;&lt;/msup&gt;&lt;mo&gt;-&lt;/mo&gt;&lt;mn&gt;1&lt;/mn&gt;&lt;/mrow&gt;&lt;/mfenced&gt;&lt;/math&gt;" id="93" name="Google Shape;93;p4" title="open square brackets negative 2 to the power of 63 comma 2 to the power of 63 minus 1 close square brackets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3537" y="4406278"/>
            <a:ext cx="1192950" cy="248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64&lt;/mn&gt;&lt;/msup&gt;&lt;mo&gt;-&lt;/mo&gt;&lt;mn&gt;1&lt;/mn&gt;&lt;/mrow&gt;&lt;/mfenced&gt;&lt;/math&gt;" id="94" name="Google Shape;94;p4" title="open square brackets 0 comma 2 to the power of 64 minus 1 close square brackets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87350" y="4764300"/>
            <a:ext cx="867475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o&gt;-&lt;/mo&gt;&lt;msup&gt;&lt;mn&gt;2&lt;/mn&gt;&lt;mn&gt;31&lt;/mn&gt;&lt;/msup&gt;&lt;mo&gt;,&lt;/mo&gt;&lt;msup&gt;&lt;mn&gt;2&lt;/mn&gt;&lt;mn&gt;31&lt;/mn&gt;&lt;/msup&gt;&lt;mo&gt;-&lt;/mo&gt;&lt;mn&gt;1&lt;/mn&gt;&lt;/mrow&gt;&lt;/mfenced&gt;&lt;/math&gt;" id="95" name="Google Shape;95;p4" title="open square brackets negative 2 to the power of 31 comma 2 to the power of 31 minus 1 close square brackets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3538" y="3645825"/>
            <a:ext cx="1192936" cy="24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fenced open=&quot;[&quot; close=&quot;]&quot;&gt;&lt;mrow&gt;&lt;mn&gt;0&lt;/mn&gt;&lt;mo&gt;,&lt;/mo&gt;&lt;msup&gt;&lt;mn&gt;2&lt;/mn&gt;&lt;mn&gt;32&lt;/mn&gt;&lt;/msup&gt;&lt;mo&gt;-&lt;/mo&gt;&lt;mn&gt;1&lt;/mn&gt;&lt;/mrow&gt;&lt;/mfenced&gt;&lt;/math&gt;" id="96" name="Google Shape;96;p4" title="open square brackets 0 comma 2 to the power of 32 minus 1 close square brackets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7350" y="4048238"/>
            <a:ext cx="867475" cy="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505350" y="1645200"/>
            <a:ext cx="80646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Decimal (Base 10)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Must not begin with zero in C. e.g.: 42, 22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Compiler: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-&gt; long int -&gt; unsigned int</a:t>
            </a:r>
            <a:r>
              <a:rPr lang="en">
                <a:solidFill>
                  <a:srgbClr val="000000"/>
                </a:solidFill>
              </a:rPr>
              <a:t>	  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Octal (Base 8)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Must begin with zero in C. e.g.: 017, 0377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Hexadecimal (Base 16)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Must begin with 0x in C. e.g.: 0xf, 0Xff, 0xFF, 0XFF, 0xfF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2" name="Google Shape;10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Constants</a:t>
            </a:r>
            <a:endParaRPr/>
          </a:p>
        </p:txBody>
      </p:sp>
      <p:pic>
        <p:nvPicPr>
          <p:cNvPr descr="&lt;math xmlns=&quot;http://www.w3.org/1998/Math/MathML&quot;&gt;&lt;mn&gt;15&lt;/mn&gt;&lt;mo&gt;&amp;#x2192;&lt;/mo&gt;&lt;mn&gt;1&lt;/mn&gt;&lt;mo&gt;&amp;#xD7;&lt;/mo&gt;&lt;msup&gt;&lt;mn&gt;10&lt;/mn&gt;&lt;mn&gt;1&lt;/mn&gt;&lt;/msup&gt;&lt;mo&gt;+&lt;/mo&gt;&lt;mn&gt;5&lt;/mn&gt;&lt;mo&gt;&amp;#xD7;&lt;/mo&gt;&lt;msup&gt;&lt;mn&gt;10&lt;/mn&gt;&lt;mn&gt;0&lt;/mn&gt;&lt;/msup&gt;&lt;mo&gt;=&lt;/mo&gt;&lt;mn&gt;15&lt;/mn&gt;&lt;/math&gt;" id="103" name="Google Shape;103;p5" title="15 rightwards arrow 1 cross times 10 to the power of 1 plus 5 cross times 10 to the power of 0 equals 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9775" y="2255150"/>
            <a:ext cx="2321944" cy="18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n&gt;237&lt;/mn&gt;&lt;mo&gt;&amp;#x2192;&lt;/mo&gt;&lt;mn&gt;2&lt;/mn&gt;&lt;mo&gt;&amp;#xD7;&lt;/mo&gt;&lt;msup&gt;&lt;mn&gt;8&lt;/mn&gt;&lt;mn&gt;2&lt;/mn&gt;&lt;/msup&gt;&lt;mo&gt;+&lt;/mo&gt;&lt;mn&gt;3&lt;/mn&gt;&lt;mo&gt;&amp;#xD7;&lt;/mo&gt;&lt;msup&gt;&lt;mn&gt;8&lt;/mn&gt;&lt;mn&gt;1&lt;/mn&gt;&lt;/msup&gt;&lt;mo&gt;+&lt;/mo&gt;&lt;mn&gt;7&lt;/mn&gt;&lt;mo&gt;&amp;#xD7;&lt;/mo&gt;&lt;msup&gt;&lt;mn&gt;8&lt;/mn&gt;&lt;mn&gt;0&lt;/mn&gt;&lt;/msup&gt;&lt;mo&gt;=&lt;/mo&gt;&lt;mn&gt;159&lt;/mn&gt;&lt;/math&gt;" id="104" name="Google Shape;104;p5" title="237 rightwards arrow 2 cross times 8 squared plus 3 cross times 8 to the power of 1 plus 7 cross times 8 to the power of 0 equals 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775" y="3642350"/>
            <a:ext cx="3062226" cy="185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n&gt;1&lt;/mn&gt;&lt;mi&gt;A&lt;/mi&gt;&lt;mi&gt;F&lt;/mi&gt;&lt;mo&gt;&amp;#x2192;&lt;/mo&gt;&lt;mn&gt;1&lt;/mn&gt;&lt;mo&gt;&amp;#xD7;&lt;/mo&gt;&lt;msup&gt;&lt;mn&gt;16&lt;/mn&gt;&lt;mn&gt;2&lt;/mn&gt;&lt;/msup&gt;&lt;mo&gt;+&lt;/mo&gt;&lt;mn&gt;10&lt;/mn&gt;&lt;mo&gt;&amp;#xD7;&lt;/mo&gt;&lt;msup&gt;&lt;mn&gt;16&lt;/mn&gt;&lt;mn&gt;1&lt;/mn&gt;&lt;/msup&gt;&lt;mo&gt;+&lt;/mo&gt;&lt;mn&gt;15&lt;/mn&gt;&lt;mo&gt;&amp;#xD7;&lt;/mo&gt;&lt;msup&gt;&lt;mn&gt;16&lt;/mn&gt;&lt;mn&gt;0&lt;/mn&gt;&lt;/msup&gt;&lt;mo&gt;=&lt;/mo&gt;&lt;mn&gt;431&lt;/mn&gt;&lt;/math&gt;" id="105" name="Google Shape;105;p5" title="1 A F rightwards arrow 1 cross times 16 squared plus 10 cross times 16 to the power of 1 plus 15 cross times 16 to the power of 0 equals 4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9775" y="4467750"/>
            <a:ext cx="3835814" cy="18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idx="1" type="body"/>
          </p:nvPr>
        </p:nvSpPr>
        <p:spPr>
          <a:xfrm>
            <a:off x="512750" y="16378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force the compiler to treat a constant as a long integer, just follow it with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):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15L  0377L  0x7fffL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indicate that a constant is unsigned, put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) after it: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15U  0377U  0x7fffU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can be used in combination: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0xffffffffUL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order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doesn’t matter, nor does their case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1" name="Google Shape;111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Constants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5201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long long (C99) -&gt;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LL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ll</a:t>
            </a:r>
            <a:r>
              <a:rPr lang="en">
                <a:solidFill>
                  <a:srgbClr val="000000"/>
                </a:solidFill>
              </a:rPr>
              <a:t> (both cases must match)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C99, the compiler behavior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Decimal: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-&gt; long -&gt;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long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Octal or Hexadecimal: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-&gt; unsigned int -&gt; long -&gt;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long -&gt; long long -&gt; unsigned long long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7" name="Google Shape;117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Constants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idx="1" type="body"/>
          </p:nvPr>
        </p:nvSpPr>
        <p:spPr>
          <a:xfrm>
            <a:off x="512750" y="16378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an </a:t>
            </a:r>
            <a:r>
              <a:rPr i="1" lang="en">
                <a:solidFill>
                  <a:srgbClr val="000000"/>
                </a:solidFill>
              </a:rPr>
              <a:t>octal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</a:rPr>
              <a:t>hexadecimal</a:t>
            </a:r>
            <a:r>
              <a:rPr lang="en">
                <a:solidFill>
                  <a:srgbClr val="000000"/>
                </a:solidFill>
              </a:rPr>
              <a:t> constant, the list of possible types 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unsigned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unsigned long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long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and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unsigned long long int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in that order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Any suffix at the end of a constant changes the list of possible types.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 constant that ends with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 sz="1400">
                <a:solidFill>
                  <a:srgbClr val="000000"/>
                </a:solidFill>
              </a:rPr>
              <a:t> (or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 sz="1400">
                <a:solidFill>
                  <a:srgbClr val="000000"/>
                </a:solidFill>
              </a:rPr>
              <a:t>) must have one of the types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int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long int</a:t>
            </a:r>
            <a:r>
              <a:rPr lang="en" sz="1400">
                <a:solidFill>
                  <a:srgbClr val="000000"/>
                </a:solidFill>
              </a:rPr>
              <a:t>, 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long long int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decimal constant that ends with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) must have one of the types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int </a:t>
            </a:r>
            <a:r>
              <a:rPr lang="en">
                <a:solidFill>
                  <a:srgbClr val="000000"/>
                </a:solidFill>
              </a:rPr>
              <a:t>or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long 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3" name="Google Shape;123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Constants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arithmetic operations are performed on integers, it’s possible that the result will be too large to represent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when an </a:t>
            </a:r>
            <a:r>
              <a:rPr i="1" lang="en">
                <a:solidFill>
                  <a:srgbClr val="000000"/>
                </a:solidFill>
              </a:rPr>
              <a:t>arithmetic operation</a:t>
            </a:r>
            <a:r>
              <a:rPr lang="en">
                <a:solidFill>
                  <a:srgbClr val="000000"/>
                </a:solidFill>
              </a:rPr>
              <a:t> is performed on two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values, the result must be able to be represented as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result can’t be represented as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(because it requires too many bits), we say that </a:t>
            </a:r>
            <a:r>
              <a:rPr b="1" i="1" lang="en">
                <a:solidFill>
                  <a:srgbClr val="000000"/>
                </a:solidFill>
              </a:rPr>
              <a:t>overflow</a:t>
            </a:r>
            <a:r>
              <a:rPr lang="en">
                <a:solidFill>
                  <a:srgbClr val="000000"/>
                </a:solidFill>
              </a:rPr>
              <a:t> has occurred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9" name="Google Shape;129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Overflow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behavior when integer overflow occurs depends on whether the operands were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When overflow occurs during an operation on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 sz="1400">
                <a:solidFill>
                  <a:srgbClr val="000000"/>
                </a:solidFill>
              </a:rPr>
              <a:t> integers, the program’s behavior is undefined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When overflow occurs during an operation on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 sz="1400">
                <a:solidFill>
                  <a:srgbClr val="000000"/>
                </a:solidFill>
              </a:rPr>
              <a:t> integers, the result </a:t>
            </a:r>
            <a:r>
              <a:rPr i="1" lang="en" sz="1400">
                <a:solidFill>
                  <a:srgbClr val="000000"/>
                </a:solidFill>
              </a:rPr>
              <a:t>is</a:t>
            </a:r>
            <a:r>
              <a:rPr lang="en" sz="1400">
                <a:solidFill>
                  <a:srgbClr val="000000"/>
                </a:solidFill>
              </a:rPr>
              <a:t> defined: we get the correct answer modulo 2</a:t>
            </a:r>
            <a:r>
              <a:rPr baseline="30000" i="1" lang="en" sz="1400">
                <a:solidFill>
                  <a:srgbClr val="000000"/>
                </a:solidFill>
              </a:rPr>
              <a:t>n</a:t>
            </a:r>
            <a:r>
              <a:rPr lang="en" sz="1400">
                <a:solidFill>
                  <a:srgbClr val="000000"/>
                </a:solidFill>
              </a:rPr>
              <a:t>, where </a:t>
            </a:r>
            <a:r>
              <a:rPr i="1" lang="en" sz="1400">
                <a:solidFill>
                  <a:srgbClr val="000000"/>
                </a:solidFill>
              </a:rPr>
              <a:t>n</a:t>
            </a:r>
            <a:r>
              <a:rPr lang="en" sz="1400">
                <a:solidFill>
                  <a:srgbClr val="000000"/>
                </a:solidFill>
              </a:rPr>
              <a:t> is the number of bits used to store the result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5" name="Google Shape;135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Integer Overflow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During summation, the result might exceed the largest value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allowed for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>
                <a:solidFill>
                  <a:srgbClr val="000000"/>
                </a:solidFill>
              </a:rPr>
              <a:t>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 (For 64-bit computers)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integers (0 to terminate):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9000000000</a:t>
            </a: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9000000000</a:t>
            </a: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4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 sum is: 820130816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Improve the program using long long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1" name="Google Shape;141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Summing a Series of Numbers (Revisited)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>
            <p:ph idx="1" type="body"/>
          </p:nvPr>
        </p:nvSpPr>
        <p:spPr>
          <a:xfrm>
            <a:off x="520150" y="15933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store numbers with digits after decimal point -&gt; Real numbers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Type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float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Single-precision Floating-point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Precision isn’t critical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double 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Double-precision Floating-point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Greater precision - enough for most Programs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long double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Extended-precision Floating-point and rarely used format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7" name="Google Shape;147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idx="1" type="body"/>
          </p:nvPr>
        </p:nvSpPr>
        <p:spPr>
          <a:xfrm>
            <a:off x="520150" y="16674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computers follow IEEE 754 standard which is developed by IEEE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primary formats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Single Precision (32 bits)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Double Precision (64 bits)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Numbers stored in a form of scientific notation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Sign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Exponent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Fraction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Single-precision -&gt; exponent is 8 bits long, fraction is 23 bits, 1 bit sign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3" name="Google Shape;153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520150" y="16674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Characteristics of float and double when implemented according to the IEEE standard: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solidFill>
                  <a:srgbClr val="000000"/>
                </a:solidFill>
              </a:rPr>
              <a:t>  	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Type  	Smallest Positive Value  	Largest Value  	Precision</a:t>
            </a:r>
            <a:endParaRPr b="1"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float  		1.17549 x 10</a:t>
            </a:r>
            <a:r>
              <a:rPr baseline="30000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–38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3.40282 x 10</a:t>
            </a:r>
            <a:r>
              <a:rPr baseline="30000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38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6 digits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double  		2.22507 x 10</a:t>
            </a:r>
            <a:r>
              <a:rPr baseline="30000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–308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1.79769 x 10</a:t>
            </a:r>
            <a:r>
              <a:rPr baseline="30000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308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15 digits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 computers that don’t follow the IEEE standard, this table won’t be valid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fact, on some machines, float may have the same set of values as double, or double may have the same values as long double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9" name="Google Shape;159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idx="1" type="body"/>
          </p:nvPr>
        </p:nvSpPr>
        <p:spPr>
          <a:xfrm>
            <a:off x="5201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Macros that define the characteristics of the floating types can be found in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&lt;float.h&gt;</a:t>
            </a:r>
            <a:r>
              <a:rPr lang="en">
                <a:solidFill>
                  <a:srgbClr val="000000"/>
                </a:solidFill>
              </a:rPr>
              <a:t> header.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C99, the floating types are divided into two categories.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b="1" i="1" lang="en" sz="1400">
                <a:solidFill>
                  <a:srgbClr val="000000"/>
                </a:solidFill>
              </a:rPr>
              <a:t>Real floating types </a:t>
            </a:r>
            <a:r>
              <a:rPr lang="en" sz="1400">
                <a:solidFill>
                  <a:srgbClr val="000000"/>
                </a:solidFill>
              </a:rPr>
              <a:t>(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double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double</a:t>
            </a:r>
            <a:r>
              <a:rPr lang="en" sz="1400">
                <a:solidFill>
                  <a:srgbClr val="000000"/>
                </a:solidFill>
              </a:rPr>
              <a:t>)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b="1" i="1" lang="en" sz="1400">
                <a:solidFill>
                  <a:srgbClr val="000000"/>
                </a:solidFill>
              </a:rPr>
              <a:t>Complex types </a:t>
            </a:r>
            <a:r>
              <a:rPr lang="en" sz="1400">
                <a:solidFill>
                  <a:srgbClr val="000000"/>
                </a:solidFill>
              </a:rPr>
              <a:t>(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 _Complex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double _Complex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long double _Complex</a:t>
            </a:r>
            <a:r>
              <a:rPr lang="en" sz="1400">
                <a:solidFill>
                  <a:srgbClr val="000000"/>
                </a:solidFill>
              </a:rPr>
              <a:t>)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5" name="Google Shape;165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idx="1" type="body"/>
          </p:nvPr>
        </p:nvSpPr>
        <p:spPr>
          <a:xfrm>
            <a:off x="5201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Floating constants can be written in a variety of ways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Valid ways of writing the number 57.0: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57.0		57.	  57.0e0  	  57E0  	5.7e1  	5.7e+1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.57e2  	570.e-1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floating constant must contain a decimal point and/or an exponent; the exponent indicates the power of 10 by which the number is to be scaled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an exponent is present, it must be preceded by the letter E (or e). An optional + or - sign may appear after the E (or e)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1" name="Google Shape;171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Floating Constants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idx="1" type="body"/>
          </p:nvPr>
        </p:nvSpPr>
        <p:spPr>
          <a:xfrm>
            <a:off x="5053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default, floating constants are stored as </a:t>
            </a:r>
            <a:r>
              <a:rPr i="1" lang="en">
                <a:solidFill>
                  <a:srgbClr val="000000"/>
                </a:solidFill>
              </a:rPr>
              <a:t>double-precision</a:t>
            </a:r>
            <a:r>
              <a:rPr lang="en">
                <a:solidFill>
                  <a:srgbClr val="000000"/>
                </a:solidFill>
              </a:rPr>
              <a:t> numbers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indicate that only single precision is desired, put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) at the end of the constant (for example,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57.0F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indicate that a constant should be stored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>
                <a:solidFill>
                  <a:srgbClr val="000000"/>
                </a:solidFill>
              </a:rPr>
              <a:t> format, put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) at the end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57.0L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Floating Constants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body"/>
          </p:nvPr>
        </p:nvSpPr>
        <p:spPr>
          <a:xfrm>
            <a:off x="505350" y="1637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%e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%f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or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%g</a:t>
            </a:r>
            <a:r>
              <a:rPr lang="en">
                <a:solidFill>
                  <a:srgbClr val="000000"/>
                </a:solidFill>
              </a:rPr>
              <a:t> for single-precision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reading a value of type double,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as prefix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writing a value of type double,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">
                <a:solidFill>
                  <a:srgbClr val="000000"/>
                </a:solidFill>
              </a:rPr>
              <a:t> is sufficient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2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"%lf"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&amp;d);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"%f\n"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d);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For reading or writing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>
                <a:solidFill>
                  <a:srgbClr val="000000"/>
                </a:solidFill>
              </a:rPr>
              <a:t>, put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">
                <a:solidFill>
                  <a:srgbClr val="000000"/>
                </a:solidFill>
              </a:rPr>
              <a:t> as prefix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 sz="12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ld;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"%Lf"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&amp;ld);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"%Lf\n"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ld);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Floating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Floating-Point Numbers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5127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only remaining basic type 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>
                <a:solidFill>
                  <a:srgbClr val="000000"/>
                </a:solidFill>
              </a:rPr>
              <a:t>, the character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Today’s most popular character set is </a:t>
            </a:r>
            <a:r>
              <a:rPr b="1" i="1" lang="en">
                <a:solidFill>
                  <a:srgbClr val="000000"/>
                </a:solidFill>
              </a:rPr>
              <a:t>ASCII</a:t>
            </a:r>
            <a:r>
              <a:rPr lang="en">
                <a:solidFill>
                  <a:srgbClr val="000000"/>
                </a:solidFill>
              </a:rPr>
              <a:t> (American Standard Code for Information Interchange), a </a:t>
            </a:r>
            <a:r>
              <a:rPr b="1" lang="en">
                <a:solidFill>
                  <a:srgbClr val="000000"/>
                </a:solidFill>
              </a:rPr>
              <a:t>7-bit</a:t>
            </a:r>
            <a:r>
              <a:rPr lang="en">
                <a:solidFill>
                  <a:srgbClr val="000000"/>
                </a:solidFill>
              </a:rPr>
              <a:t> code capable of representing </a:t>
            </a:r>
            <a:r>
              <a:rPr b="1" lang="en">
                <a:solidFill>
                  <a:srgbClr val="000000"/>
                </a:solidFill>
              </a:rPr>
              <a:t>128</a:t>
            </a:r>
            <a:r>
              <a:rPr lang="en">
                <a:solidFill>
                  <a:srgbClr val="000000"/>
                </a:solidFill>
              </a:rPr>
              <a:t> characters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ASCII</a:t>
            </a:r>
            <a:r>
              <a:rPr lang="en">
                <a:solidFill>
                  <a:srgbClr val="000000"/>
                </a:solidFill>
              </a:rPr>
              <a:t> is often extended to a </a:t>
            </a:r>
            <a:r>
              <a:rPr b="1" lang="en">
                <a:solidFill>
                  <a:srgbClr val="000000"/>
                </a:solidFill>
              </a:rPr>
              <a:t>256</a:t>
            </a:r>
            <a:r>
              <a:rPr lang="en">
                <a:solidFill>
                  <a:srgbClr val="000000"/>
                </a:solidFill>
              </a:rPr>
              <a:t>-character code known as </a:t>
            </a:r>
            <a:r>
              <a:rPr b="1" i="1" lang="en">
                <a:solidFill>
                  <a:srgbClr val="000000"/>
                </a:solidFill>
              </a:rPr>
              <a:t>Latin-1</a:t>
            </a:r>
            <a:r>
              <a:rPr lang="en">
                <a:solidFill>
                  <a:srgbClr val="000000"/>
                </a:solidFill>
              </a:rPr>
              <a:t> that provides the characters necessary for Western European and many African languages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Sets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body"/>
          </p:nvPr>
        </p:nvSpPr>
        <p:spPr>
          <a:xfrm>
            <a:off x="512750" y="1674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variable of type char can be assigned any single character: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ch; 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'a';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lower-case a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'A';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/* upper-case A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'0';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zero     	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 = ' ';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space    	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Notice that character constants are enclosed in </a:t>
            </a:r>
            <a:r>
              <a:rPr i="1" lang="en">
                <a:solidFill>
                  <a:srgbClr val="000000"/>
                </a:solidFill>
              </a:rPr>
              <a:t>single</a:t>
            </a:r>
            <a:r>
              <a:rPr lang="en">
                <a:solidFill>
                  <a:srgbClr val="000000"/>
                </a:solidFill>
              </a:rPr>
              <a:t> quotes, not </a:t>
            </a:r>
            <a:r>
              <a:rPr i="1" lang="en">
                <a:solidFill>
                  <a:srgbClr val="000000"/>
                </a:solidFill>
              </a:rPr>
              <a:t>double</a:t>
            </a:r>
            <a:r>
              <a:rPr lang="en">
                <a:solidFill>
                  <a:srgbClr val="000000"/>
                </a:solidFill>
              </a:rPr>
              <a:t> quotes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Sets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treats characters as small integers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‘a’ -&gt; 97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‘A’ -&gt; 65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‘0’ -&gt; 48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‘ ’ -&gt; 32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Characters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 constants are int type -&gt; C uses its integer value in computation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'a';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 is now 97  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65; 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ch is now 'A'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ch + 1;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ch is now 'B'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ch++;    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ch is now 'C' */</a:t>
            </a:r>
            <a:endParaRPr>
              <a:solidFill>
                <a:srgbClr val="6AA84F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Characters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520150" y="16599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Characters can be compared, just as numbers can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>
                <a:solidFill>
                  <a:srgbClr val="000000"/>
                </a:solidFill>
              </a:rPr>
              <a:t> statement that converts a </a:t>
            </a:r>
            <a:r>
              <a:rPr i="1" lang="en">
                <a:solidFill>
                  <a:srgbClr val="000000"/>
                </a:solidFill>
              </a:rPr>
              <a:t>lower-case</a:t>
            </a:r>
            <a:r>
              <a:rPr lang="en">
                <a:solidFill>
                  <a:srgbClr val="000000"/>
                </a:solidFill>
              </a:rPr>
              <a:t> letter to </a:t>
            </a:r>
            <a:r>
              <a:rPr i="1" lang="en">
                <a:solidFill>
                  <a:srgbClr val="000000"/>
                </a:solidFill>
              </a:rPr>
              <a:t>upper case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('a' &lt;= ch &amp;&amp; ch &lt;= 'z')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ch = ch - 'a' + 'A';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Comparisons such 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'a' &lt;= ch</a:t>
            </a:r>
            <a:r>
              <a:rPr lang="en">
                <a:solidFill>
                  <a:srgbClr val="000000"/>
                </a:solidFill>
              </a:rPr>
              <a:t> are done using the integer values of the characters involved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values depend on the character set in use, so programs that use </a:t>
            </a:r>
            <a:r>
              <a:rPr b="1" lang="en">
                <a:solidFill>
                  <a:srgbClr val="000000"/>
                </a:solidFill>
              </a:rPr>
              <a:t>&lt;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b="1" lang="en">
                <a:solidFill>
                  <a:srgbClr val="000000"/>
                </a:solidFill>
              </a:rPr>
              <a:t>&lt;=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b="1" lang="en">
                <a:solidFill>
                  <a:srgbClr val="000000"/>
                </a:solidFill>
              </a:rPr>
              <a:t>&gt;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b="1" lang="en">
                <a:solidFill>
                  <a:srgbClr val="000000"/>
                </a:solidFill>
              </a:rPr>
              <a:t>&gt;=</a:t>
            </a:r>
            <a:r>
              <a:rPr lang="en">
                <a:solidFill>
                  <a:srgbClr val="000000"/>
                </a:solidFill>
              </a:rPr>
              <a:t> to compare characters may not be portable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3" name="Google Shape;213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Characters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520150" y="1659975"/>
            <a:ext cx="85752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Characters have the same properties as numbers -&gt; one of the </a:t>
            </a:r>
            <a:r>
              <a:rPr lang="en">
                <a:solidFill>
                  <a:srgbClr val="8E7CC3"/>
                </a:solidFill>
              </a:rPr>
              <a:t>advantage</a:t>
            </a:r>
            <a:endParaRPr>
              <a:solidFill>
                <a:srgbClr val="8E7CC3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we can write characters as control variables: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(ch = 'A'; ch &lt;= 'Z'; ch++)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Disadvantages</a:t>
            </a:r>
            <a:r>
              <a:rPr lang="en">
                <a:solidFill>
                  <a:srgbClr val="000000"/>
                </a:solidFill>
              </a:rPr>
              <a:t> of treating characters as numbers: (</a:t>
            </a:r>
            <a:r>
              <a:rPr b="1" lang="en">
                <a:solidFill>
                  <a:srgbClr val="000000"/>
                </a:solidFill>
              </a:rPr>
              <a:t>Solution</a:t>
            </a:r>
            <a:r>
              <a:rPr lang="en">
                <a:solidFill>
                  <a:srgbClr val="000000"/>
                </a:solidFill>
              </a:rPr>
              <a:t> -&gt; use </a:t>
            </a:r>
            <a:r>
              <a:rPr i="1" lang="en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ctype.h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Can lead to errors that won’t be caught by the compiler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Allows meaningless expressions such 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'a' * 'b' / 'c'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Can hamper portability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Characters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>
            <p:ph idx="1" type="body"/>
          </p:nvPr>
        </p:nvSpPr>
        <p:spPr>
          <a:xfrm>
            <a:off x="5201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character constant is usually one character enclosed in </a:t>
            </a:r>
            <a:r>
              <a:rPr i="1" lang="en">
                <a:solidFill>
                  <a:srgbClr val="000000"/>
                </a:solidFill>
              </a:rPr>
              <a:t>single quotes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certain special characters—including the new-line character—can’t be written in this way, because they’re invisible (nonprinting) or because they can’t be entered from the keyboard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i="1" lang="en">
                <a:solidFill>
                  <a:srgbClr val="000000"/>
                </a:solidFill>
              </a:rPr>
              <a:t>Escape sequences </a:t>
            </a:r>
            <a:r>
              <a:rPr lang="en">
                <a:solidFill>
                  <a:srgbClr val="000000"/>
                </a:solidFill>
              </a:rPr>
              <a:t>provide a way to represent these characters.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There are </a:t>
            </a:r>
            <a:r>
              <a:rPr b="1" lang="en" sz="1400">
                <a:solidFill>
                  <a:srgbClr val="000000"/>
                </a:solidFill>
              </a:rPr>
              <a:t>two</a:t>
            </a:r>
            <a:r>
              <a:rPr lang="en" sz="1400">
                <a:solidFill>
                  <a:srgbClr val="000000"/>
                </a:solidFill>
              </a:rPr>
              <a:t> kinds of escape sequences: </a:t>
            </a:r>
            <a:r>
              <a:rPr b="1" i="1" lang="en" sz="1400">
                <a:solidFill>
                  <a:srgbClr val="000000"/>
                </a:solidFill>
              </a:rPr>
              <a:t>character escapes </a:t>
            </a:r>
            <a:r>
              <a:rPr lang="en" sz="1400">
                <a:solidFill>
                  <a:srgbClr val="000000"/>
                </a:solidFill>
              </a:rPr>
              <a:t>and </a:t>
            </a:r>
            <a:r>
              <a:rPr b="1" i="1" lang="en" sz="1400">
                <a:solidFill>
                  <a:srgbClr val="000000"/>
                </a:solidFill>
              </a:rPr>
              <a:t>numeric escapes</a:t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5" name="Google Shape;225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Escape Sequences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520150" y="16747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complete list of character escapes: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Name  		Escape Sequence</a:t>
            </a:r>
            <a:endParaRPr b="1"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Alert (bell)  			\a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Backspace  			\b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Form feed  			\f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New line  				\n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Carriage return  		\r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Horizontal tab  		\t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1" name="Google Shape;231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Escape Sequences</a:t>
            </a:r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4758100" y="2207525"/>
            <a:ext cx="428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11430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		  Escape Sequence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Vertical tab  			\v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Backslash  			\\ 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Question mark  		\?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Single quote  			\'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 quote  			\"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3" name="Google Shape;233;p26"/>
          <p:cNvCxnSpPr/>
          <p:nvPr/>
        </p:nvCxnSpPr>
        <p:spPr>
          <a:xfrm>
            <a:off x="4521850" y="2346025"/>
            <a:ext cx="7200" cy="264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5127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Calling C’s toupper library function is a fast and portable way to convert case: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</a:t>
            </a:r>
            <a:r>
              <a:rPr lang="en" sz="1400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toupper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(ch);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toupper()</a:t>
            </a:r>
            <a:r>
              <a:rPr lang="en">
                <a:solidFill>
                  <a:srgbClr val="000000"/>
                </a:solidFill>
              </a:rPr>
              <a:t> returns the upper-case version of its argument.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Programs that call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toupper()</a:t>
            </a:r>
            <a:r>
              <a:rPr lang="en">
                <a:solidFill>
                  <a:srgbClr val="000000"/>
                </a:solidFill>
              </a:rPr>
              <a:t> need to have the following </a:t>
            </a:r>
            <a:r>
              <a:rPr lang="en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>
                <a:solidFill>
                  <a:srgbClr val="000000"/>
                </a:solidFill>
              </a:rPr>
              <a:t> directive at the top: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&lt;ctype.h&gt;  // This library function has other useful functions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9" name="Google Shape;239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Character Handling Functions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5127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%c conversion specification allows scanf and printf to read and write single characters: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ch;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"%c"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&amp;ch);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reads one character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"%c"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ch);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writes one character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scanf</a:t>
            </a:r>
            <a:r>
              <a:rPr lang="en">
                <a:solidFill>
                  <a:srgbClr val="000000"/>
                </a:solidFill>
              </a:rPr>
              <a:t> doesn’t skip white-space characters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force scanf to skip white space before reading a character, put a space in its format string just before %c: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"%c"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&amp;ch);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5" name="Google Shape;245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Characters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i="1" lang="en" sz="2000"/>
              <a:t>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printf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doesn’t normally skip white space, it’s easy to detect the end of an input line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loop that reads and ignores all remaining characters in the current input line: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</a:t>
            </a:r>
            <a:r>
              <a:rPr lang="en" sz="1400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%c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", &amp;ch);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(ch != '\n');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lang="en">
                <a:solidFill>
                  <a:srgbClr val="000000"/>
                </a:solidFill>
              </a:rPr>
              <a:t>is called the next time, it will read the first character on the next input line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1" name="Google Shape;251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Characters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i="1" lang="en" sz="2000"/>
              <a:t>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printf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();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reads a character, returns int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putchar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(ch);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writes a character 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Saves execution time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Consider the previous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do-while</a:t>
            </a:r>
            <a:r>
              <a:rPr lang="en">
                <a:solidFill>
                  <a:srgbClr val="000000"/>
                </a:solidFill>
              </a:rPr>
              <a:t> loop: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</a:t>
            </a:r>
            <a:r>
              <a:rPr lang="en" sz="1400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%c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", &amp;ch);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(ch != '\n');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written as: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((ch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()) != '\n');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7" name="Google Shape;257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Characters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getchar </a:t>
            </a:r>
            <a:r>
              <a:rPr i="1" lang="en" sz="2000"/>
              <a:t>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putchar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FF8B8B"/>
                </a:solidFill>
              </a:rPr>
              <a:t>Be careful</a:t>
            </a:r>
            <a:r>
              <a:rPr lang="en">
                <a:solidFill>
                  <a:srgbClr val="000000"/>
                </a:solidFill>
              </a:rPr>
              <a:t> when </a:t>
            </a:r>
            <a:r>
              <a:rPr i="1" lang="en">
                <a:solidFill>
                  <a:srgbClr val="000000"/>
                </a:solidFill>
              </a:rPr>
              <a:t>mixing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has a tendency to leave behind characters that it has “peeked” at but not read, including the new-line character: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"Enter an integer: 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&amp;i);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"Enter a command: 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command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will leave behind any characters that weren’t consumed during the reading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, including (but not limited to) the new-line character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>
                <a:solidFill>
                  <a:srgbClr val="000000"/>
                </a:solidFill>
              </a:rPr>
              <a:t> will fetch the first leftover character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3" name="Google Shape;263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Character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Reading and Writing Characters 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getchar </a:t>
            </a:r>
            <a:r>
              <a:rPr i="1" lang="en" sz="2000"/>
              <a:t>and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putchar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displays the </a:t>
            </a:r>
            <a:r>
              <a:rPr i="1" lang="en">
                <a:solidFill>
                  <a:srgbClr val="000000"/>
                </a:solidFill>
              </a:rPr>
              <a:t>length</a:t>
            </a:r>
            <a:r>
              <a:rPr lang="en">
                <a:solidFill>
                  <a:srgbClr val="000000"/>
                </a:solidFill>
              </a:rPr>
              <a:t> of a message entered by the user: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</a:t>
            </a: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a message: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Brevity is the soul of wit.</a:t>
            </a:r>
            <a:endParaRPr b="1" sz="14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	Your message was 27 character(s) long.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length includes spaces and punctuation, but not the new-line character at the end of the message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could use either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r>
              <a:rPr lang="en">
                <a:solidFill>
                  <a:srgbClr val="000000"/>
                </a:solidFill>
              </a:rPr>
              <a:t> to read characters; most C programmers would choose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getchar</a:t>
            </a:r>
            <a:endParaRPr>
              <a:solidFill>
                <a:srgbClr val="FF8B8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9" name="Google Shape;269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Determining the Length of a Message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Required to make operands of the same size during arithmetic operation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Generates instructions that change the </a:t>
            </a:r>
            <a:r>
              <a:rPr b="1" lang="en">
                <a:solidFill>
                  <a:srgbClr val="000000"/>
                </a:solidFill>
              </a:rPr>
              <a:t>type</a:t>
            </a:r>
            <a:r>
              <a:rPr lang="en">
                <a:solidFill>
                  <a:srgbClr val="000000"/>
                </a:solidFill>
              </a:rPr>
              <a:t> of some operands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so that the hardware will be able to evaluate the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If we add </a:t>
            </a:r>
            <a:r>
              <a:rPr i="1" lang="en" sz="1400">
                <a:solidFill>
                  <a:srgbClr val="000000"/>
                </a:solidFill>
              </a:rPr>
              <a:t>16-bit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short</a:t>
            </a:r>
            <a:r>
              <a:rPr lang="en" sz="1400">
                <a:solidFill>
                  <a:srgbClr val="000000"/>
                </a:solidFill>
              </a:rPr>
              <a:t> and a </a:t>
            </a:r>
            <a:r>
              <a:rPr i="1" lang="en" sz="1400">
                <a:solidFill>
                  <a:srgbClr val="000000"/>
                </a:solidFill>
              </a:rPr>
              <a:t>32-bit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short</a:t>
            </a:r>
            <a:r>
              <a:rPr lang="en" sz="1400">
                <a:solidFill>
                  <a:srgbClr val="000000"/>
                </a:solidFill>
              </a:rPr>
              <a:t> is converted to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</a:rPr>
              <a:t>32-bits</a:t>
            </a:r>
            <a:endParaRPr i="1"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If we add an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</a:rPr>
              <a:t> and a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</a:rPr>
              <a:t> is converted to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</a:rPr>
              <a:t> format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5" name="Google Shape;275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5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Compiler handles some conversions automatically -&gt; Implicit conversions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Implicit conversions are performed: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	When the operands in an arithmetic or logical expression don’t have the same type. (C performs what are known as the </a:t>
            </a:r>
            <a:r>
              <a:rPr b="1" i="1" lang="en" sz="1400">
                <a:solidFill>
                  <a:srgbClr val="000000"/>
                </a:solidFill>
              </a:rPr>
              <a:t>usual arithmetic conversions</a:t>
            </a:r>
            <a:r>
              <a:rPr lang="en" sz="1400">
                <a:solidFill>
                  <a:srgbClr val="000000"/>
                </a:solidFill>
              </a:rPr>
              <a:t>)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	When the type of the expression on the right side of an assignment doesn’t match the type of the variable on the left side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	When the type of an argument in a function call doesn’t match the type of the corresponding parameter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	When the type of the expression in a return statement doesn’t match the function’s return type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1" name="Google Shape;281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Implicit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Applied to the operands of most binary operators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Consider the following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"%f"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f+i);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has type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has type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, the usual arithmetic conversions will be applied to the operands in the expression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 + i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7" name="Google Shape;287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idx="1" type="body"/>
          </p:nvPr>
        </p:nvSpPr>
        <p:spPr>
          <a:xfrm>
            <a:off x="512750" y="16747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Safer to convert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>
                <a:solidFill>
                  <a:srgbClr val="000000"/>
                </a:solidFill>
              </a:rPr>
              <a:t> rather than convert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-&gt; float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» </a:t>
            </a:r>
            <a:r>
              <a:rPr lang="en" sz="1400">
                <a:solidFill>
                  <a:srgbClr val="000000"/>
                </a:solidFill>
              </a:rPr>
              <a:t>Might cause minor loss of precision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 -&gt;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» </a:t>
            </a:r>
            <a:r>
              <a:rPr lang="en" sz="1400">
                <a:solidFill>
                  <a:srgbClr val="000000"/>
                </a:solidFill>
              </a:rPr>
              <a:t>Fractional part lost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» </a:t>
            </a:r>
            <a:r>
              <a:rPr lang="en" sz="1400">
                <a:solidFill>
                  <a:srgbClr val="000000"/>
                </a:solidFill>
              </a:rPr>
              <a:t>Meaningless if original number doesn’t fit int’s range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3" name="Google Shape;293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idx="1" type="body"/>
          </p:nvPr>
        </p:nvSpPr>
        <p:spPr>
          <a:xfrm>
            <a:off x="512750" y="16451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Strategy behind arithmetic conversions: convert operands to the </a:t>
            </a:r>
            <a:r>
              <a:rPr i="1" lang="en">
                <a:solidFill>
                  <a:srgbClr val="000000"/>
                </a:solidFill>
              </a:rPr>
              <a:t>“</a:t>
            </a:r>
            <a:r>
              <a:rPr i="1" lang="en">
                <a:solidFill>
                  <a:schemeClr val="dk1"/>
                </a:solidFill>
              </a:rPr>
              <a:t>narrowest</a:t>
            </a:r>
            <a:r>
              <a:rPr i="1" lang="en">
                <a:solidFill>
                  <a:srgbClr val="000000"/>
                </a:solidFill>
              </a:rPr>
              <a:t>”</a:t>
            </a:r>
            <a:r>
              <a:rPr lang="en">
                <a:solidFill>
                  <a:srgbClr val="000000"/>
                </a:solidFill>
              </a:rPr>
              <a:t> type that will safely accommodate both values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Operand types can often be made to match by converting the operand of the </a:t>
            </a:r>
            <a:r>
              <a:rPr i="1" lang="en">
                <a:solidFill>
                  <a:schemeClr val="dk1"/>
                </a:solidFill>
              </a:rPr>
              <a:t>narrower type</a:t>
            </a:r>
            <a:r>
              <a:rPr lang="en">
                <a:solidFill>
                  <a:srgbClr val="000000"/>
                </a:solidFill>
              </a:rPr>
              <a:t> to the type of the other operand -&gt; </a:t>
            </a:r>
            <a:r>
              <a:rPr b="1" i="1" lang="en">
                <a:solidFill>
                  <a:srgbClr val="000000"/>
                </a:solidFill>
              </a:rPr>
              <a:t>promotion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rules for performing the usual arithmetic conversions can be divided into two cases: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type of either operand is a floating type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Neither operand type is a floating type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9" name="Google Shape;299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12750" y="1721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The type of either operand is a floating type</a:t>
            </a:r>
            <a:endParaRPr b="1" i="1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one operand has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 sz="1400">
                <a:solidFill>
                  <a:srgbClr val="000000"/>
                </a:solidFill>
              </a:rPr>
              <a:t>, then convert the other operand to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Otherwise, if one operand has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</a:rPr>
              <a:t>, convert the other operand to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Otherwise, if one operand has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</a:rPr>
              <a:t>, convert the other operand to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5" name="Google Shape;30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idx="1" type="body"/>
          </p:nvPr>
        </p:nvSpPr>
        <p:spPr>
          <a:xfrm>
            <a:off x="512750" y="16451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i="1" lang="en">
                <a:solidFill>
                  <a:srgbClr val="000000"/>
                </a:solidFill>
              </a:rPr>
              <a:t>Neither operand type is a floating type.</a:t>
            </a:r>
            <a:r>
              <a:rPr lang="en">
                <a:solidFill>
                  <a:srgbClr val="000000"/>
                </a:solidFill>
              </a:rPr>
              <a:t> First perform integral promotion on both operands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 use the following diagram to promote the operand whose type is narrower: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1" name="Google Shape;311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12" name="Google Shape;312;p40"/>
          <p:cNvCxnSpPr/>
          <p:nvPr/>
        </p:nvCxnSpPr>
        <p:spPr>
          <a:xfrm rot="10800000">
            <a:off x="5232275" y="3426650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" name="Google Shape;313;p40"/>
          <p:cNvCxnSpPr/>
          <p:nvPr/>
        </p:nvCxnSpPr>
        <p:spPr>
          <a:xfrm rot="10800000">
            <a:off x="5232275" y="3823250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p40"/>
          <p:cNvCxnSpPr/>
          <p:nvPr/>
        </p:nvCxnSpPr>
        <p:spPr>
          <a:xfrm rot="10800000">
            <a:off x="5232275" y="4219850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40"/>
          <p:cNvSpPr txBox="1"/>
          <p:nvPr/>
        </p:nvSpPr>
        <p:spPr>
          <a:xfrm>
            <a:off x="3981575" y="3115975"/>
            <a:ext cx="2501400" cy="1600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long int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long int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unsigned int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int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>
                <a:solidFill>
                  <a:srgbClr val="000000"/>
                </a:solidFill>
              </a:rPr>
              <a:t> operand is combined with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>
                <a:solidFill>
                  <a:srgbClr val="000000"/>
                </a:solidFill>
              </a:rPr>
              <a:t> operand,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>
                <a:solidFill>
                  <a:srgbClr val="000000"/>
                </a:solidFill>
              </a:rPr>
              <a:t> operand is converted to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>
                <a:solidFill>
                  <a:srgbClr val="000000"/>
                </a:solidFill>
              </a:rPr>
              <a:t> value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rule can cause </a:t>
            </a:r>
            <a:r>
              <a:rPr lang="en">
                <a:solidFill>
                  <a:srgbClr val="E06666"/>
                </a:solidFill>
              </a:rPr>
              <a:t>obscure programming errors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best to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>
                <a:solidFill>
                  <a:srgbClr val="000000"/>
                </a:solidFill>
              </a:rPr>
              <a:t> integers as little as possible and, especially, never mix them with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signed</a:t>
            </a:r>
            <a:r>
              <a:rPr lang="en">
                <a:solidFill>
                  <a:srgbClr val="000000"/>
                </a:solidFill>
              </a:rPr>
              <a:t> integers</a:t>
            </a:r>
            <a:endParaRPr b="1"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1" name="Google Shape;321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of the usual arithmetic conversions: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short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unsigned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unsigned long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ul;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 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Usual Arithmetic Conversion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8" name="Google Shape;328;p42"/>
          <p:cNvSpPr txBox="1"/>
          <p:nvPr/>
        </p:nvSpPr>
        <p:spPr>
          <a:xfrm>
            <a:off x="3985500" y="2405225"/>
            <a:ext cx="51585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+ c;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 is converted to int     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+ s;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 is converted to int     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 = u + i;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 is converted to unsigned int  	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 = l + u;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u is converted to long int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ul = ul + l;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l is converted to unsigned long int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 = f + ul;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ul is converted to float  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 = d + f;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f is converted to double     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ld = ld + d;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d is converted to long double      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9" name="Google Shape;329;p42"/>
          <p:cNvCxnSpPr/>
          <p:nvPr/>
        </p:nvCxnSpPr>
        <p:spPr>
          <a:xfrm>
            <a:off x="3715150" y="2346025"/>
            <a:ext cx="0" cy="264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a </a:t>
            </a:r>
            <a:r>
              <a:rPr i="1" lang="en">
                <a:solidFill>
                  <a:srgbClr val="000000"/>
                </a:solidFill>
              </a:rPr>
              <a:t>floating-point</a:t>
            </a:r>
            <a:r>
              <a:rPr lang="en">
                <a:solidFill>
                  <a:srgbClr val="000000"/>
                </a:solidFill>
              </a:rPr>
              <a:t> number to an integer variable drops the fractional part of the number: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842.97;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 is now 842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-842.97;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 is now -842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a value to a variable of a narrower type will give a meaningless result (or worse) if the value is outside the range of the variable’s type: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 = 10000; 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1.0e20;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 = 1.0e100;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5" name="Google Shape;335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Conversion During Assignment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integer type has an “integer conversion rank.”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Ranks from highest to lowest:</a:t>
            </a:r>
            <a:endParaRPr>
              <a:solidFill>
                <a:srgbClr val="000000"/>
              </a:solidFill>
            </a:endParaRPr>
          </a:p>
          <a:p>
            <a:pPr indent="0" lvl="0" marL="736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 long long int, unsigned long long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long int, unsigned long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 int, unsigned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4. short int, unsigned short 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5. char, signed char, unsigned char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36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6. _Bool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Integer Promotion -&gt; Involves converting any type less than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int </a:t>
            </a:r>
            <a:r>
              <a:rPr lang="en">
                <a:solidFill>
                  <a:srgbClr val="000000"/>
                </a:solidFill>
              </a:rPr>
              <a:t>to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int**</a:t>
            </a:r>
            <a:r>
              <a:rPr lang="en">
                <a:solidFill>
                  <a:srgbClr val="000000"/>
                </a:solidFill>
              </a:rPr>
              <a:t> or else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 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1" name="Google Shape;341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Implicit Conversions in C99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Type of either operand is a floating type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Same as before if neither is complex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Neither operand is a floating type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Perform integer promotion on both. Stop if both are same. If not: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If both are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r>
              <a:rPr lang="en">
                <a:solidFill>
                  <a:srgbClr val="000000"/>
                </a:solidFill>
              </a:rPr>
              <a:t>or both are </a:t>
            </a:r>
            <a:r>
              <a:rPr b="1" i="1" lang="en">
                <a:solidFill>
                  <a:srgbClr val="000000"/>
                </a:solidFill>
              </a:rPr>
              <a:t>unsigned </a:t>
            </a:r>
            <a:r>
              <a:rPr lang="en">
                <a:solidFill>
                  <a:srgbClr val="000000"/>
                </a:solidFill>
              </a:rPr>
              <a:t>then convert the lesser one to a greater rank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b="1" i="1" lang="en">
                <a:solidFill>
                  <a:srgbClr val="000000"/>
                </a:solidFill>
              </a:rPr>
              <a:t>unsigned </a:t>
            </a:r>
            <a:r>
              <a:rPr lang="en">
                <a:solidFill>
                  <a:srgbClr val="000000"/>
                </a:solidFill>
              </a:rPr>
              <a:t>has greater rank: convert the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r>
              <a:rPr lang="en">
                <a:solidFill>
                  <a:srgbClr val="000000"/>
                </a:solidFill>
              </a:rPr>
              <a:t>to </a:t>
            </a:r>
            <a:r>
              <a:rPr b="1" i="1" lang="en">
                <a:solidFill>
                  <a:srgbClr val="000000"/>
                </a:solidFill>
              </a:rPr>
              <a:t>unsigned </a:t>
            </a:r>
            <a:r>
              <a:rPr lang="en">
                <a:solidFill>
                  <a:srgbClr val="000000"/>
                </a:solidFill>
              </a:rPr>
              <a:t>type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r>
              <a:rPr lang="en">
                <a:solidFill>
                  <a:srgbClr val="000000"/>
                </a:solidFill>
              </a:rPr>
              <a:t>has greater rank: convert </a:t>
            </a:r>
            <a:r>
              <a:rPr b="1" i="1" lang="en">
                <a:solidFill>
                  <a:srgbClr val="000000"/>
                </a:solidFill>
              </a:rPr>
              <a:t>unsigned </a:t>
            </a:r>
            <a:r>
              <a:rPr lang="en">
                <a:solidFill>
                  <a:srgbClr val="000000"/>
                </a:solidFill>
              </a:rPr>
              <a:t>to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endParaRPr b="1" i="1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If both are same ranked, convert </a:t>
            </a:r>
            <a:r>
              <a:rPr b="1" i="1" lang="en">
                <a:solidFill>
                  <a:srgbClr val="000000"/>
                </a:solidFill>
              </a:rPr>
              <a:t>signed </a:t>
            </a:r>
            <a:r>
              <a:rPr lang="en">
                <a:solidFill>
                  <a:srgbClr val="000000"/>
                </a:solidFill>
              </a:rPr>
              <a:t>to </a:t>
            </a:r>
            <a:r>
              <a:rPr b="1" i="1" lang="en">
                <a:solidFill>
                  <a:srgbClr val="000000"/>
                </a:solidFill>
              </a:rPr>
              <a:t>unsigned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All arithmetic type can be converted to _Bool: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b="1" i="1" lang="en" sz="1400">
                <a:solidFill>
                  <a:srgbClr val="000000"/>
                </a:solidFill>
              </a:rPr>
              <a:t>0</a:t>
            </a:r>
            <a:r>
              <a:rPr i="1" lang="en" sz="1400">
                <a:solidFill>
                  <a:srgbClr val="000000"/>
                </a:solidFill>
              </a:rPr>
              <a:t> -&gt; original value is </a:t>
            </a:r>
            <a:r>
              <a:rPr b="1" i="1" lang="en" sz="1400">
                <a:solidFill>
                  <a:srgbClr val="000000"/>
                </a:solidFill>
              </a:rPr>
              <a:t>0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b="1" i="1" lang="en" sz="1400">
                <a:solidFill>
                  <a:srgbClr val="000000"/>
                </a:solidFill>
              </a:rPr>
              <a:t>1</a:t>
            </a:r>
            <a:r>
              <a:rPr i="1" lang="en" sz="1400">
                <a:solidFill>
                  <a:srgbClr val="000000"/>
                </a:solidFill>
              </a:rPr>
              <a:t> -&gt; otherwise</a:t>
            </a:r>
            <a:endParaRPr i="1" sz="1400"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7" name="Google Shape;347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Implicit Conversions in C99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Although C’s implicit conversions are convenient, we sometimes need a greater degree of control over type conversion.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this reason, C provides </a:t>
            </a:r>
            <a:r>
              <a:rPr b="1" i="1" lang="en">
                <a:solidFill>
                  <a:srgbClr val="000000"/>
                </a:solidFill>
              </a:rPr>
              <a:t>casts.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cast expression has the form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type-name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 	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expression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i="1" lang="en">
                <a:solidFill>
                  <a:srgbClr val="000000"/>
                </a:solidFill>
              </a:rPr>
              <a:t>type-name</a:t>
            </a:r>
            <a:r>
              <a:rPr lang="en">
                <a:solidFill>
                  <a:srgbClr val="000000"/>
                </a:solidFill>
              </a:rPr>
              <a:t> specifies the type to which the expression should be converted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Casting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a cast expression to compute the fractional part of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>
                <a:solidFill>
                  <a:srgbClr val="000000"/>
                </a:solidFill>
              </a:rPr>
              <a:t> value: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f, frac_part;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frac_part = f -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f;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difference between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and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)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 is the fractional part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">
                <a:solidFill>
                  <a:srgbClr val="000000"/>
                </a:solidFill>
              </a:rPr>
              <a:t>, which was dropped during the </a:t>
            </a:r>
            <a:r>
              <a:rPr i="1" lang="en">
                <a:solidFill>
                  <a:srgbClr val="000000"/>
                </a:solidFill>
              </a:rPr>
              <a:t>cast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Cast expressions enable us to document type conversions that would take place anyway: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f;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/* f is converted to int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9" name="Google Shape;359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Casting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Force the compiler to perform conversions: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quotient;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dividend, divisor;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“%d %d”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&amp;dividend, &amp;divisor);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quotient = dividend / divisor;	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might cause problem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quotient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)dividend / divisor;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better way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quotient = dividend /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)divisor;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also works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quotient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)dividend /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)divisor;		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5" name="Google Shape;365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Casting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Casts are sometimes necessary to avoid overflow: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j = 1000;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i = j * j;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overflow may occur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j * j;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avoids overflow */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statement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(j * j);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wouldn’t work, because overflow would already have occurred by the time of the cast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1" name="Google Shape;371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Casting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Create new types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typdef int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Bool;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Bool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flag;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More understandable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typedef float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Dollars;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Dollars debit, credit;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Easy to modify	:		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typedef double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Dollars;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Portability from 32-bit to 16-bit :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typedef int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Quantity;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7" name="Google Shape;377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Type Definitions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1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value of the expression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 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type-name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is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unsigned</a:t>
            </a:r>
            <a:r>
              <a:rPr lang="en">
                <a:solidFill>
                  <a:srgbClr val="000000"/>
                </a:solidFill>
              </a:rPr>
              <a:t> integer representing the number of bytes required to store a value belonging to </a:t>
            </a:r>
            <a:r>
              <a:rPr i="1" lang="en">
                <a:solidFill>
                  <a:srgbClr val="000000"/>
                </a:solidFill>
              </a:rPr>
              <a:t>type-name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sizeof(char)</a:t>
            </a:r>
            <a:r>
              <a:rPr lang="en">
                <a:solidFill>
                  <a:srgbClr val="000000"/>
                </a:solidFill>
              </a:rPr>
              <a:t> is always 1, but the sizes of the other types may vary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 a </a:t>
            </a:r>
            <a:r>
              <a:rPr i="1" lang="en">
                <a:solidFill>
                  <a:srgbClr val="000000"/>
                </a:solidFill>
              </a:rPr>
              <a:t>32-bit </a:t>
            </a:r>
            <a:r>
              <a:rPr lang="en">
                <a:solidFill>
                  <a:srgbClr val="000000"/>
                </a:solidFill>
              </a:rPr>
              <a:t>machine,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sizeof(int)</a:t>
            </a:r>
            <a:r>
              <a:rPr lang="en">
                <a:solidFill>
                  <a:srgbClr val="000000"/>
                </a:solidFill>
              </a:rPr>
              <a:t> is normally 4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83" name="Google Shape;383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/>
              <a:t> Operator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>
                <a:solidFill>
                  <a:srgbClr val="000000"/>
                </a:solidFill>
              </a:rPr>
              <a:t> operator can also be applied to constants, variables, and expressions in general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 sz="1400">
                <a:solidFill>
                  <a:srgbClr val="000000"/>
                </a:solidFill>
              </a:rPr>
              <a:t> and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 sz="1400">
                <a:solidFill>
                  <a:srgbClr val="000000"/>
                </a:solidFill>
              </a:rPr>
              <a:t> are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</a:rPr>
              <a:t> variables, then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sizeof(i)</a:t>
            </a:r>
            <a:r>
              <a:rPr lang="en" sz="1400">
                <a:solidFill>
                  <a:srgbClr val="000000"/>
                </a:solidFill>
              </a:rPr>
              <a:t> is 4 on a 32-bit machine, as is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sizeof(i + j)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applied to an expression—as opposed to a type—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>
                <a:solidFill>
                  <a:srgbClr val="000000"/>
                </a:solidFill>
              </a:rPr>
              <a:t> doesn’t require parentheses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We could write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 sz="1400">
                <a:solidFill>
                  <a:srgbClr val="000000"/>
                </a:solidFill>
              </a:rPr>
              <a:t> instead of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sizeof(i)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Parentheses may be needed anyway because of operator precedence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compiler interprets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 i + j </a:t>
            </a:r>
            <a:r>
              <a:rPr lang="en" sz="1400">
                <a:solidFill>
                  <a:srgbClr val="000000"/>
                </a:solidFill>
              </a:rPr>
              <a:t>as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(sizeof i) + j</a:t>
            </a:r>
            <a:r>
              <a:rPr lang="en" sz="1400">
                <a:solidFill>
                  <a:srgbClr val="000000"/>
                </a:solidFill>
              </a:rPr>
              <a:t>, because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</a:rPr>
              <a:t> takes precedence over binary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89" name="Google Shape;389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/>
              <a:t> Operator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3"/>
          <p:cNvSpPr txBox="1"/>
          <p:nvPr>
            <p:ph idx="1" type="body"/>
          </p:nvPr>
        </p:nvSpPr>
        <p:spPr>
          <a:xfrm>
            <a:off x="520150" y="1667375"/>
            <a:ext cx="8568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Printing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>
                <a:solidFill>
                  <a:srgbClr val="000000"/>
                </a:solidFill>
              </a:rPr>
              <a:t> value requires care, because the type of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>
                <a:solidFill>
                  <a:srgbClr val="000000"/>
                </a:solidFill>
              </a:rPr>
              <a:t> expression is an </a:t>
            </a:r>
            <a:r>
              <a:rPr i="1" lang="en">
                <a:solidFill>
                  <a:srgbClr val="000000"/>
                </a:solidFill>
              </a:rPr>
              <a:t>implementation-defined</a:t>
            </a:r>
            <a:r>
              <a:rPr lang="en">
                <a:solidFill>
                  <a:srgbClr val="000000"/>
                </a:solidFill>
              </a:rPr>
              <a:t> type named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size_t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C89, it’s best to convert the value of the expression to a known type before printing it: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("Size of int: %lu\n",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unsigned 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printf function in C99 can display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size_t</a:t>
            </a:r>
            <a:r>
              <a:rPr lang="en">
                <a:solidFill>
                  <a:srgbClr val="000000"/>
                </a:solidFill>
              </a:rPr>
              <a:t> value directly if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z</a:t>
            </a:r>
            <a:r>
              <a:rPr lang="en">
                <a:solidFill>
                  <a:srgbClr val="000000"/>
                </a:solidFill>
              </a:rPr>
              <a:t> is included in the conversion specification: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("Size of int: %zu\n",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95" name="Google Shape;395;p5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sizeof</a:t>
            </a:r>
            <a:r>
              <a:rPr lang="en"/>
              <a:t> Operator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